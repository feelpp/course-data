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c33f1f6020f4d99" /><Relationship Type="http://schemas.openxmlformats.org/officeDocument/2006/relationships/extended-properties" Target="/docProps/app.xml" Id="R918b214532184659" /><Relationship Type="http://schemas.openxmlformats.org/officeDocument/2006/relationships/officeDocument" Target="/ppt/presentation.xml" Id="R7ee1abcf153e4dc0" /></Relationships>
</file>

<file path=ppt/presentation.xml><?xml version="1.0" encoding="utf-8"?>
<p:presentation xmlns:p="http://schemas.openxmlformats.org/presentationml/2006/main">
  <p:sldMasterIdLst>
    <p:sldMasterId xmlns:r="http://schemas.openxmlformats.org/officeDocument/2006/relationships" id="2147483648" r:id="Ra1407e80cbfd4a05"/>
  </p:sldMasterIdLst>
  <p:notesMasterIdLst>
    <p:notesMasterId xmlns:r="http://schemas.openxmlformats.org/officeDocument/2006/relationships" r:id="Ra289db4e637f4b1a"/>
  </p:notesMasterIdLst>
  <p:sldIdLst>
    <p:sldId xmlns:r="http://schemas.openxmlformats.org/officeDocument/2006/relationships" id="256" r:id="R0d5dbd12dec44429"/>
    <p:sldId xmlns:r="http://schemas.openxmlformats.org/officeDocument/2006/relationships" id="257" r:id="Re8cf0db4d35b4432"/>
    <p:sldId xmlns:r="http://schemas.openxmlformats.org/officeDocument/2006/relationships" id="258" r:id="Rabb278c6089a415d"/>
    <p:sldId xmlns:r="http://schemas.openxmlformats.org/officeDocument/2006/relationships" id="259" r:id="Re4fe1d33709d4409"/>
    <p:sldId xmlns:r="http://schemas.openxmlformats.org/officeDocument/2006/relationships" id="260" r:id="R13e99d24f7b7442e"/>
    <p:sldId xmlns:r="http://schemas.openxmlformats.org/officeDocument/2006/relationships" id="261" r:id="Rdea4042f0dcc43c8"/>
    <p:sldId xmlns:r="http://schemas.openxmlformats.org/officeDocument/2006/relationships" id="262" r:id="Rbe53584941e34bbc"/>
    <p:sldId xmlns:r="http://schemas.openxmlformats.org/officeDocument/2006/relationships" id="263" r:id="R2325ec9dd7e54485"/>
    <p:sldId xmlns:r="http://schemas.openxmlformats.org/officeDocument/2006/relationships" id="264" r:id="Rb1936b0ec8444b9a"/>
    <p:sldId xmlns:r="http://schemas.openxmlformats.org/officeDocument/2006/relationships" id="265" r:id="Rf5872697ab9b4160"/>
    <p:sldId xmlns:r="http://schemas.openxmlformats.org/officeDocument/2006/relationships" id="266" r:id="R5a498047501547ee"/>
    <p:sldId xmlns:r="http://schemas.openxmlformats.org/officeDocument/2006/relationships" id="267" r:id="Rf7506303ceab4152"/>
    <p:sldId xmlns:r="http://schemas.openxmlformats.org/officeDocument/2006/relationships" id="268" r:id="R56d719424b3b44ed"/>
    <p:sldId xmlns:r="http://schemas.openxmlformats.org/officeDocument/2006/relationships" id="269" r:id="R97353f586ab64d4d"/>
    <p:sldId xmlns:r="http://schemas.openxmlformats.org/officeDocument/2006/relationships" id="270" r:id="R0b852237ce5f41c4"/>
    <p:sldId xmlns:r="http://schemas.openxmlformats.org/officeDocument/2006/relationships" id="271" r:id="R0a05490b676c41ed"/>
    <p:sldId xmlns:r="http://schemas.openxmlformats.org/officeDocument/2006/relationships" id="272" r:id="R88e47afcb341459b"/>
    <p:sldId xmlns:r="http://schemas.openxmlformats.org/officeDocument/2006/relationships" id="273" r:id="R9aad8bf659c94215"/>
    <p:sldId xmlns:r="http://schemas.openxmlformats.org/officeDocument/2006/relationships" id="274" r:id="R7dd0ee2cc06548f9"/>
    <p:sldId xmlns:r="http://schemas.openxmlformats.org/officeDocument/2006/relationships" id="275" r:id="R1302a329279d4ca1"/>
    <p:sldId xmlns:r="http://schemas.openxmlformats.org/officeDocument/2006/relationships" id="276" r:id="Ra323b36979db4128"/>
    <p:sldId xmlns:r="http://schemas.openxmlformats.org/officeDocument/2006/relationships" id="277" r:id="R27d8141929a9413a"/>
    <p:sldId xmlns:r="http://schemas.openxmlformats.org/officeDocument/2006/relationships" id="278" r:id="R65cd5d9f835b42b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c076a0f26f64f11" /><Relationship Type="http://schemas.openxmlformats.org/officeDocument/2006/relationships/slideMaster" Target="/ppt/slideMasters/slideMaster1.xml" Id="Ra1407e80cbfd4a05" /><Relationship Type="http://schemas.openxmlformats.org/officeDocument/2006/relationships/notesMaster" Target="/ppt/notesMasters/notesMaster1.xml" Id="Ra289db4e637f4b1a" /><Relationship Type="http://schemas.openxmlformats.org/officeDocument/2006/relationships/presProps" Target="/ppt/presProps.xml" Id="R76fe12ece8d14942" /><Relationship Type="http://schemas.openxmlformats.org/officeDocument/2006/relationships/tableStyles" Target="/ppt/tableStyles.xml" Id="R7d7f37a7915b4ff2" /><Relationship Type="http://schemas.openxmlformats.org/officeDocument/2006/relationships/slide" Target="/ppt/slides/slide1.xml" Id="R0d5dbd12dec44429" /><Relationship Type="http://schemas.openxmlformats.org/officeDocument/2006/relationships/slide" Target="/ppt/slides/slide2.xml" Id="Re8cf0db4d35b4432" /><Relationship Type="http://schemas.openxmlformats.org/officeDocument/2006/relationships/slide" Target="/ppt/slides/slide3.xml" Id="Rabb278c6089a415d" /><Relationship Type="http://schemas.openxmlformats.org/officeDocument/2006/relationships/slide" Target="/ppt/slides/slide4.xml" Id="Re4fe1d33709d4409" /><Relationship Type="http://schemas.openxmlformats.org/officeDocument/2006/relationships/slide" Target="/ppt/slides/slide5.xml" Id="R13e99d24f7b7442e" /><Relationship Type="http://schemas.openxmlformats.org/officeDocument/2006/relationships/slide" Target="/ppt/slides/slide6.xml" Id="Rdea4042f0dcc43c8" /><Relationship Type="http://schemas.openxmlformats.org/officeDocument/2006/relationships/slide" Target="/ppt/slides/slide7.xml" Id="Rbe53584941e34bbc" /><Relationship Type="http://schemas.openxmlformats.org/officeDocument/2006/relationships/slide" Target="/ppt/slides/slide8.xml" Id="R2325ec9dd7e54485" /><Relationship Type="http://schemas.openxmlformats.org/officeDocument/2006/relationships/slide" Target="/ppt/slides/slide9.xml" Id="Rb1936b0ec8444b9a" /><Relationship Type="http://schemas.openxmlformats.org/officeDocument/2006/relationships/slide" Target="/ppt/slides/slide10.xml" Id="Rf5872697ab9b4160" /><Relationship Type="http://schemas.openxmlformats.org/officeDocument/2006/relationships/slide" Target="/ppt/slides/slide11.xml" Id="R5a498047501547ee" /><Relationship Type="http://schemas.openxmlformats.org/officeDocument/2006/relationships/slide" Target="/ppt/slides/slide12.xml" Id="Rf7506303ceab4152" /><Relationship Type="http://schemas.openxmlformats.org/officeDocument/2006/relationships/slide" Target="/ppt/slides/slide13.xml" Id="R56d719424b3b44ed" /><Relationship Type="http://schemas.openxmlformats.org/officeDocument/2006/relationships/slide" Target="/ppt/slides/slide14.xml" Id="R97353f586ab64d4d" /><Relationship Type="http://schemas.openxmlformats.org/officeDocument/2006/relationships/slide" Target="/ppt/slides/slide15.xml" Id="R0b852237ce5f41c4" /><Relationship Type="http://schemas.openxmlformats.org/officeDocument/2006/relationships/slide" Target="/ppt/slides/slide16.xml" Id="R0a05490b676c41ed" /><Relationship Type="http://schemas.openxmlformats.org/officeDocument/2006/relationships/slide" Target="/ppt/slides/slide17.xml" Id="R88e47afcb341459b" /><Relationship Type="http://schemas.openxmlformats.org/officeDocument/2006/relationships/slide" Target="/ppt/slides/slide18.xml" Id="R9aad8bf659c94215" /><Relationship Type="http://schemas.openxmlformats.org/officeDocument/2006/relationships/slide" Target="/ppt/slides/slide19.xml" Id="R7dd0ee2cc06548f9" /><Relationship Type="http://schemas.openxmlformats.org/officeDocument/2006/relationships/slide" Target="/ppt/slides/slide20.xml" Id="R1302a329279d4ca1" /><Relationship Type="http://schemas.openxmlformats.org/officeDocument/2006/relationships/slide" Target="/ppt/slides/slide21.xml" Id="Ra323b36979db4128" /><Relationship Type="http://schemas.openxmlformats.org/officeDocument/2006/relationships/slide" Target="/ppt/slides/slide22.xml" Id="R27d8141929a9413a" /><Relationship Type="http://schemas.openxmlformats.org/officeDocument/2006/relationships/slide" Target="/ppt/slides/slide23.xml" Id="R65cd5d9f835b42b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1287178dc5c478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68bdfb636434b1d" /><Relationship Type="http://schemas.openxmlformats.org/officeDocument/2006/relationships/notesMaster" Target="/ppt/notesMasters/notesMaster1.xml" Id="Re4194d0927f34794" /></Relationships>
</file>

<file path=ppt/notesSlides/_rels/notesSlide2.xml.rels>&#65279;<?xml version="1.0" encoding="utf-8"?><Relationships xmlns="http://schemas.openxmlformats.org/package/2006/relationships"><Relationship Type="http://schemas.openxmlformats.org/officeDocument/2006/relationships/slide" Target="/ppt/slides/slide2.xml" Id="R8160ddfcfca54e6b" /><Relationship Type="http://schemas.openxmlformats.org/officeDocument/2006/relationships/notesMaster" Target="/ppt/notesMasters/notesMaster1.xml" Id="R6f1916b30c1a4c3a" /></Relationships>
</file>

<file path=ppt/notesSlides/_rels/notesSlide3.xml.rels>&#65279;<?xml version="1.0" encoding="utf-8"?><Relationships xmlns="http://schemas.openxmlformats.org/package/2006/relationships"><Relationship Type="http://schemas.openxmlformats.org/officeDocument/2006/relationships/slide" Target="/ppt/slides/slide3.xml" Id="R3869c155a1844444" /><Relationship Type="http://schemas.openxmlformats.org/officeDocument/2006/relationships/notesMaster" Target="/ppt/notesMasters/notesMaster1.xml" Id="R15b2283a3b964644" /></Relationships>
</file>

<file path=ppt/notesSlides/_rels/notesSlide4.xml.rels>&#65279;<?xml version="1.0" encoding="utf-8"?><Relationships xmlns="http://schemas.openxmlformats.org/package/2006/relationships"><Relationship Type="http://schemas.openxmlformats.org/officeDocument/2006/relationships/slide" Target="/ppt/slides/slide4.xml" Id="R04e5770642014625" /><Relationship Type="http://schemas.openxmlformats.org/officeDocument/2006/relationships/notesMaster" Target="/ppt/notesMasters/notesMaster1.xml" Id="R8bae8f7cf39d4b03" /></Relationships>
</file>

<file path=ppt/notesSlides/_rels/notesSlide5.xml.rels>&#65279;<?xml version="1.0" encoding="utf-8"?><Relationships xmlns="http://schemas.openxmlformats.org/package/2006/relationships"><Relationship Type="http://schemas.openxmlformats.org/officeDocument/2006/relationships/slide" Target="/ppt/slides/slide5.xml" Id="R034b16aacb624b26" /><Relationship Type="http://schemas.openxmlformats.org/officeDocument/2006/relationships/notesMaster" Target="/ppt/notesMasters/notesMaster1.xml" Id="R211000b1d66645f0" /></Relationships>
</file>

<file path=ppt/notesSlides/_rels/notesSlide6.xml.rels>&#65279;<?xml version="1.0" encoding="utf-8"?><Relationships xmlns="http://schemas.openxmlformats.org/package/2006/relationships"><Relationship Type="http://schemas.openxmlformats.org/officeDocument/2006/relationships/slide" Target="/ppt/slides/slide6.xml" Id="Rd35a5f24077541ee" /><Relationship Type="http://schemas.openxmlformats.org/officeDocument/2006/relationships/notesMaster" Target="/ppt/notesMasters/notesMaster1.xml" Id="R0de9ce00e3b9470d" /></Relationships>
</file>

<file path=ppt/notesSlides/_rels/notesSlide7.xml.rels>&#65279;<?xml version="1.0" encoding="utf-8"?><Relationships xmlns="http://schemas.openxmlformats.org/package/2006/relationships"><Relationship Type="http://schemas.openxmlformats.org/officeDocument/2006/relationships/slide" Target="/ppt/slides/slide7.xml" Id="R4d8bf927c46c440e" /><Relationship Type="http://schemas.openxmlformats.org/officeDocument/2006/relationships/notesMaster" Target="/ppt/notesMasters/notesMaster1.xml" Id="Rb399829daf624ff9" /></Relationships>
</file>

<file path=ppt/notesSlides/_rels/notesSlide8.xml.rels>&#65279;<?xml version="1.0" encoding="utf-8"?><Relationships xmlns="http://schemas.openxmlformats.org/package/2006/relationships"><Relationship Type="http://schemas.openxmlformats.org/officeDocument/2006/relationships/slide" Target="/ppt/slides/slide8.xml" Id="R1a40fd53ff5d4993" /><Relationship Type="http://schemas.openxmlformats.org/officeDocument/2006/relationships/notesMaster" Target="/ppt/notesMasters/notesMaster1.xml" Id="R706b934c6bba4a0c" /></Relationships>
</file>

<file path=ppt/notesSlides/_rels/notesSlide9.xml.rels>&#65279;<?xml version="1.0" encoding="utf-8"?><Relationships xmlns="http://schemas.openxmlformats.org/package/2006/relationships"><Relationship Type="http://schemas.openxmlformats.org/officeDocument/2006/relationships/slide" Target="/ppt/slides/slide9.xml" Id="R502d403060254860" /><Relationship Type="http://schemas.openxmlformats.org/officeDocument/2006/relationships/notesMaster" Target="/ppt/notesMasters/notesMaster1.xml" Id="R8344cc090c6c40f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b87f9949b3c4dd1" /><Relationship Type="http://schemas.openxmlformats.org/officeDocument/2006/relationships/notesMaster" Target="/ppt/notesMasters/notesMaster1.xml" Id="R9b3df4bbd8ac4b5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dbe88dc9d294452" /><Relationship Type="http://schemas.openxmlformats.org/officeDocument/2006/relationships/notesMaster" Target="/ppt/notesMasters/notesMaster1.xml" Id="Rf5138f773e104f3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112a54417964973" /><Relationship Type="http://schemas.openxmlformats.org/officeDocument/2006/relationships/notesMaster" Target="/ppt/notesMasters/notesMaster1.xml" Id="Rb511e235cfb7415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2c33856ad1047c6" /><Relationship Type="http://schemas.openxmlformats.org/officeDocument/2006/relationships/notesMaster" Target="/ppt/notesMasters/notesMaster1.xml" Id="R46750bc9a097494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1ed979ba8b848e8" /><Relationship Type="http://schemas.openxmlformats.org/officeDocument/2006/relationships/notesMaster" Target="/ppt/notesMasters/notesMaster1.xml" Id="R3fd246355df14e8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84049e3dd974a94" /><Relationship Type="http://schemas.openxmlformats.org/officeDocument/2006/relationships/notesMaster" Target="/ppt/notesMasters/notesMaster1.xml" Id="R3d969999475746d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bb29d2d818d46fb" /><Relationship Type="http://schemas.openxmlformats.org/officeDocument/2006/relationships/notesMaster" Target="/ppt/notesMasters/notesMaster1.xml" Id="R6bdc9cb518a14a1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fb064070719480c" /><Relationship Type="http://schemas.openxmlformats.org/officeDocument/2006/relationships/notesMaster" Target="/ppt/notesMasters/notesMaster1.xml" Id="R77d27a9c824845e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040584309704f4c" /><Relationship Type="http://schemas.openxmlformats.org/officeDocument/2006/relationships/notesMaster" Target="/ppt/notesMasters/notesMaster1.xml" Id="R734ff89861e048a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4a33801c43c476d" /><Relationship Type="http://schemas.openxmlformats.org/officeDocument/2006/relationships/notesMaster" Target="/ppt/notesMasters/notesMaster1.xml" Id="R74b8647a7c33425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47e2b1ababc4ba6" /><Relationship Type="http://schemas.openxmlformats.org/officeDocument/2006/relationships/notesMaster" Target="/ppt/notesMasters/notesMaster1.xml" Id="R0d55d4e56f4047a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d313217dd474972" /><Relationship Type="http://schemas.openxmlformats.org/officeDocument/2006/relationships/notesMaster" Target="/ppt/notesMasters/notesMaster1.xml" Id="R40a17caa25a9496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a3fdd1509014495" /><Relationship Type="http://schemas.openxmlformats.org/officeDocument/2006/relationships/notesMaster" Target="/ppt/notesMasters/notesMaster1.xml" Id="R1349913cdabd456a"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30b2645e1464cb7" /><Relationship Type="http://schemas.openxmlformats.org/officeDocument/2006/relationships/notesMaster" Target="/ppt/notesMasters/notesMaster1.xml" Id="R9f0fb7b040444a9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CSMI · 14 September 2026</a:t>
            </a:r>
          </a:p>
          <a:p xmlns:a="http://schemas.openxmlformats.org/drawingml/2006/main">
            <a:r>
              <a:t>Durée : 2 min ; séance : 0–2 min.</a:t>
            </a:r>
          </a:p>
          <a:p xmlns:a="http://schemas.openxmlformats.org/drawingml/2006/main">
            <a:r>
              <a:t/>
            </a:r>
          </a:p>
          <a:p xmlns:a="http://schemas.openxmlformats.org/drawingml/2006/main">
            <a:r>
              <a:t>Présenter la séance comme une découverte de pandas pour des mathématiciens qui connaissent déjà Python. Aucun rappel détaillé des variables, boucles ou fonctions. Partir du sens des lignes et des colonnes.</a:t>
            </a:r>
          </a:p>
          <a:p xmlns:a="http://schemas.openxmlformats.org/drawingml/2006/main">
            <a:r>
              <a:t/>
            </a:r>
          </a:p>
          <a:p xmlns:a="http://schemas.openxmlformats.org/drawingml/2006/main">
            <a:r>
              <a:t>Page du cours : https://feelpp.github.io/course-data/course-data/foundations/python-pandas.html</a:t>
            </a:r>
          </a:p>
          <a:p xmlns:a="http://schemas.openxmlformats.org/drawingml/2006/main">
            <a:r>
              <a:t>Source locale : docs/course/modules/ROOT/pages/foundations/python-pandas.adoc</a:t>
            </a:r>
          </a:p>
          <a:p xmlns:a="http://schemas.openxmlformats.org/drawingml/2006/main">
            <a:r>
              <a:t>Les tableaux et les calculs reprennent les exemples publics du cours. Les modifications proposées sont des exercices de séance.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Today</a:t>
            </a:r>
          </a:p>
          <a:p xmlns:a="http://schemas.openxmlformats.org/drawingml/2006/main">
            <a:r>
              <a:t>Durée : 2 min ; séance : 2–4 min.</a:t>
            </a:r>
          </a:p>
          <a:p xmlns:a="http://schemas.openxmlformats.org/drawingml/2006/main">
            <a:r>
              <a:t/>
            </a:r>
          </a:p>
          <a:p xmlns:a="http://schemas.openxmlformats.org/drawingml/2006/main">
            <a:r>
              <a:t>Les liens sont cliquables. Les durées comprennent explications, démonstrations et échanges. Ce parcours de séance sélectionne des passages des quatre pages ; il ne demande pas de terminer tous leurs exercices aujourd’hui. Si le groupe a besoin de plus de temps, donner la priorité à la pratique pandas et reprendre les prolongements à la séance suivante.</a:t>
            </a:r>
          </a:p>
          <a:p xmlns:a="http://schemas.openxmlformats.org/drawingml/2006/main">
            <a:r>
              <a:t/>
            </a:r>
          </a:p>
          <a:p xmlns:a="http://schemas.openxmlformats.org/drawingml/2006/main">
            <a:r>
              <a:t>Page du cours : https://feelpp.github.io/course-data/course-data/foundations/python-pandas.html</a:t>
            </a:r>
          </a:p>
          <a:p xmlns:a="http://schemas.openxmlformats.org/drawingml/2006/main">
            <a:r>
              <a:t>Source locale : docs/course/modules/ROOT/pages/foundations/python-pandas.adoc</a:t>
            </a:r>
          </a:p>
          <a:p xmlns:a="http://schemas.openxmlformats.org/drawingml/2006/main">
            <a:r>
              <a:t>Les tableaux et les calculs reprennent les exemples publics du cours. Les modifications proposées sont des exercices de séance.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 First steps</a:t>
            </a:r>
          </a:p>
          <a:p xmlns:a="http://schemas.openxmlformats.org/drawingml/2006/main">
            <a:r>
              <a:t>Durée : 5 min ; séance : 4–9 min.</a:t>
            </a:r>
          </a:p>
          <a:p xmlns:a="http://schemas.openxmlformats.org/drawingml/2006/main">
            <a:r>
              <a:t/>
            </a:r>
          </a:p>
          <a:p xmlns:a="http://schemas.openxmlformats.org/drawingml/2006/main">
            <a:r>
              <a:t>Ouvrir le notebook au bloc « Put the familiar table into pandas ». L’import de StringIO et csv_text sont fournis dans la page : StringIO permet de lire le petit texte CSV comme un fichier. Sur disque, pd.read_csv("measurements.csv") jouerait le même rôle. Montrer measurements, .shape et .dtypes. La colonne temperature est numérique, mais son type ne dit rien de son unité physique. Ce sont exactement les valeurs discutées au premier cours.</a:t>
            </a:r>
          </a:p>
          <a:p xmlns:a="http://schemas.openxmlformats.org/drawingml/2006/main">
            <a:r>
              <a:t/>
            </a:r>
          </a:p>
          <a:p xmlns:a="http://schemas.openxmlformats.org/drawingml/2006/main">
            <a:r>
              <a:t>Page du cours : https://feelpp.github.io/course-data/course-data/foundations/python-pandas.html#_2_put_the_familiar_table_into_pandas</a:t>
            </a:r>
          </a:p>
          <a:p xmlns:a="http://schemas.openxmlformats.org/drawingml/2006/main">
            <a:r>
              <a:t>Source locale : docs/course/modules/ROOT/pages/foundations/python-pandas.adoc</a:t>
            </a:r>
          </a:p>
          <a:p xmlns:a="http://schemas.openxmlformats.org/drawingml/2006/main">
            <a:r>
              <a:t>Les tableaux et les calculs reprennent les exemples publics du cours. Les modifications proposées sont des exercices de séance.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 First steps</a:t>
            </a:r>
          </a:p>
          <a:p xmlns:a="http://schemas.openxmlformats.org/drawingml/2006/main">
            <a:r>
              <a:t>Durée : 5 min ; séance : 9–14 min.</a:t>
            </a:r>
          </a:p>
          <a:p xmlns:a="http://schemas.openxmlformats.org/drawingml/2006/main">
            <a:r>
              <a:t/>
            </a:r>
          </a:p>
          <a:p xmlns:a="http://schemas.openxmlformats.org/drawingml/2006/main">
            <a:r>
              <a:t>Définir le masque booléen une fois. Faire prévoir trois lignes, y compris D dont la valeur manque. Expliquer que la liste de noms conserve une table, alors que measurements["temperature"] produit une Series. pandas aligne les Series selon leurs index ; ici le masque vient de la même table.</a:t>
            </a:r>
          </a:p>
          <a:p xmlns:a="http://schemas.openxmlformats.org/drawingml/2006/main">
            <a:r>
              <a:t/>
            </a:r>
          </a:p>
          <a:p xmlns:a="http://schemas.openxmlformats.org/drawingml/2006/main">
            <a:r>
              <a:t>Page du cours : https://feelpp.github.io/course-data/course-data/foundations/python-pandas.html#_3_read_one_column_then_select_one_sensor</a:t>
            </a:r>
          </a:p>
          <a:p xmlns:a="http://schemas.openxmlformats.org/drawingml/2006/main">
            <a:r>
              <a:t>Source locale : docs/course/modules/ROOT/pages/foundations/python-pandas.adoc</a:t>
            </a:r>
          </a:p>
          <a:p xmlns:a="http://schemas.openxmlformats.org/drawingml/2006/main">
            <a:r>
              <a:t>Les tableaux et les calculs reprennent les exemples publics du cours. Les modifications proposées sont des exercices de séance.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 First steps</a:t>
            </a:r>
          </a:p>
          <a:p xmlns:a="http://schemas.openxmlformats.org/drawingml/2006/main">
            <a:r>
              <a:t>Durée : 4 min ; séance : 14–18 min.</a:t>
            </a:r>
          </a:p>
          <a:p xmlns:a="http://schemas.openxmlformats.org/drawingml/2006/main">
            <a:r>
              <a:t/>
            </a:r>
          </a:p>
          <a:p xmlns:a="http://schemas.openxmlformats.org/drawingml/2006/main">
            <a:r>
              <a:t>La cellule vide du CSV est lue comme NaN dans cette colonne numérique. isna() sert à repérer les valeurs manquantes ; ne pas comparer une valeur à NaN avec ==. count() compte les valeurs présentes, contrairement à len. La température de D est inconnue, et non nulle.</a:t>
            </a:r>
          </a:p>
          <a:p xmlns:a="http://schemas.openxmlformats.org/drawingml/2006/main">
            <a:r>
              <a:t/>
            </a:r>
          </a:p>
          <a:p xmlns:a="http://schemas.openxmlformats.org/drawingml/2006/main">
            <a:r>
              <a:t>Page du cours : https://feelpp.github.io/course-data/course-data/foundations/python-pandas.html#_4_locate_what_is_missing</a:t>
            </a:r>
          </a:p>
          <a:p xmlns:a="http://schemas.openxmlformats.org/drawingml/2006/main">
            <a:r>
              <a:t>Source locale : docs/course/modules/ROOT/pages/foundations/python-pandas.adoc</a:t>
            </a:r>
          </a:p>
          <a:p xmlns:a="http://schemas.openxmlformats.org/drawingml/2006/main">
            <a:r>
              <a:t>Les tableaux et les calculs reprennent les exemples publics du cours. Les modifications proposées sont des exercices de séance.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 First steps</a:t>
            </a:r>
          </a:p>
          <a:p xmlns:a="http://schemas.openxmlformats.org/drawingml/2006/main">
            <a:r>
              <a:t>Durée : 6 min ; séance : 18–24 min.</a:t>
            </a:r>
          </a:p>
          <a:p xmlns:a="http://schemas.openxmlformats.org/drawingml/2006/main">
            <a:r>
              <a:t/>
            </a:r>
          </a:p>
          <a:p xmlns:a="http://schemas.openxmlformats.org/drawingml/2006/main">
            <a:r>
              <a:t>Lire les six lignes en reliant chaque opération à son intention. La copie préserve les valeurs enregistrées. La nouvelle colonne a une seule unité. .loc permet de modifier explicitement les cellules voulues et évite une affectation ambiguë en plusieurs sélections. Faire afficher les quatre colonnes ensemble. Une opération vectorisée applique ici la même formule à toutes les valeurs sélectionnées.</a:t>
            </a:r>
          </a:p>
          <a:p xmlns:a="http://schemas.openxmlformats.org/drawingml/2006/main">
            <a:r>
              <a:t/>
            </a:r>
          </a:p>
          <a:p xmlns:a="http://schemas.openxmlformats.org/drawingml/2006/main">
            <a:r>
              <a:t>Page du cours : https://feelpp.github.io/course-data/course-data/foundations/python-pandas.html#_5_add_a_celsius_column_without_losing_the_recorded_values</a:t>
            </a:r>
          </a:p>
          <a:p xmlns:a="http://schemas.openxmlformats.org/drawingml/2006/main">
            <a:r>
              <a:t>Source locale : docs/course/modules/ROOT/pages/foundations/python-pandas.adoc</a:t>
            </a:r>
          </a:p>
          <a:p xmlns:a="http://schemas.openxmlformats.org/drawingml/2006/main">
            <a:r>
              <a:t>Les tableaux et les calculs reprennent les exemples publics du cours. Les modifications proposées sont des exercices de séance.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 First steps</a:t>
            </a:r>
          </a:p>
          <a:p xmlns:a="http://schemas.openxmlformats.org/drawingml/2006/main">
            <a:r>
              <a:t>Durée : 4 min ; séance : 24–28 min.</a:t>
            </a:r>
          </a:p>
          <a:p xmlns:a="http://schemas.openxmlformats.org/drawingml/2006/main">
            <a:r>
              <a:t/>
            </a:r>
          </a:p>
          <a:p xmlns:a="http://schemas.openxmlformats.org/drawingml/2006/main">
            <a:r>
              <a:t>pandas mean() ignore les valeurs manquantes par défaut. Le résultat exact est 64/3 ; 21.3 est un arrondi à une décimale, pas une précision de mesure démontrée. Demander ce qui changerait si D valait réellement 0 °C : 16 °C avec quatre valeurs. Une valeur manquante peut aussi être liée au fonctionnement du capteur.</a:t>
            </a:r>
          </a:p>
          <a:p xmlns:a="http://schemas.openxmlformats.org/drawingml/2006/main">
            <a:r>
              <a:t/>
            </a:r>
          </a:p>
          <a:p xmlns:a="http://schemas.openxmlformats.org/drawingml/2006/main">
            <a:r>
              <a:t>Page du cours : https://feelpp.github.io/course-data/course-data/foundations/python-pandas.html#_worked_example_finish_the_calculation_from_the_first_class</a:t>
            </a:r>
          </a:p>
          <a:p xmlns:a="http://schemas.openxmlformats.org/drawingml/2006/main">
            <a:r>
              <a:t>Source locale : docs/course/modules/ROOT/pages/foundations/python-pandas.adoc</a:t>
            </a:r>
          </a:p>
          <a:p xmlns:a="http://schemas.openxmlformats.org/drawingml/2006/main">
            <a:r>
              <a:t>Les tableaux et les calculs reprennent les exemples publics du cours. Les modifications proposées sont des exercices de séance.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 Practice · 9 minutes</a:t>
            </a:r>
          </a:p>
          <a:p xmlns:a="http://schemas.openxmlformats.org/drawingml/2006/main">
            <a:r>
              <a:t>Durée : 9 min ; séance : 28–37 min.</a:t>
            </a:r>
          </a:p>
          <a:p xmlns:a="http://schemas.openxmlformats.org/drawingml/2006/main">
            <a:r>
              <a:t/>
            </a:r>
          </a:p>
          <a:p xmlns:a="http://schemas.openxmlformats.org/drawingml/2006/main">
            <a:r>
              <a:t>Laisser environ six minutes de manipulation et trois minutes d’échange. Faire prévoir une baisse de 2/3 °C avant le calcul. Vérifier que les étudiants repartent bien de la copie modifiée, et non de converted calculé auparavant. La correction sera sur la diapositive suivante. Ceux sans environnement prêt peuvent raisonner à deux sur la table et suivre la démonstration.</a:t>
            </a:r>
          </a:p>
          <a:p xmlns:a="http://schemas.openxmlformats.org/drawingml/2006/main">
            <a:r>
              <a:t/>
            </a:r>
          </a:p>
          <a:p xmlns:a="http://schemas.openxmlformats.org/drawingml/2006/main">
            <a:r>
              <a:t>Page du cours : https://feelpp.github.io/course-data/course-data/foundations/python-pandas.html#_practise_on_the_same_table</a:t>
            </a:r>
          </a:p>
          <a:p xmlns:a="http://schemas.openxmlformats.org/drawingml/2006/main">
            <a:r>
              <a:t>Source locale : docs/course/modules/ROOT/pages/foundations/python-pandas.adoc</a:t>
            </a:r>
          </a:p>
          <a:p xmlns:a="http://schemas.openxmlformats.org/drawingml/2006/main">
            <a:r>
              <a:t>Les tableaux et les calculs reprennent les exemples publics du cours. Les modifications proposées sont des exercices de séance.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 Debrief</a:t>
            </a:r>
          </a:p>
          <a:p xmlns:a="http://schemas.openxmlformats.org/drawingml/2006/main">
            <a:r>
              <a:t>Durée : 3 min ; séance : 37–40 min.</a:t>
            </a:r>
          </a:p>
          <a:p xmlns:a="http://schemas.openxmlformats.org/drawingml/2006/main">
            <a:r>
              <a:t/>
            </a:r>
          </a:p>
          <a:p xmlns:a="http://schemas.openxmlformats.org/drawingml/2006/main">
            <a:r>
              <a:t>Faire expliquer pourquoi 20.7 correspond à 62/3. Reprendre les lignes de conversion de la diapositive 6 en remplaçant measurements par trial. Ne pas suggérer qu’une valeur calculée se met automatiquement à jour lorsque la table source est modifiée. Transition : plusieurs lignes peuvent maintenant provenir du même capteur.</a:t>
            </a:r>
          </a:p>
          <a:p xmlns:a="http://schemas.openxmlformats.org/drawingml/2006/main">
            <a:r>
              <a:t/>
            </a:r>
          </a:p>
          <a:p xmlns:a="http://schemas.openxmlformats.org/drawingml/2006/main">
            <a:r>
              <a:t>Page du cours : https://feelpp.github.io/course-data/course-data/foundations/python-pandas.html#_practise_on_the_same_table</a:t>
            </a:r>
          </a:p>
          <a:p xmlns:a="http://schemas.openxmlformats.org/drawingml/2006/main">
            <a:r>
              <a:t>Source locale : docs/course/modules/ROOT/pages/foundations/python-pandas.adoc</a:t>
            </a:r>
          </a:p>
          <a:p xmlns:a="http://schemas.openxmlformats.org/drawingml/2006/main">
            <a:r>
              <a:t>Les tableaux et les calculs reprennent les exemples publics du cours. Les modifications proposées sont des exercices de séance.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 Groups, joins, and SQL</a:t>
            </a:r>
          </a:p>
          <a:p xmlns:a="http://schemas.openxmlformats.org/drawingml/2006/main">
            <a:r>
              <a:t>Durée : 6 min ; séance : 40–46 min.</a:t>
            </a:r>
          </a:p>
          <a:p xmlns:a="http://schemas.openxmlformats.org/drawingml/2006/main">
            <a:r>
              <a:t/>
            </a:r>
          </a:p>
          <a:p xmlns:a="http://schemas.openxmlformats.org/drawingml/2006/main">
            <a:r>
              <a:t>Ouvrir la deuxième page, exécuter son entrée à huit lignes et sa conversion : B est enregistré à 75.2 °F à 11 h, soit 24 °C. Les quatre lignes de 10 h sont inchangées. Le couple (sensor, time_local) identifie une lecture pour ce seul jour ; il faudrait une date sur plusieurs jours. Montrer ensuite agg avec size, count et mean dans le notebook. Demander quel serait le sens d’un groupby("time_local"). Relier groupby au GROUP BY vu en bases de données. Ici on apprend son utilisation dans pandas, pas le principe des bases de données.</a:t>
            </a:r>
          </a:p>
          <a:p xmlns:a="http://schemas.openxmlformats.org/drawingml/2006/main">
            <a:r>
              <a:t/>
            </a:r>
          </a:p>
          <a:p xmlns:a="http://schemas.openxmlformats.org/drawingml/2006/main">
            <a:r>
              <a:t>Page du cours : https://feelpp.github.io/course-data/course-data/foundations/pandas-sql.html#_2_one_summary_for_each_sensor</a:t>
            </a:r>
          </a:p>
          <a:p xmlns:a="http://schemas.openxmlformats.org/drawingml/2006/main">
            <a:r>
              <a:t>Source locale : docs/course/modules/ROOT/pages/foundations/pandas-sql.adoc</a:t>
            </a:r>
          </a:p>
          <a:p xmlns:a="http://schemas.openxmlformats.org/drawingml/2006/main">
            <a:r>
              <a:t>Les tableaux et les calculs reprennent les exemples publics du cours. Les modifications proposées sont des exercices de séance.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 Groups, joins, and SQL</a:t>
            </a:r>
          </a:p>
          <a:p xmlns:a="http://schemas.openxmlformats.org/drawingml/2006/main">
            <a:r>
              <a:t>Durée : 7 min ; séance : 46–53 min.</a:t>
            </a:r>
          </a:p>
          <a:p xmlns:a="http://schemas.openxmlformats.org/drawingml/2006/main">
            <a:r>
              <a:t/>
            </a:r>
          </a:p>
          <a:p xmlns:a="http://schemas.openxmlformats.org/drawingml/2006/main">
            <a:r>
              <a:t>Faire exécuter le bloc sensors de la page avant merge. Une jointure associe des lignes selon une clé commune, ici sensor. how="left" garde toutes les lectures ; validate vérifie l’unicité de la clé du côté descriptions. indicator ajoute _merge qui indique les associations trouvées. Faire afficher sensor, time_local, temperature_c, position. Les quatre capteurs restent dans la même pièce. Faire explicitement le rapprochement avec JOIN, déjà rencontré dans le cours de bases de données. Le parallèle porte sur les opérations ; les détails peuvent différer, notamment les clés manquantes que pandas peut associer entre elles, contrairement à une égalité SQL usuelle. Nos clés sensor sont toutes renseignées.</a:t>
            </a:r>
          </a:p>
          <a:p xmlns:a="http://schemas.openxmlformats.org/drawingml/2006/main">
            <a:r>
              <a:t/>
            </a:r>
          </a:p>
          <a:p xmlns:a="http://schemas.openxmlformats.org/drawingml/2006/main">
            <a:r>
              <a:t>Page du cours : https://feelpp.github.io/course-data/course-data/foundations/pandas-sql.html#pandas-guided-join</a:t>
            </a:r>
          </a:p>
          <a:p xmlns:a="http://schemas.openxmlformats.org/drawingml/2006/main">
            <a:r>
              <a:t>Source locale : docs/course/modules/ROOT/pages/foundations/pandas-sql.adoc</a:t>
            </a:r>
          </a:p>
          <a:p xmlns:a="http://schemas.openxmlformats.org/drawingml/2006/main">
            <a:r>
              <a:t>Les tableaux et les calculs reprennent les exemples publics du cours. Les modifications proposées sont des exercices de séance.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 Pair discussion</a:t>
            </a:r>
          </a:p>
          <a:p xmlns:a="http://schemas.openxmlformats.org/drawingml/2006/main">
            <a:r>
              <a:t>Durée : 5 min ; séance : 53–58 min.</a:t>
            </a:r>
          </a:p>
          <a:p xmlns:a="http://schemas.openxmlformats.org/drawingml/2006/main">
            <a:r>
              <a:t/>
            </a:r>
          </a:p>
          <a:p xmlns:a="http://schemas.openxmlformats.org/drawingml/2006/main">
            <a:r>
              <a:t>Deux minutes pour prévoir, puis montrer. Dans la première situation, sans validate le résultat aurait dix lignes ; avec validate="many_to_one", pandas refuse la jointure. Dans la seconde, validate accepte la jointure car la clé reste unique ; le contrôle de _merge détecte les descriptions absentes. Ces assertions s’exécutent sur la jointure normale de la page. La page compare aussi les ensembles de clés avant/après. Une température manquante chez D reste un problème différent.</a:t>
            </a:r>
          </a:p>
          <a:p xmlns:a="http://schemas.openxmlformats.org/drawingml/2006/main">
            <a:r>
              <a:t/>
            </a:r>
          </a:p>
          <a:p xmlns:a="http://schemas.openxmlformats.org/drawingml/2006/main">
            <a:r>
              <a:t>Page du cours : https://feelpp.github.io/course-data/course-data/foundations/pandas-sql.html#_4_pair_practice_one_change_at_a_time</a:t>
            </a:r>
          </a:p>
          <a:p xmlns:a="http://schemas.openxmlformats.org/drawingml/2006/main">
            <a:r>
              <a:t>Source locale : docs/course/modules/ROOT/pages/foundations/pandas-sql.adoc</a:t>
            </a:r>
          </a:p>
          <a:p xmlns:a="http://schemas.openxmlformats.org/drawingml/2006/main">
            <a:r>
              <a:t>Les tableaux et les calculs reprennent les exemples publics du cours. Les modifications proposées sont des exercices de séance.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 Connection with the database course</a:t>
            </a:r>
          </a:p>
          <a:p xmlns:a="http://schemas.openxmlformats.org/drawingml/2006/main">
            <a:r>
              <a:t>Durée : 7 min ; séance : 58–65 min.</a:t>
            </a:r>
          </a:p>
          <a:p xmlns:a="http://schemas.openxmlformats.org/drawingml/2006/main">
            <a:r>
              <a:t/>
            </a:r>
          </a:p>
          <a:p xmlns:a="http://schemas.openxmlformats.org/drawingml/2006/main">
            <a:r>
              <a:t>Réutiliser les connaissances du cours de bases de données. Le but est de montrer la connexion réelle entre une requête SQL et un DataFrame, puis la comparaison avec une sélection pandas. La page fournit un exemple SQLite en mémoire ; aucun serveur à installer. Définir une requête comme une demande de colonnes et de lignes à une base. Faire prévoir les deux lignes, puis comparer avec .loc sur le notebook. La création de la petite base sert uniquement à la démonstration. Dans un projet réel, on interroge une base existante pour charger les données utiles. Fermer connection à la fin de la démonstration.</a:t>
            </a:r>
          </a:p>
          <a:p xmlns:a="http://schemas.openxmlformats.org/drawingml/2006/main">
            <a:r>
              <a:t/>
            </a:r>
          </a:p>
          <a:p xmlns:a="http://schemas.openxmlformats.org/drawingml/2006/main">
            <a:r>
              <a:t>Page du cours : https://feelpp.github.io/course-data/course-data/foundations/pandas-sql.html#pandas-sql-bridge</a:t>
            </a:r>
          </a:p>
          <a:p xmlns:a="http://schemas.openxmlformats.org/drawingml/2006/main">
            <a:r>
              <a:t>Source locale : docs/course/modules/ROOT/pages/foundations/pandas-sql.adoc</a:t>
            </a:r>
          </a:p>
          <a:p xmlns:a="http://schemas.openxmlformats.org/drawingml/2006/main">
            <a:r>
              <a:t>Les tableaux et les calculs reprennent les exemples publics du cours. Les modifications proposées sont des exercices de séance.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minutes</a:t>
            </a:r>
          </a:p>
          <a:p xmlns:a="http://schemas.openxmlformats.org/drawingml/2006/main">
            <a:r>
              <a:t>Durée : 10 min ; séance : 65–75 min.</a:t>
            </a:r>
          </a:p>
          <a:p xmlns:a="http://schemas.openxmlformats.org/drawingml/2006/main">
            <a:r>
              <a:t/>
            </a:r>
          </a:p>
          <a:p xmlns:a="http://schemas.openxmlformats.org/drawingml/2006/main">
            <a:r>
              <a:t>Pause de dix minutes à la minute 65. Reprendre à la minute 75. Ne pas transformer la pause en contenu supplémentaire.</a:t>
            </a:r>
          </a:p>
          <a:p xmlns:a="http://schemas.openxmlformats.org/drawingml/2006/main">
            <a:r>
              <a:t/>
            </a:r>
          </a:p>
          <a:p xmlns:a="http://schemas.openxmlformats.org/drawingml/2006/main">
            <a:r>
              <a:t>Page du cours : https://feelpp.github.io/course-data/course-data/foundations/data-lifecycle.html</a:t>
            </a:r>
          </a:p>
          <a:p xmlns:a="http://schemas.openxmlformats.org/drawingml/2006/main">
            <a:r>
              <a:t>Source locale : docs/course/modules/ROOT/pages/foundations/data-lifecycle.adoc</a:t>
            </a:r>
          </a:p>
          <a:p xmlns:a="http://schemas.openxmlformats.org/drawingml/2006/main">
            <a:r>
              <a:t>Les tableaux et les calculs reprennent les exemples publics du cours. Les modifications proposées sont des exercices de séance.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 · Data lifecycle</a:t>
            </a:r>
          </a:p>
          <a:p xmlns:a="http://schemas.openxmlformats.org/drawingml/2006/main">
            <a:r>
              <a:t>Durée : 5 min ; séance : 75–80 min.</a:t>
            </a:r>
          </a:p>
          <a:p xmlns:a="http://schemas.openxmlformats.org/drawingml/2006/main">
            <a:r>
              <a:t/>
            </a:r>
          </a:p>
          <a:p xmlns:a="http://schemas.openxmlformats.org/drawingml/2006/main">
            <a:r>
              <a:t>Le cycle de vie relie une question, une source, les opérations réalisées et l’explication finale. Demander pour notre table : une ligne désigne quoi avant et après groupby ? Où a-t-on conservé les unités d’origine ? Où peut-on retrouver la conversion ? Les contrôles peuvent amener à revenir à la source ou à reformuler la question.</a:t>
            </a:r>
          </a:p>
          <a:p xmlns:a="http://schemas.openxmlformats.org/drawingml/2006/main">
            <a:r>
              <a:t/>
            </a:r>
          </a:p>
          <a:p xmlns:a="http://schemas.openxmlformats.org/drawingml/2006/main">
            <a:r>
              <a:t>Page du cours : https://feelpp.github.io/course-data/course-data/foundations/data-lifecycle.html#_audit_sequence</a:t>
            </a:r>
          </a:p>
          <a:p xmlns:a="http://schemas.openxmlformats.org/drawingml/2006/main">
            <a:r>
              <a:t>Source locale : docs/course/modules/ROOT/pages/foundations/data-lifecycle.adoc</a:t>
            </a:r>
          </a:p>
          <a:p xmlns:a="http://schemas.openxmlformats.org/drawingml/2006/main">
            <a:r>
              <a:t>Les tableaux et les calculs reprennent les exemples publics du cours. Les modifications proposées sont des exercices de séance.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 · Data lifecycle</a:t>
            </a:r>
          </a:p>
          <a:p xmlns:a="http://schemas.openxmlformats.org/drawingml/2006/main">
            <a:r>
              <a:t>Durée : 6 min ; séance : 80–86 min.</a:t>
            </a:r>
          </a:p>
          <a:p xmlns:a="http://schemas.openxmlformats.org/drawingml/2006/main">
            <a:r>
              <a:t/>
            </a:r>
          </a:p>
          <a:p xmlns:a="http://schemas.openxmlformats.org/drawingml/2006/main">
            <a:r>
              <a:t>Changer explicitement d’exemple : ce sont des données de stations de mesure de la page Data lifecycle, pas les capteurs fictifs A à D. La première station fournit trois fois plus de lignes que chacune des deux autres. Les moyennes de station affichées sont arrondies ; le calcul des résultats utilise les valeurs complètes. Montrer le tableau puis la figure du notebook. Ce petit extrait n’autorise pas une affirmation à l’échelle de toute la ville.</a:t>
            </a:r>
          </a:p>
          <a:p xmlns:a="http://schemas.openxmlformats.org/drawingml/2006/main">
            <a:r>
              <a:t/>
            </a:r>
          </a:p>
          <a:p xmlns:a="http://schemas.openxmlformats.org/drawingml/2006/main">
            <a:r>
              <a:t>Page du cours : https://feelpp.github.io/course-data/course-data/foundations/data-lifecycle.html#lifecycle-estimand-table</a:t>
            </a:r>
          </a:p>
          <a:p xmlns:a="http://schemas.openxmlformats.org/drawingml/2006/main">
            <a:r>
              <a:t>Source locale : docs/course/modules/ROOT/pages/foundations/data-lifecycle.adoc</a:t>
            </a:r>
          </a:p>
          <a:p xmlns:a="http://schemas.openxmlformats.org/drawingml/2006/main">
            <a:r>
              <a:t>Les tableaux et les calculs reprennent les exemples publics du cours. Les modifications proposées sont des exercices de séance.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 · Mathematical connection</a:t>
            </a:r>
          </a:p>
          <a:p xmlns:a="http://schemas.openxmlformats.org/drawingml/2006/main">
            <a:r>
              <a:t>Durée : 4 min ; séance : 86–90 min.</a:t>
            </a:r>
          </a:p>
          <a:p xmlns:a="http://schemas.openxmlformats.org/drawingml/2006/main">
            <a:r>
              <a:t/>
            </a:r>
          </a:p>
          <a:p xmlns:a="http://schemas.openxmlformats.org/drawingml/2006/main">
            <a:r>
              <a:t>Définir G comme le nombre de groupes et supposer ici des groupes non vides pour la variable étudiée. Les deux formules décrivent des résumés empiriques ; pour une inférence, préciser la population cible. Un estimand est la quantité de population visée ; une estimation est la valeur calculée à partir des données. Les moyennes ne diffèrent pas uniquement par un effet d’arrondi. Les effectifs utilisés doivent compter les valeurs présentes, pas seulement les lignes.</a:t>
            </a:r>
          </a:p>
          <a:p xmlns:a="http://schemas.openxmlformats.org/drawingml/2006/main">
            <a:r>
              <a:t/>
            </a:r>
          </a:p>
          <a:p xmlns:a="http://schemas.openxmlformats.org/drawingml/2006/main">
            <a:r>
              <a:t>Page du cours : https://feelpp.github.io/course-data/course-data/foundations/data-lifecycle.html#worked-lifecycle-method</a:t>
            </a:r>
          </a:p>
          <a:p xmlns:a="http://schemas.openxmlformats.org/drawingml/2006/main">
            <a:r>
              <a:t>Source locale : docs/course/modules/ROOT/pages/foundations/data-lifecycle.adoc</a:t>
            </a:r>
          </a:p>
          <a:p xmlns:a="http://schemas.openxmlformats.org/drawingml/2006/main">
            <a:r>
              <a:t>Les tableaux et les calculs reprennent les exemples publics du cours. Les modifications proposées sont des exercices de séance.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 · Discussion and checks</a:t>
            </a:r>
          </a:p>
          <a:p xmlns:a="http://schemas.openxmlformats.org/drawingml/2006/main">
            <a:r>
              <a:t>Durée : 5 min ; séance : 90–95 min.</a:t>
            </a:r>
          </a:p>
          <a:p xmlns:a="http://schemas.openxmlformats.org/drawingml/2006/main">
            <a:r>
              <a:t/>
            </a:r>
          </a:p>
          <a:p xmlns:a="http://schemas.openxmlformats.org/drawingml/2006/main">
            <a:r>
              <a:t>Demander une réponse argumentée, pas un nettoyage automatique. Distinguer détection et décision. La page montre un exemple dont les défauts ont été ajoutés volontairement : doublon, valeur manquante et température hors du seuil de démonstration. Ne pas présenter un seuil arbitraire comme une vérité universelle. Noter la décision et la limite qui reste après traitement.</a:t>
            </a:r>
          </a:p>
          <a:p xmlns:a="http://schemas.openxmlformats.org/drawingml/2006/main">
            <a:r>
              <a:t/>
            </a:r>
          </a:p>
          <a:p xmlns:a="http://schemas.openxmlformats.org/drawingml/2006/main">
            <a:r>
              <a:t>Page du cours : https://feelpp.github.io/course-data/course-data/foundations/data-lifecycle.html#lifecycle-audit</a:t>
            </a:r>
          </a:p>
          <a:p xmlns:a="http://schemas.openxmlformats.org/drawingml/2006/main">
            <a:r>
              <a:t>Source locale : docs/course/modules/ROOT/pages/foundations/data-lifecycle.adoc</a:t>
            </a:r>
          </a:p>
          <a:p xmlns:a="http://schemas.openxmlformats.org/drawingml/2006/main">
            <a:r>
              <a:t>Les tableaux et les calculs reprennent les exemples publics du cours. Les modifications proposées sont des exercices de séance.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 · Arrays, tables, and joins</a:t>
            </a:r>
          </a:p>
          <a:p xmlns:a="http://schemas.openxmlformats.org/drawingml/2006/main">
            <a:r>
              <a:t>Durée : 5 min ; séance : 95–100 min.</a:t>
            </a:r>
          </a:p>
          <a:p xmlns:a="http://schemas.openxmlformats.org/drawingml/2006/main">
            <a:r>
              <a:t/>
            </a:r>
          </a:p>
          <a:p xmlns:a="http://schemas.openxmlformats.org/drawingml/2006/main">
            <a:r>
              <a:t>Importer numpy as np. Le contexte mathématique est X dans R^(n×p), avec n observations et p variables. Les moyennes sont 22 °C et 60 %. Une moyenne sur axis=1 mélangerait ici des unités incompatibles. NumPy conserve les nombres et leur type de stockage, mais pas les noms de colonnes et les unités de ce tableau. Les expliquer avant de calculer.</a:t>
            </a:r>
          </a:p>
          <a:p xmlns:a="http://schemas.openxmlformats.org/drawingml/2006/main">
            <a:r>
              <a:t/>
            </a:r>
          </a:p>
          <a:p xmlns:a="http://schemas.openxmlformats.org/drawingml/2006/main">
            <a:r>
              <a:t>Page du cours : https://feelpp.github.io/course-data/course-data/foundations/tabular-data.html#_block_4_bridge_array_shapes_and_reductions</a:t>
            </a:r>
          </a:p>
          <a:p xmlns:a="http://schemas.openxmlformats.org/drawingml/2006/main">
            <a:r>
              <a:t>Source locale : docs/course/modules/ROOT/pages/foundations/tabular-data.adoc</a:t>
            </a:r>
          </a:p>
          <a:p xmlns:a="http://schemas.openxmlformats.org/drawingml/2006/main">
            <a:r>
              <a:t>Les tableaux et les calculs reprennent les exemples publics du cours. Les modifications proposées sont des exercices de séance.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 · Arrays, tables, and joins</a:t>
            </a:r>
          </a:p>
          <a:p xmlns:a="http://schemas.openxmlformats.org/drawingml/2006/main">
            <a:r>
              <a:t>Durée : 4 min ; séance : 100–104 min.</a:t>
            </a:r>
          </a:p>
          <a:p xmlns:a="http://schemas.openxmlformats.org/drawingml/2006/main">
            <a:r>
              <a:t/>
            </a:r>
          </a:p>
          <a:p xmlns:a="http://schemas.openxmlformats.org/drawingml/2006/main">
            <a:r>
              <a:t>Définir broadcasting : on soustrait le même vecteur de deux moyennes à chacune des trois lignes, sans écrire une boucle. centered[i,j] = values[i,j] − column_means[j]. warm_rows a deux lignes et deux colonnes, donc (2,2). Les écarts de température et d’humidité restent dans leurs unités propres. Faire prédire avant de lancer le code.</a:t>
            </a:r>
          </a:p>
          <a:p xmlns:a="http://schemas.openxmlformats.org/drawingml/2006/main">
            <a:r>
              <a:t/>
            </a:r>
          </a:p>
          <a:p xmlns:a="http://schemas.openxmlformats.org/drawingml/2006/main">
            <a:r>
              <a:t>Page du cours : https://feelpp.github.io/course-data/course-data/foundations/tabular-data.html#_block_4_bridge_array_shapes_and_reductions</a:t>
            </a:r>
          </a:p>
          <a:p xmlns:a="http://schemas.openxmlformats.org/drawingml/2006/main">
            <a:r>
              <a:t>Source locale : docs/course/modules/ROOT/pages/foundations/tabular-data.adoc</a:t>
            </a:r>
          </a:p>
          <a:p xmlns:a="http://schemas.openxmlformats.org/drawingml/2006/main">
            <a:r>
              <a:t>Les tableaux et les calculs reprennent les exemples publics du cours. Les modifications proposées sont des exercices de séance.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 · Change the layout</a:t>
            </a:r>
          </a:p>
          <a:p xmlns:a="http://schemas.openxmlformats.org/drawingml/2006/main">
            <a:r>
              <a:t>Durée : 6 min ; séance : 104–110 min.</a:t>
            </a:r>
          </a:p>
          <a:p xmlns:a="http://schemas.openxmlformats.org/drawingml/2006/main">
            <a:r>
              <a:t/>
            </a:r>
          </a:p>
          <a:p xmlns:a="http://schemas.openxmlformats.org/drawingml/2006/main">
            <a:r>
              <a:t>Cet exemple de la page Arrays utilise deux stations et deux heures UTC ; ce n’est pas le tableau des quatre capteurs. Créer wide avec le code fourni dans la page. melt met les noms des anciennes colonnes A et B dans station et les valeurs dans temperature_c. Une ligne longue est identifiée par station et time_utc dans cet exemple d’un jour. Demander la clé, le nombre de lignes et si une moyenne a été calculée : non.</a:t>
            </a:r>
          </a:p>
          <a:p xmlns:a="http://schemas.openxmlformats.org/drawingml/2006/main">
            <a:r>
              <a:t/>
            </a:r>
          </a:p>
          <a:p xmlns:a="http://schemas.openxmlformats.org/drawingml/2006/main">
            <a:r>
              <a:t>Page du cours : https://feelpp.github.io/course-data/course-data/foundations/tabular-data.html#_block_4_bridge_long_and_wide_tables</a:t>
            </a:r>
          </a:p>
          <a:p xmlns:a="http://schemas.openxmlformats.org/drawingml/2006/main">
            <a:r>
              <a:t>Source locale : docs/course/modules/ROOT/pages/foundations/tabular-data.adoc</a:t>
            </a:r>
          </a:p>
          <a:p xmlns:a="http://schemas.openxmlformats.org/drawingml/2006/main">
            <a:r>
              <a:t>Les tableaux et les calculs reprennent les exemples publics du cours. Les modifications proposées sont des exercices de séance.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 · Reshaping and joining</a:t>
            </a:r>
          </a:p>
          <a:p xmlns:a="http://schemas.openxmlformats.org/drawingml/2006/main">
            <a:r>
              <a:t>Durée : 5 min ; séance : 110–115 min.</a:t>
            </a:r>
          </a:p>
          <a:p xmlns:a="http://schemas.openxmlformats.org/drawingml/2006/main">
            <a:r>
              <a:t/>
            </a:r>
          </a:p>
          <a:p xmlns:a="http://schemas.openxmlformats.org/drawingml/2006/main">
            <a:r>
              <a:t>Dernière connexion mathématique. La formule concerne une jointure interne d’égalité ; ne pas l’appliquer sans adaptation à une jointure gauche avec des clés absentes. pivot requiert des clés uniques. pivot_table peut agréger les doublons, ce qui ajoute une décision statistique. Une jointure many-to-one validée évite l’amplification des lignes de gauche. Faire prévoir sept lignes sur le petit exemple A/B de la page.</a:t>
            </a:r>
          </a:p>
          <a:p xmlns:a="http://schemas.openxmlformats.org/drawingml/2006/main">
            <a:r>
              <a:t/>
            </a:r>
          </a:p>
          <a:p xmlns:a="http://schemas.openxmlformats.org/drawingml/2006/main">
            <a:r>
              <a:t>Page du cours : https://feelpp.github.io/course-data/course-data/foundations/tabular-data.html#_hand_calculation_join_amplification</a:t>
            </a:r>
          </a:p>
          <a:p xmlns:a="http://schemas.openxmlformats.org/drawingml/2006/main">
            <a:r>
              <a:t>Source locale : docs/course/modules/ROOT/pages/foundations/tabular-data.adoc</a:t>
            </a:r>
          </a:p>
          <a:p xmlns:a="http://schemas.openxmlformats.org/drawingml/2006/main">
            <a:r>
              <a:t>Les tableaux et les calculs reprennent les exemples publics du cours. Les modifications proposées sont des exercices de séance.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 · Wrap-up</a:t>
            </a:r>
          </a:p>
          <a:p xmlns:a="http://schemas.openxmlformats.org/drawingml/2006/main">
            <a:r>
              <a:t>Durée : 5 min ; séance : 115–120 min.</a:t>
            </a:r>
          </a:p>
          <a:p xmlns:a="http://schemas.openxmlformats.org/drawingml/2006/main">
            <a:r>
              <a:t/>
            </a:r>
          </a:p>
          <a:p xmlns:a="http://schemas.openxmlformats.org/drawingml/2006/main">
            <a:r>
              <a:t>Faire répondre deux ou trois binômes en s’appuyant sur une opération concrète. Un notebook qui s’exécute ne suffit pas si les lignes n’ont plus le sens annoncé. Conclure sur le lien avec statistiques, bases de données et calcul scientifique. La séance projet du 15 septembre permettra de revenir sur l’utilisation des outils. Les exercices complets des pages restent disponibles pour approfondir.</a:t>
            </a:r>
          </a:p>
          <a:p xmlns:a="http://schemas.openxmlformats.org/drawingml/2006/main">
            <a:r>
              <a:t/>
            </a:r>
          </a:p>
          <a:p xmlns:a="http://schemas.openxmlformats.org/drawingml/2006/main">
            <a:r>
              <a:t>Page du cours : https://feelpp.github.io/course-data/course-data/foundations/tabular-data.html</a:t>
            </a:r>
          </a:p>
          <a:p xmlns:a="http://schemas.openxmlformats.org/drawingml/2006/main">
            <a:r>
              <a:t>Source locale : docs/course/modules/ROOT/pages/foundations/tabular-data.adoc</a:t>
            </a:r>
          </a:p>
          <a:p xmlns:a="http://schemas.openxmlformats.org/drawingml/2006/main">
            <a:r>
              <a:t>Les tableaux et les calculs reprennent les exemples publics du cours. Les modifications proposées sont des exercices de séance.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46ba5e03fcf440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409b694b53d4113" /><Relationship Type="http://schemas.openxmlformats.org/officeDocument/2006/relationships/slideLayout" Target="/ppt/slideLayouts/slideLayout1.xml" Id="R8040b69c67974c0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040b69c67974c0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e860c060e6b4070" /><Relationship Type="http://schemas.openxmlformats.org/officeDocument/2006/relationships/hyperlink" Target="https://feelpp.github.io/course-data/course-data/foundations/python-pandas.html" TargetMode="External" Id="R31de7418e0354186" /><Relationship Type="http://schemas.openxmlformats.org/officeDocument/2006/relationships/notesSlide" Target="/ppt/notesSlides/notesSlide1.xml" Id="R3d6118d3a62740b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bd6259920244da0" /><Relationship Type="http://schemas.openxmlformats.org/officeDocument/2006/relationships/hyperlink" Target="https://feelpp.github.io/course-data/course-data/foundations/python-pandas.html" TargetMode="External" Id="R86b3b273098242c9" /><Relationship Type="http://schemas.openxmlformats.org/officeDocument/2006/relationships/hyperlink" Target="https://feelpp.github.io/course-data/course-data/foundations/pandas-sql.html" TargetMode="External" Id="R7bf8233422f04647" /><Relationship Type="http://schemas.openxmlformats.org/officeDocument/2006/relationships/hyperlink" Target="https://feelpp.github.io/course-data/course-data/foundations/data-lifecycle.html" TargetMode="External" Id="R03e00898dffd468f" /><Relationship Type="http://schemas.openxmlformats.org/officeDocument/2006/relationships/hyperlink" Target="https://feelpp.github.io/course-data/course-data/foundations/tabular-data.html" TargetMode="External" Id="R261859ccc8ba491e" /><Relationship Type="http://schemas.openxmlformats.org/officeDocument/2006/relationships/hyperlink" Target="https://feelpp.github.io/course-data/course-data/foundations/python-pandas.html" TargetMode="External" Id="R1e3ff9ddd4b94621" /><Relationship Type="http://schemas.openxmlformats.org/officeDocument/2006/relationships/notesSlide" Target="/ppt/notesSlides/notesSlide2.xml" Id="R95f74a6abc6a4f4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7feafb73a3f4aa1" /><Relationship Type="http://schemas.openxmlformats.org/officeDocument/2006/relationships/hyperlink" Target="https://feelpp.github.io/course-data/course-data/foundations/python-pandas.html#_2_put_the_familiar_table_into_pandas" TargetMode="External" Id="Rc68dcb28b73c4d1d" /><Relationship Type="http://schemas.openxmlformats.org/officeDocument/2006/relationships/notesSlide" Target="/ppt/notesSlides/notesSlide3.xml" Id="R55ffc561685142d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adaf636ef954554" /><Relationship Type="http://schemas.openxmlformats.org/officeDocument/2006/relationships/hyperlink" Target="https://feelpp.github.io/course-data/course-data/foundations/python-pandas.html#_3_read_one_column_then_select_one_sensor" TargetMode="External" Id="R4636600287b841ff" /><Relationship Type="http://schemas.openxmlformats.org/officeDocument/2006/relationships/notesSlide" Target="/ppt/notesSlides/notesSlide4.xml" Id="Rf208b3bb39f542c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3f0c58bc733426f" /><Relationship Type="http://schemas.openxmlformats.org/officeDocument/2006/relationships/hyperlink" Target="https://feelpp.github.io/course-data/course-data/foundations/python-pandas.html#_4_locate_what_is_missing" TargetMode="External" Id="R53ac2a4a811f4cf8" /><Relationship Type="http://schemas.openxmlformats.org/officeDocument/2006/relationships/notesSlide" Target="/ppt/notesSlides/notesSlide5.xml" Id="R534c87b009a544f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141ac7d8abf4114" /><Relationship Type="http://schemas.openxmlformats.org/officeDocument/2006/relationships/hyperlink" Target="https://feelpp.github.io/course-data/course-data/foundations/python-pandas.html#_5_add_a_celsius_column_without_losing_the_recorded_values" TargetMode="External" Id="Rb68b269e8d0b43e5" /><Relationship Type="http://schemas.openxmlformats.org/officeDocument/2006/relationships/notesSlide" Target="/ppt/notesSlides/notesSlide6.xml" Id="Rb62369e6d774462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2e0fab765894404" /><Relationship Type="http://schemas.openxmlformats.org/officeDocument/2006/relationships/hyperlink" Target="https://feelpp.github.io/course-data/course-data/foundations/python-pandas.html#_worked_example_finish_the_calculation_from_the_first_class" TargetMode="External" Id="R1c3c2ae031da490e" /><Relationship Type="http://schemas.openxmlformats.org/officeDocument/2006/relationships/notesSlide" Target="/ppt/notesSlides/notesSlide7.xml" Id="Re70b81992254411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b1d9c8617b34a40" /><Relationship Type="http://schemas.openxmlformats.org/officeDocument/2006/relationships/hyperlink" Target="https://feelpp.github.io/course-data/course-data/foundations/python-pandas.html#_practise_on_the_same_table" TargetMode="External" Id="R82aae375ea794f92" /><Relationship Type="http://schemas.openxmlformats.org/officeDocument/2006/relationships/notesSlide" Target="/ppt/notesSlides/notesSlide8.xml" Id="R83576c21b4fe4b5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13333fee3f247fe" /><Relationship Type="http://schemas.openxmlformats.org/officeDocument/2006/relationships/hyperlink" Target="https://feelpp.github.io/course-data/course-data/foundations/python-pandas.html#_practise_on_the_same_table" TargetMode="External" Id="R01f8808050fe4760" /><Relationship Type="http://schemas.openxmlformats.org/officeDocument/2006/relationships/notesSlide" Target="/ppt/notesSlides/notesSlide9.xml" Id="Ra15b116846b0478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32e7abf15e84dcc" /><Relationship Type="http://schemas.openxmlformats.org/officeDocument/2006/relationships/hyperlink" Target="https://feelpp.github.io/course-data/course-data/foundations/pandas-sql.html#_2_one_summary_for_each_sensor" TargetMode="External" Id="Rd12646ce662d4599" /><Relationship Type="http://schemas.openxmlformats.org/officeDocument/2006/relationships/notesSlide" Target="/ppt/notesSlides/notesSlide10.xml" Id="R75e6571bf7e9414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699d00b031348d3" /><Relationship Type="http://schemas.openxmlformats.org/officeDocument/2006/relationships/hyperlink" Target="https://feelpp.github.io/course-data/course-data/foundations/pandas-sql.html#pandas-guided-join" TargetMode="External" Id="Rf8a9253851984053" /><Relationship Type="http://schemas.openxmlformats.org/officeDocument/2006/relationships/notesSlide" Target="/ppt/notesSlides/notesSlide11.xml" Id="R5a18a3b4a801492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76bdda2d22a49c5" /><Relationship Type="http://schemas.openxmlformats.org/officeDocument/2006/relationships/hyperlink" Target="https://feelpp.github.io/course-data/course-data/foundations/pandas-sql.html#_4_pair_practice_one_change_at_a_time" TargetMode="External" Id="R5630adc4781a4d14" /><Relationship Type="http://schemas.openxmlformats.org/officeDocument/2006/relationships/notesSlide" Target="/ppt/notesSlides/notesSlide12.xml" Id="Rccca2b5874a04b7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2b98c8c163348a2" /><Relationship Type="http://schemas.openxmlformats.org/officeDocument/2006/relationships/hyperlink" Target="https://feelpp.github.io/course-data/course-data/foundations/pandas-sql.html#pandas-sql-bridge" TargetMode="External" Id="R3018928a4e564c33" /><Relationship Type="http://schemas.openxmlformats.org/officeDocument/2006/relationships/notesSlide" Target="/ppt/notesSlides/notesSlide13.xml" Id="R6087fb6c241042f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8d7b136017f45d7" /><Relationship Type="http://schemas.openxmlformats.org/officeDocument/2006/relationships/hyperlink" Target="https://feelpp.github.io/course-data/course-data/foundations/data-lifecycle.html" TargetMode="External" Id="R579fe900c63c4304" /><Relationship Type="http://schemas.openxmlformats.org/officeDocument/2006/relationships/notesSlide" Target="/ppt/notesSlides/notesSlide14.xml" Id="R4e42d840076e4d0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3b23b63443f046cb" /><Relationship Type="http://schemas.openxmlformats.org/officeDocument/2006/relationships/hyperlink" Target="https://feelpp.github.io/course-data/course-data/foundations/data-lifecycle.html#_audit_sequence" TargetMode="External" Id="R2ae0ce676689462c" /><Relationship Type="http://schemas.openxmlformats.org/officeDocument/2006/relationships/notesSlide" Target="/ppt/notesSlides/notesSlide15.xml" Id="R62f475d47fb04f4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1fef3f51ef64a85" /><Relationship Type="http://schemas.openxmlformats.org/officeDocument/2006/relationships/hyperlink" Target="https://feelpp.github.io/course-data/course-data/foundations/data-lifecycle.html#lifecycle-estimand-table" TargetMode="External" Id="Rb1f6795ddf104207" /><Relationship Type="http://schemas.openxmlformats.org/officeDocument/2006/relationships/notesSlide" Target="/ppt/notesSlides/notesSlide16.xml" Id="Ra70a96f8335c419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0f01a3d8dc1d4d3e" /><Relationship Type="http://schemas.openxmlformats.org/officeDocument/2006/relationships/hyperlink" Target="https://feelpp.github.io/course-data/course-data/foundations/data-lifecycle.html#worked-lifecycle-method" TargetMode="External" Id="R85c3db80e6104c6f" /><Relationship Type="http://schemas.openxmlformats.org/officeDocument/2006/relationships/notesSlide" Target="/ppt/notesSlides/notesSlide17.xml" Id="Rebc84b9a1d334b8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c85b6e75ffa84e0c" /><Relationship Type="http://schemas.openxmlformats.org/officeDocument/2006/relationships/hyperlink" Target="https://feelpp.github.io/course-data/course-data/foundations/data-lifecycle.html#lifecycle-audit" TargetMode="External" Id="R6a66e3fd1fd84eca" /><Relationship Type="http://schemas.openxmlformats.org/officeDocument/2006/relationships/notesSlide" Target="/ppt/notesSlides/notesSlide18.xml" Id="R2247c45f13f54b3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c360380d5e004264" /><Relationship Type="http://schemas.openxmlformats.org/officeDocument/2006/relationships/hyperlink" Target="https://feelpp.github.io/course-data/course-data/foundations/tabular-data.html#_block_4_bridge_array_shapes_and_reductions" TargetMode="External" Id="R7bdcd2fdf6934b0a" /><Relationship Type="http://schemas.openxmlformats.org/officeDocument/2006/relationships/notesSlide" Target="/ppt/notesSlides/notesSlide19.xml" Id="R6735bc9ded01452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94cbe16efb404cf9" /><Relationship Type="http://schemas.openxmlformats.org/officeDocument/2006/relationships/hyperlink" Target="https://feelpp.github.io/course-data/course-data/foundations/tabular-data.html#_block_4_bridge_array_shapes_and_reductions" TargetMode="External" Id="R3b3c60ff5af241d0" /><Relationship Type="http://schemas.openxmlformats.org/officeDocument/2006/relationships/notesSlide" Target="/ppt/notesSlides/notesSlide20.xml" Id="R7d02d9524510478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eeddc19d0f704bbe" /><Relationship Type="http://schemas.openxmlformats.org/officeDocument/2006/relationships/hyperlink" Target="https://feelpp.github.io/course-data/course-data/foundations/tabular-data.html#_block_4_bridge_long_and_wide_tables" TargetMode="External" Id="R25892a4287474508" /><Relationship Type="http://schemas.openxmlformats.org/officeDocument/2006/relationships/notesSlide" Target="/ppt/notesSlides/notesSlide21.xml" Id="R3bb6178807f242d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52ecba1ab5d341a5" /><Relationship Type="http://schemas.openxmlformats.org/officeDocument/2006/relationships/hyperlink" Target="https://feelpp.github.io/course-data/course-data/foundations/tabular-data.html#_hand_calculation_join_amplification" TargetMode="External" Id="R73543ead98ca48d3" /><Relationship Type="http://schemas.openxmlformats.org/officeDocument/2006/relationships/notesSlide" Target="/ppt/notesSlides/notesSlide22.xml" Id="R9fd2af622f2444e5"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1c627e7710344061" /><Relationship Type="http://schemas.openxmlformats.org/officeDocument/2006/relationships/hyperlink" Target="https://feelpp.github.io/course-data/course-data/foundations/tabular-data.html" TargetMode="External" Id="Rd3cc538e0941492d" /><Relationship Type="http://schemas.openxmlformats.org/officeDocument/2006/relationships/notesSlide" Target="/ppt/notesSlides/notesSlide23.xml" Id="Rfff432b49c0d4337" /></Relationships>
</file>

<file path=ppt/slides/slide1.xml><?xml version="1.0" encoding="utf-8"?>
<p:sld xmlns:p="http://schemas.openxmlformats.org/presentationml/2006/main">
  <p:cSld>
    <p:bg>
      <p:bgPr>
        <a:solidFill xmlns:a="http://schemas.openxmlformats.org/drawingml/2006/main">
          <a:srgbClr val="FFFEF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828FBE8-B3A3-441B-96A7-4E9A2CA402A9}"/>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5F46"/>
          </a:solidFill>
          <a:ln xmlns:a="http://schemas.openxmlformats.org/drawingml/2006/main" w="0">
            <a:noFill/>
          </a:ln>
        </p:spPr>
      </p:sp>
      <p:sp>
        <p:nvSpPr>
          <p:cNvPr id="2" name="CSMI · 14 September 2026">
            <a:extLst xmlns:a="http://schemas.openxmlformats.org/drawingml/2006/main">
              <a:ext uri="{FF2B5EF4-FFF2-40B4-BE49-F238E27FC236}">
                <a16:creationId xmlns:a16="http://schemas.microsoft.com/office/drawing/2014/main" id="{E2C3A29B-E57A-44E3-958D-0E6E309AF7F7}"/>
              </a:ext>
            </a:extLst>
          </p:cNvPr>
          <p:cNvSpPr>
            <a:spLocks xmlns:a="http://schemas.openxmlformats.org/drawingml/2006/main" noGrp="1"/>
          </p:cNvSpPr>
          <p:nvPr/>
        </p:nvSpPr>
        <p:spPr>
          <a:xfrm xmlns:a="http://schemas.openxmlformats.org/drawingml/2006/main">
            <a:off x="685800" y="323850"/>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1">
                <a:solidFill>
                  <a:srgbClr val="155F46"/>
                </a:solidFill>
                <a:latin typeface="Arial"/>
                <a:ea typeface="Arial"/>
                <a:cs typeface="Arial"/>
              </a:defRPr>
            </a:pPr>
            <a:r>
              <a:rPr sz="1575" b="1">
                <a:solidFill>
                  <a:srgbClr val="155F46"/>
                </a:solidFill>
                <a:latin typeface="Arial"/>
                <a:ea typeface="Arial"/>
                <a:cs typeface="Arial"/>
              </a:rPr>
              <a:t>CSMI · 14 September 2026</a:t>
            </a:r>
          </a:p>
        </p:txBody>
      </p:sp>
      <p:sp>
        <p:nvSpPr>
          <p:cNvPr id="3" name="From Python to useful data tables">
            <a:extLst xmlns:a="http://schemas.openxmlformats.org/drawingml/2006/main">
              <a:ext uri="{FF2B5EF4-FFF2-40B4-BE49-F238E27FC236}">
                <a16:creationId xmlns:a16="http://schemas.microsoft.com/office/drawing/2014/main" id="{8C7BA6B5-4EE0-4F16-8EE3-4BF60DFE2879}"/>
              </a:ext>
            </a:extLst>
          </p:cNvPr>
          <p:cNvSpPr>
            <a:spLocks xmlns:a="http://schemas.openxmlformats.org/drawingml/2006/main" noGrp="1"/>
          </p:cNvSpPr>
          <p:nvPr/>
        </p:nvSpPr>
        <p:spPr>
          <a:xfrm xmlns:a="http://schemas.openxmlformats.org/drawingml/2006/main">
            <a:off x="685800" y="1285875"/>
            <a:ext cx="1082040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500" b="1">
                <a:solidFill>
                  <a:srgbClr val="142A24"/>
                </a:solidFill>
                <a:latin typeface="Arial"/>
                <a:ea typeface="Arial"/>
                <a:cs typeface="Arial"/>
              </a:defRPr>
            </a:pPr>
            <a:r>
              <a:rPr sz="4500" b="1">
                <a:solidFill>
                  <a:srgbClr val="142A24"/>
                </a:solidFill>
                <a:latin typeface="Arial"/>
                <a:ea typeface="Arial"/>
                <a:cs typeface="Arial"/>
              </a:rPr>
              <a:t>From Python to useful data tables</a:t>
            </a:r>
          </a:p>
        </p:txBody>
      </p:sp>
      <p:sp>
        <p:nvSpPr>
          <p:cNvPr id="4" name="pandas, SQL and the meaning of a result">
            <a:extLst xmlns:a="http://schemas.openxmlformats.org/drawingml/2006/main">
              <a:ext uri="{FF2B5EF4-FFF2-40B4-BE49-F238E27FC236}">
                <a16:creationId xmlns:a16="http://schemas.microsoft.com/office/drawing/2014/main" id="{094103A3-C439-4C63-965E-AC17C52FE862}"/>
              </a:ext>
            </a:extLst>
          </p:cNvPr>
          <p:cNvSpPr>
            <a:spLocks xmlns:a="http://schemas.openxmlformats.org/drawingml/2006/main" noGrp="1"/>
          </p:cNvSpPr>
          <p:nvPr/>
        </p:nvSpPr>
        <p:spPr>
          <a:xfrm xmlns:a="http://schemas.openxmlformats.org/drawingml/2006/main">
            <a:off x="685800" y="27813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850" b="0">
                <a:solidFill>
                  <a:srgbClr val="142A24"/>
                </a:solidFill>
                <a:latin typeface="Arial"/>
                <a:ea typeface="Arial"/>
                <a:cs typeface="Arial"/>
              </a:defRPr>
            </a:pPr>
            <a:r>
              <a:rPr sz="2850" b="0">
                <a:solidFill>
                  <a:srgbClr val="142A24"/>
                </a:solidFill>
                <a:latin typeface="Arial"/>
                <a:ea typeface="Arial"/>
                <a:cs typeface="Arial"/>
              </a:rPr>
              <a:t>pandas, SQL and the meaning of a result</a:t>
            </a:r>
          </a:p>
        </p:txBody>
      </p:sp>
      <p:sp>
        <p:nvSpPr>
          <p:cNvPr id="5" name="We know Python. Today we learn how to work with tables.">
            <a:extLst xmlns:a="http://schemas.openxmlformats.org/drawingml/2006/main">
              <a:ext uri="{FF2B5EF4-FFF2-40B4-BE49-F238E27FC236}">
                <a16:creationId xmlns:a16="http://schemas.microsoft.com/office/drawing/2014/main" id="{1EFC79BB-1ACA-4F11-A975-C4E3FADCE8C5}"/>
              </a:ext>
            </a:extLst>
          </p:cNvPr>
          <p:cNvSpPr>
            <a:spLocks xmlns:a="http://schemas.openxmlformats.org/drawingml/2006/main" noGrp="1"/>
          </p:cNvSpPr>
          <p:nvPr/>
        </p:nvSpPr>
        <p:spPr>
          <a:xfrm xmlns:a="http://schemas.openxmlformats.org/drawingml/2006/main">
            <a:off x="685800" y="393382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42A24"/>
                </a:solidFill>
                <a:latin typeface="Arial"/>
                <a:ea typeface="Arial"/>
                <a:cs typeface="Arial"/>
              </a:defRPr>
            </a:pPr>
            <a:r>
              <a:rPr sz="2250" b="0">
                <a:solidFill>
                  <a:srgbClr val="142A24"/>
                </a:solidFill>
                <a:latin typeface="Arial"/>
                <a:ea typeface="Arial"/>
                <a:cs typeface="Arial"/>
              </a:rPr>
              <a:t>We know Python. Today we learn how to work with tables.</a:t>
            </a:r>
          </a:p>
        </p:txBody>
      </p:sp>
      <p:sp>
        <p:nvSpPr>
          <p:cNvPr id="6" name="One question throughout: what does one row represent?">
            <a:extLst xmlns:a="http://schemas.openxmlformats.org/drawingml/2006/main">
              <a:ext uri="{FF2B5EF4-FFF2-40B4-BE49-F238E27FC236}">
                <a16:creationId xmlns:a16="http://schemas.microsoft.com/office/drawing/2014/main" id="{883A53CF-CFB9-4732-8FF7-0AB21F3263B9}"/>
              </a:ext>
            </a:extLst>
          </p:cNvPr>
          <p:cNvSpPr>
            <a:spLocks xmlns:a="http://schemas.openxmlformats.org/drawingml/2006/main" noGrp="1"/>
          </p:cNvSpPr>
          <p:nvPr/>
        </p:nvSpPr>
        <p:spPr>
          <a:xfrm xmlns:a="http://schemas.openxmlformats.org/drawingml/2006/main">
            <a:off x="685800" y="517207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155F46"/>
                </a:solidFill>
                <a:latin typeface="Arial"/>
                <a:ea typeface="Arial"/>
                <a:cs typeface="Arial"/>
              </a:defRPr>
            </a:pPr>
            <a:r>
              <a:rPr sz="2325" b="1">
                <a:solidFill>
                  <a:srgbClr val="155F46"/>
                </a:solidFill>
                <a:latin typeface="Arial"/>
                <a:ea typeface="Arial"/>
                <a:cs typeface="Arial"/>
              </a:rPr>
              <a:t>One question throughout: what does one row represent?</a:t>
            </a:r>
          </a:p>
        </p:txBody>
      </p:sp>
      <p:sp>
        <p:nvSpPr>
          <p:cNvPr id="7" name="Open course page">
            <a:extLst xmlns:a="http://schemas.openxmlformats.org/drawingml/2006/main">
              <a:ext uri="{FF2B5EF4-FFF2-40B4-BE49-F238E27FC236}">
                <a16:creationId xmlns:a16="http://schemas.microsoft.com/office/drawing/2014/main" id="{C1F0EF25-CA9A-43F6-BEAA-5FEEF95138FD}"/>
              </a:ext>
            </a:extLst>
          </p:cNvPr>
          <p:cNvSpPr>
            <a:spLocks xmlns:a="http://schemas.openxmlformats.org/drawingml/2006/main" noGrp="1"/>
          </p:cNvSpPr>
          <p:nvPr/>
        </p:nvSpPr>
        <p:spPr>
          <a:xfrm xmlns:a="http://schemas.openxmlformats.org/drawingml/2006/main">
            <a:off x="685800" y="6381750"/>
            <a:ext cx="571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55F46"/>
                </a:solidFill>
                <a:latin typeface="Arial"/>
                <a:ea typeface="Arial"/>
                <a:cs typeface="Arial"/>
              </a:defRPr>
            </a:pPr>
            <a:r>
              <a:rPr sz="1500" b="1">
                <a:solidFill>
                  <a:srgbClr val="155F46"/>
                </a:solidFill>
                <a:latin typeface="Arial"/>
                <a:ea typeface="Arial"/>
                <a:cs typeface="Arial"/>
                <a:hlinkClick xmlns:r="http://schemas.openxmlformats.org/officeDocument/2006/relationships" r:id="R31de7418e0354186"/>
              </a:rPr>
              <a:t>Open course page</a:t>
            </a:r>
          </a:p>
        </p:txBody>
      </p:sp>
      <p:sp>
        <p:nvSpPr>
          <p:cNvPr id="8" name="0–2 min · 1 / 23">
            <a:extLst xmlns:a="http://schemas.openxmlformats.org/drawingml/2006/main">
              <a:ext uri="{FF2B5EF4-FFF2-40B4-BE49-F238E27FC236}">
                <a16:creationId xmlns:a16="http://schemas.microsoft.com/office/drawing/2014/main" id="{A6B5D2B0-7CAE-4AAB-9942-EE67570A4D12}"/>
              </a:ext>
            </a:extLst>
          </p:cNvPr>
          <p:cNvSpPr>
            <a:spLocks xmlns:a="http://schemas.openxmlformats.org/drawingml/2006/main" noGrp="1"/>
          </p:cNvSpPr>
          <p:nvPr/>
        </p:nvSpPr>
        <p:spPr>
          <a:xfrm xmlns:a="http://schemas.openxmlformats.org/drawingml/2006/main">
            <a:off x="8191500" y="6381750"/>
            <a:ext cx="3314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66C61"/>
                </a:solidFill>
                <a:latin typeface="Arial"/>
                <a:ea typeface="Arial"/>
                <a:cs typeface="Arial"/>
              </a:defRPr>
            </a:pPr>
            <a:r>
              <a:rPr sz="1500" b="0">
                <a:solidFill>
                  <a:srgbClr val="566C61"/>
                </a:solidFill>
                <a:latin typeface="Arial"/>
                <a:ea typeface="Arial"/>
                <a:cs typeface="Arial"/>
              </a:rPr>
              <a:t>0–2 min · 1 / 23</a:t>
            </a:r>
          </a:p>
        </p:txBody>
      </p:sp>
    </p:spTree>
    <p:extLst>
      <p:ext uri="{BB962C8B-B14F-4D97-AF65-F5344CB8AC3E}">
        <p14:creationId xmlns:p14="http://schemas.microsoft.com/office/powerpoint/2010/main" val="151238959"/>
      </p:ext>
    </p:extLst>
  </p:cSld>
</p:sld>
</file>

<file path=ppt/slides/slide2.xml><?xml version="1.0" encoding="utf-8"?>
<p:sld xmlns:p="http://schemas.openxmlformats.org/presentationml/2006/main">
  <p:cSld>
    <p:bg>
      <p:bgPr>
        <a:solidFill xmlns:a="http://schemas.openxmlformats.org/drawingml/2006/main">
          <a:srgbClr val="FFFEFB"/>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5856FA3-4FE7-4B96-90ED-DE13C2403850}"/>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5F46"/>
          </a:solidFill>
          <a:ln xmlns:a="http://schemas.openxmlformats.org/drawingml/2006/main" w="0">
            <a:noFill/>
          </a:ln>
        </p:spPr>
      </p:sp>
      <p:sp>
        <p:nvSpPr>
          <p:cNvPr id="2" name="Today">
            <a:extLst xmlns:a="http://schemas.openxmlformats.org/drawingml/2006/main">
              <a:ext uri="{FF2B5EF4-FFF2-40B4-BE49-F238E27FC236}">
                <a16:creationId xmlns:a16="http://schemas.microsoft.com/office/drawing/2014/main" id="{888C1026-2311-4085-AF4F-F206C331C04C}"/>
              </a:ext>
            </a:extLst>
          </p:cNvPr>
          <p:cNvSpPr>
            <a:spLocks xmlns:a="http://schemas.openxmlformats.org/drawingml/2006/main" noGrp="1"/>
          </p:cNvSpPr>
          <p:nvPr/>
        </p:nvSpPr>
        <p:spPr>
          <a:xfrm xmlns:a="http://schemas.openxmlformats.org/drawingml/2006/main">
            <a:off x="685800" y="323850"/>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1">
                <a:solidFill>
                  <a:srgbClr val="155F46"/>
                </a:solidFill>
                <a:latin typeface="Arial"/>
                <a:ea typeface="Arial"/>
                <a:cs typeface="Arial"/>
              </a:defRPr>
            </a:pPr>
            <a:r>
              <a:rPr sz="1575" b="1">
                <a:solidFill>
                  <a:srgbClr val="155F46"/>
                </a:solidFill>
                <a:latin typeface="Arial"/>
                <a:ea typeface="Arial"/>
                <a:cs typeface="Arial"/>
              </a:rPr>
              <a:t>Today</a:t>
            </a:r>
          </a:p>
        </p:txBody>
      </p:sp>
      <p:sp>
        <p:nvSpPr>
          <p:cNvPr id="3" name="Our route for two hours">
            <a:extLst xmlns:a="http://schemas.openxmlformats.org/drawingml/2006/main">
              <a:ext uri="{FF2B5EF4-FFF2-40B4-BE49-F238E27FC236}">
                <a16:creationId xmlns:a16="http://schemas.microsoft.com/office/drawing/2014/main" id="{140FCAA5-F378-4B8C-8BBD-C5099D7C6AA2}"/>
              </a:ext>
            </a:extLst>
          </p:cNvPr>
          <p:cNvSpPr>
            <a:spLocks xmlns:a="http://schemas.openxmlformats.org/drawingml/2006/main" noGrp="1"/>
          </p:cNvSpPr>
          <p:nvPr/>
        </p:nvSpPr>
        <p:spPr>
          <a:xfrm xmlns:a="http://schemas.openxmlformats.org/drawingml/2006/main">
            <a:off x="685800" y="73342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142A24"/>
                </a:solidFill>
                <a:latin typeface="Arial"/>
                <a:ea typeface="Arial"/>
                <a:cs typeface="Arial"/>
              </a:defRPr>
            </a:pPr>
            <a:r>
              <a:rPr sz="3225" b="1">
                <a:solidFill>
                  <a:srgbClr val="142A24"/>
                </a:solidFill>
                <a:latin typeface="Arial"/>
                <a:ea typeface="Arial"/>
                <a:cs typeface="Arial"/>
              </a:rPr>
              <a:t>Our route for two hours</a:t>
            </a:r>
          </a:p>
        </p:txBody>
      </p:sp>
      <p:sp>
        <p:nvSpPr>
          <p:cNvPr id="4" name="00–40 min    Python and pandas: first steps">
            <a:extLst xmlns:a="http://schemas.openxmlformats.org/drawingml/2006/main">
              <a:ext uri="{FF2B5EF4-FFF2-40B4-BE49-F238E27FC236}">
                <a16:creationId xmlns:a16="http://schemas.microsoft.com/office/drawing/2014/main" id="{9D90EC42-24D4-44AD-9974-A167DF5C218C}"/>
              </a:ext>
            </a:extLst>
          </p:cNvPr>
          <p:cNvSpPr>
            <a:spLocks xmlns:a="http://schemas.openxmlformats.org/drawingml/2006/main" noGrp="1"/>
          </p:cNvSpPr>
          <p:nvPr/>
        </p:nvSpPr>
        <p:spPr>
          <a:xfrm xmlns:a="http://schemas.openxmlformats.org/drawingml/2006/main">
            <a:off x="685800" y="177165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55F46"/>
                </a:solidFill>
                <a:latin typeface="Arial"/>
                <a:ea typeface="Arial"/>
                <a:cs typeface="Arial"/>
              </a:defRPr>
            </a:pPr>
            <a:r>
              <a:rPr sz="2325" b="0">
                <a:solidFill>
                  <a:srgbClr val="155F46"/>
                </a:solidFill>
                <a:latin typeface="Arial"/>
                <a:ea typeface="Arial"/>
                <a:cs typeface="Arial"/>
                <a:hlinkClick xmlns:r="http://schemas.openxmlformats.org/officeDocument/2006/relationships" r:id="R86b3b273098242c9"/>
              </a:rPr>
              <a:t>00–40 min    Python and pandas: first steps</a:t>
            </a:r>
          </a:p>
        </p:txBody>
      </p:sp>
      <p:sp>
        <p:nvSpPr>
          <p:cNvPr id="5" name="40–65 min    Groups, joins, and SQL">
            <a:extLst xmlns:a="http://schemas.openxmlformats.org/drawingml/2006/main">
              <a:ext uri="{FF2B5EF4-FFF2-40B4-BE49-F238E27FC236}">
                <a16:creationId xmlns:a16="http://schemas.microsoft.com/office/drawing/2014/main" id="{B4F3E324-9C4B-4798-B62E-FDC5DD790376}"/>
              </a:ext>
            </a:extLst>
          </p:cNvPr>
          <p:cNvSpPr>
            <a:spLocks xmlns:a="http://schemas.openxmlformats.org/drawingml/2006/main" noGrp="1"/>
          </p:cNvSpPr>
          <p:nvPr/>
        </p:nvSpPr>
        <p:spPr>
          <a:xfrm xmlns:a="http://schemas.openxmlformats.org/drawingml/2006/main">
            <a:off x="685800" y="240030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55F46"/>
                </a:solidFill>
                <a:latin typeface="Arial"/>
                <a:ea typeface="Arial"/>
                <a:cs typeface="Arial"/>
              </a:defRPr>
            </a:pPr>
            <a:r>
              <a:rPr sz="2325" b="0">
                <a:solidFill>
                  <a:srgbClr val="155F46"/>
                </a:solidFill>
                <a:latin typeface="Arial"/>
                <a:ea typeface="Arial"/>
                <a:cs typeface="Arial"/>
                <a:hlinkClick xmlns:r="http://schemas.openxmlformats.org/officeDocument/2006/relationships" r:id="R7bf8233422f04647"/>
              </a:rPr>
              <a:t>40–65 min    Groups, joins, and SQL</a:t>
            </a:r>
          </a:p>
        </p:txBody>
      </p:sp>
      <p:sp>
        <p:nvSpPr>
          <p:cNvPr id="6" name="65–75 min    Break">
            <a:extLst xmlns:a="http://schemas.openxmlformats.org/drawingml/2006/main">
              <a:ext uri="{FF2B5EF4-FFF2-40B4-BE49-F238E27FC236}">
                <a16:creationId xmlns:a16="http://schemas.microsoft.com/office/drawing/2014/main" id="{88A60612-102C-4EB7-AFE3-516F871CF7D7}"/>
              </a:ext>
            </a:extLst>
          </p:cNvPr>
          <p:cNvSpPr>
            <a:spLocks xmlns:a="http://schemas.openxmlformats.org/drawingml/2006/main" noGrp="1"/>
          </p:cNvSpPr>
          <p:nvPr/>
        </p:nvSpPr>
        <p:spPr>
          <a:xfrm xmlns:a="http://schemas.openxmlformats.org/drawingml/2006/main">
            <a:off x="685800" y="302895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42A24"/>
                </a:solidFill>
                <a:latin typeface="Arial"/>
                <a:ea typeface="Arial"/>
                <a:cs typeface="Arial"/>
              </a:defRPr>
            </a:pPr>
            <a:r>
              <a:rPr sz="2325" b="0">
                <a:solidFill>
                  <a:srgbClr val="142A24"/>
                </a:solidFill>
                <a:latin typeface="Arial"/>
                <a:ea typeface="Arial"/>
                <a:cs typeface="Arial"/>
              </a:rPr>
              <a:t>65–75 min    Break</a:t>
            </a:r>
          </a:p>
        </p:txBody>
      </p:sp>
      <p:sp>
        <p:nvSpPr>
          <p:cNvPr id="7" name="75–95 min    Data lifecycle and audit">
            <a:extLst xmlns:a="http://schemas.openxmlformats.org/drawingml/2006/main">
              <a:ext uri="{FF2B5EF4-FFF2-40B4-BE49-F238E27FC236}">
                <a16:creationId xmlns:a16="http://schemas.microsoft.com/office/drawing/2014/main" id="{AF82213E-F64A-4AD3-B54A-78F46F306002}"/>
              </a:ext>
            </a:extLst>
          </p:cNvPr>
          <p:cNvSpPr>
            <a:spLocks xmlns:a="http://schemas.openxmlformats.org/drawingml/2006/main" noGrp="1"/>
          </p:cNvSpPr>
          <p:nvPr/>
        </p:nvSpPr>
        <p:spPr>
          <a:xfrm xmlns:a="http://schemas.openxmlformats.org/drawingml/2006/main">
            <a:off x="685800" y="365760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55F46"/>
                </a:solidFill>
                <a:latin typeface="Arial"/>
                <a:ea typeface="Arial"/>
                <a:cs typeface="Arial"/>
              </a:defRPr>
            </a:pPr>
            <a:r>
              <a:rPr sz="2325" b="0">
                <a:solidFill>
                  <a:srgbClr val="155F46"/>
                </a:solidFill>
                <a:latin typeface="Arial"/>
                <a:ea typeface="Arial"/>
                <a:cs typeface="Arial"/>
                <a:hlinkClick xmlns:r="http://schemas.openxmlformats.org/officeDocument/2006/relationships" r:id="R03e00898dffd468f"/>
              </a:rPr>
              <a:t>75–95 min    Data lifecycle and audit</a:t>
            </a:r>
          </a:p>
        </p:txBody>
      </p:sp>
      <p:sp>
        <p:nvSpPr>
          <p:cNvPr id="8" name="95–115 min  Arrays, tables, and joins">
            <a:extLst xmlns:a="http://schemas.openxmlformats.org/drawingml/2006/main">
              <a:ext uri="{FF2B5EF4-FFF2-40B4-BE49-F238E27FC236}">
                <a16:creationId xmlns:a16="http://schemas.microsoft.com/office/drawing/2014/main" id="{DA35C49F-2D06-4428-A617-B17AAAFCCF84}"/>
              </a:ext>
            </a:extLst>
          </p:cNvPr>
          <p:cNvSpPr>
            <a:spLocks xmlns:a="http://schemas.openxmlformats.org/drawingml/2006/main" noGrp="1"/>
          </p:cNvSpPr>
          <p:nvPr/>
        </p:nvSpPr>
        <p:spPr>
          <a:xfrm xmlns:a="http://schemas.openxmlformats.org/drawingml/2006/main">
            <a:off x="685800" y="428625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55F46"/>
                </a:solidFill>
                <a:latin typeface="Arial"/>
                <a:ea typeface="Arial"/>
                <a:cs typeface="Arial"/>
              </a:defRPr>
            </a:pPr>
            <a:r>
              <a:rPr sz="2325" b="0">
                <a:solidFill>
                  <a:srgbClr val="155F46"/>
                </a:solidFill>
                <a:latin typeface="Arial"/>
                <a:ea typeface="Arial"/>
                <a:cs typeface="Arial"/>
                <a:hlinkClick xmlns:r="http://schemas.openxmlformats.org/officeDocument/2006/relationships" r:id="R261859ccc8ba491e"/>
              </a:rPr>
              <a:t>95–115 min  Arrays, tables, and joins</a:t>
            </a:r>
          </a:p>
        </p:txBody>
      </p:sp>
      <p:sp>
        <p:nvSpPr>
          <p:cNvPr id="9" name="115–120 min  Explain what we have learned">
            <a:extLst xmlns:a="http://schemas.openxmlformats.org/drawingml/2006/main">
              <a:ext uri="{FF2B5EF4-FFF2-40B4-BE49-F238E27FC236}">
                <a16:creationId xmlns:a16="http://schemas.microsoft.com/office/drawing/2014/main" id="{38664E3B-6788-4C23-8B9E-CE77EE41E630}"/>
              </a:ext>
            </a:extLst>
          </p:cNvPr>
          <p:cNvSpPr>
            <a:spLocks xmlns:a="http://schemas.openxmlformats.org/drawingml/2006/main" noGrp="1"/>
          </p:cNvSpPr>
          <p:nvPr/>
        </p:nvSpPr>
        <p:spPr>
          <a:xfrm xmlns:a="http://schemas.openxmlformats.org/drawingml/2006/main">
            <a:off x="685800" y="491490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42A24"/>
                </a:solidFill>
                <a:latin typeface="Arial"/>
                <a:ea typeface="Arial"/>
                <a:cs typeface="Arial"/>
              </a:defRPr>
            </a:pPr>
            <a:r>
              <a:rPr sz="2325" b="0">
                <a:solidFill>
                  <a:srgbClr val="142A24"/>
                </a:solidFill>
                <a:latin typeface="Arial"/>
                <a:ea typeface="Arial"/>
                <a:cs typeface="Arial"/>
              </a:rPr>
              <a:t>115–120 min  Explain what we have learned</a:t>
            </a:r>
          </a:p>
        </p:txBody>
      </p:sp>
      <p:sp>
        <p:nvSpPr>
          <p:cNvPr id="10" name="Follow the selected examples today. The pages remain fuller ">
            <a:extLst xmlns:a="http://schemas.openxmlformats.org/drawingml/2006/main">
              <a:ext uri="{FF2B5EF4-FFF2-40B4-BE49-F238E27FC236}">
                <a16:creationId xmlns:a16="http://schemas.microsoft.com/office/drawing/2014/main" id="{C4BB7D87-2E1B-41B4-8297-0B4EF0BCBBBF}"/>
              </a:ext>
            </a:extLst>
          </p:cNvPr>
          <p:cNvSpPr>
            <a:spLocks xmlns:a="http://schemas.openxmlformats.org/drawingml/2006/main" noGrp="1"/>
          </p:cNvSpPr>
          <p:nvPr/>
        </p:nvSpPr>
        <p:spPr>
          <a:xfrm xmlns:a="http://schemas.openxmlformats.org/drawingml/2006/main">
            <a:off x="685800" y="5610225"/>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42A24"/>
                </a:solidFill>
                <a:latin typeface="Arial"/>
                <a:ea typeface="Arial"/>
                <a:cs typeface="Arial"/>
              </a:defRPr>
            </a:pPr>
            <a:r>
              <a:rPr sz="1800" b="0">
                <a:solidFill>
                  <a:srgbClr val="142A24"/>
                </a:solidFill>
                <a:latin typeface="Arial"/>
                <a:ea typeface="Arial"/>
                <a:cs typeface="Arial"/>
              </a:rPr>
              <a:t>Follow the selected examples today. The pages remain fuller references.</a:t>
            </a:r>
          </a:p>
        </p:txBody>
      </p:sp>
      <p:sp>
        <p:nvSpPr>
          <p:cNvPr id="11" name="Open course page">
            <a:extLst xmlns:a="http://schemas.openxmlformats.org/drawingml/2006/main">
              <a:ext uri="{FF2B5EF4-FFF2-40B4-BE49-F238E27FC236}">
                <a16:creationId xmlns:a16="http://schemas.microsoft.com/office/drawing/2014/main" id="{E12BA78D-64B0-4857-AD41-000B86191A91}"/>
              </a:ext>
            </a:extLst>
          </p:cNvPr>
          <p:cNvSpPr>
            <a:spLocks xmlns:a="http://schemas.openxmlformats.org/drawingml/2006/main" noGrp="1"/>
          </p:cNvSpPr>
          <p:nvPr/>
        </p:nvSpPr>
        <p:spPr>
          <a:xfrm xmlns:a="http://schemas.openxmlformats.org/drawingml/2006/main">
            <a:off x="685800" y="6381750"/>
            <a:ext cx="571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55F46"/>
                </a:solidFill>
                <a:latin typeface="Arial"/>
                <a:ea typeface="Arial"/>
                <a:cs typeface="Arial"/>
              </a:defRPr>
            </a:pPr>
            <a:r>
              <a:rPr sz="1500" b="1">
                <a:solidFill>
                  <a:srgbClr val="155F46"/>
                </a:solidFill>
                <a:latin typeface="Arial"/>
                <a:ea typeface="Arial"/>
                <a:cs typeface="Arial"/>
                <a:hlinkClick xmlns:r="http://schemas.openxmlformats.org/officeDocument/2006/relationships" r:id="R1e3ff9ddd4b94621"/>
              </a:rPr>
              <a:t>Open course page</a:t>
            </a:r>
          </a:p>
        </p:txBody>
      </p:sp>
      <p:sp>
        <p:nvSpPr>
          <p:cNvPr id="12" name="2–4 min · 2 / 23">
            <a:extLst xmlns:a="http://schemas.openxmlformats.org/drawingml/2006/main">
              <a:ext uri="{FF2B5EF4-FFF2-40B4-BE49-F238E27FC236}">
                <a16:creationId xmlns:a16="http://schemas.microsoft.com/office/drawing/2014/main" id="{0341100C-8971-4330-9447-B7589B5FE3F3}"/>
              </a:ext>
            </a:extLst>
          </p:cNvPr>
          <p:cNvSpPr>
            <a:spLocks xmlns:a="http://schemas.openxmlformats.org/drawingml/2006/main" noGrp="1"/>
          </p:cNvSpPr>
          <p:nvPr/>
        </p:nvSpPr>
        <p:spPr>
          <a:xfrm xmlns:a="http://schemas.openxmlformats.org/drawingml/2006/main">
            <a:off x="8191500" y="6381750"/>
            <a:ext cx="3314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66C61"/>
                </a:solidFill>
                <a:latin typeface="Arial"/>
                <a:ea typeface="Arial"/>
                <a:cs typeface="Arial"/>
              </a:defRPr>
            </a:pPr>
            <a:r>
              <a:rPr sz="1500" b="0">
                <a:solidFill>
                  <a:srgbClr val="566C61"/>
                </a:solidFill>
                <a:latin typeface="Arial"/>
                <a:ea typeface="Arial"/>
                <a:cs typeface="Arial"/>
              </a:rPr>
              <a:t>2–4 min · 2 / 23</a:t>
            </a:r>
          </a:p>
        </p:txBody>
      </p:sp>
    </p:spTree>
    <p:extLst>
      <p:ext uri="{BB962C8B-B14F-4D97-AF65-F5344CB8AC3E}">
        <p14:creationId xmlns:p14="http://schemas.microsoft.com/office/powerpoint/2010/main" val="1026401957"/>
      </p:ext>
    </p:extLst>
  </p:cSld>
</p:sld>
</file>

<file path=ppt/slides/slide3.xml><?xml version="1.0" encoding="utf-8"?>
<p:sld xmlns:p="http://schemas.openxmlformats.org/presentationml/2006/main">
  <p:cSld>
    <p:bg>
      <p:bgPr>
        <a:solidFill xmlns:a="http://schemas.openxmlformats.org/drawingml/2006/main">
          <a:srgbClr val="FFFEFB"/>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29043B8-F3B5-482B-B48E-9184D7028B80}"/>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5F46"/>
          </a:solidFill>
          <a:ln xmlns:a="http://schemas.openxmlformats.org/drawingml/2006/main" w="0">
            <a:noFill/>
          </a:ln>
        </p:spPr>
      </p:sp>
      <p:sp>
        <p:nvSpPr>
          <p:cNvPr id="2" name="1 · First steps">
            <a:extLst xmlns:a="http://schemas.openxmlformats.org/drawingml/2006/main">
              <a:ext uri="{FF2B5EF4-FFF2-40B4-BE49-F238E27FC236}">
                <a16:creationId xmlns:a16="http://schemas.microsoft.com/office/drawing/2014/main" id="{857B429D-F586-4BEF-B73B-700522BFC3B7}"/>
              </a:ext>
            </a:extLst>
          </p:cNvPr>
          <p:cNvSpPr>
            <a:spLocks xmlns:a="http://schemas.openxmlformats.org/drawingml/2006/main" noGrp="1"/>
          </p:cNvSpPr>
          <p:nvPr/>
        </p:nvSpPr>
        <p:spPr>
          <a:xfrm xmlns:a="http://schemas.openxmlformats.org/drawingml/2006/main">
            <a:off x="685800" y="323850"/>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1">
                <a:solidFill>
                  <a:srgbClr val="155F46"/>
                </a:solidFill>
                <a:latin typeface="Arial"/>
                <a:ea typeface="Arial"/>
                <a:cs typeface="Arial"/>
              </a:defRPr>
            </a:pPr>
            <a:r>
              <a:rPr sz="1575" b="1">
                <a:solidFill>
                  <a:srgbClr val="155F46"/>
                </a:solidFill>
                <a:latin typeface="Arial"/>
                <a:ea typeface="Arial"/>
                <a:cs typeface="Arial"/>
              </a:rPr>
              <a:t>1 · First steps</a:t>
            </a:r>
          </a:p>
        </p:txBody>
      </p:sp>
      <p:sp>
        <p:nvSpPr>
          <p:cNvPr id="3" name="The same four sensors, now in pandas">
            <a:extLst xmlns:a="http://schemas.openxmlformats.org/drawingml/2006/main">
              <a:ext uri="{FF2B5EF4-FFF2-40B4-BE49-F238E27FC236}">
                <a16:creationId xmlns:a16="http://schemas.microsoft.com/office/drawing/2014/main" id="{7DA91A82-808F-443C-B82F-D371A72212F4}"/>
              </a:ext>
            </a:extLst>
          </p:cNvPr>
          <p:cNvSpPr>
            <a:spLocks xmlns:a="http://schemas.openxmlformats.org/drawingml/2006/main" noGrp="1"/>
          </p:cNvSpPr>
          <p:nvPr/>
        </p:nvSpPr>
        <p:spPr>
          <a:xfrm xmlns:a="http://schemas.openxmlformats.org/drawingml/2006/main">
            <a:off x="685800" y="73342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142A24"/>
                </a:solidFill>
                <a:latin typeface="Arial"/>
                <a:ea typeface="Arial"/>
                <a:cs typeface="Arial"/>
              </a:defRPr>
            </a:pPr>
            <a:r>
              <a:rPr sz="3225" b="1">
                <a:solidFill>
                  <a:srgbClr val="142A24"/>
                </a:solidFill>
                <a:latin typeface="Arial"/>
                <a:ea typeface="Arial"/>
                <a:cs typeface="Arial"/>
              </a:rPr>
              <a:t>The same four sensors, now in pandas</a:t>
            </a:r>
          </a:p>
        </p:txBody>
      </p:sp>
      <p:graphicFrame>
        <p:nvGraphicFramePr>
          <p:cNvPr id="13" name=""/>
          <p:cNvGraphicFramePr/>
          <p:nvPr/>
        </p:nvGraphicFramePr>
        <p:xfrm>
          <a:off xmlns:a="http://schemas.openxmlformats.org/drawingml/2006/main" x="685800" y="1790700"/>
          <a:ext xmlns:a="http://schemas.openxmlformats.org/drawingml/2006/main" cx="5286375" cy="2876550"/>
        </p:xfrm>
        <a:graphic xmlns:a="http://schemas.openxmlformats.org/drawingml/2006/main">
          <a:graphicData uri="http://schemas.openxmlformats.org/drawingml/2006/table">
            <a:tbl>
              <a:tblPr firstRow="1" bandRow="0"/>
              <a:tblGrid>
                <a:gridCol w="1762125"/>
                <a:gridCol w="1762125"/>
                <a:gridCol w="1762125"/>
              </a:tblGrid>
              <a:tr h="575310">
                <a:tc>
                  <a:txBody>
                    <a:bodyPr lIns="133350" tIns="85725" rIns="133350" bIns="85725">
                      <a:noAutofit/>
                    </a:bodyPr>
                    <a:lstStyle/>
                    <a:p>
                      <a:r>
                        <a:rPr sz="2100" b="1">
                          <a:solidFill>
                            <a:srgbClr val="FFFFFF"/>
                          </a:solidFill>
                          <a:latin typeface="Arial"/>
                          <a:ea typeface="Arial"/>
                          <a:cs typeface="Arial"/>
                        </a:rPr>
                        <a:t>sensor</a:t>
                      </a:r>
                    </a:p>
                  </a:txBody>
                  <a:tcPr marL="91440" marR="91440" marT="45720" marB="45720" anchor="ctr">
                    <a:solidFill>
                      <a:srgbClr val="155F46"/>
                    </a:solidFill>
                  </a:tcPr>
                </a:tc>
                <a:tc>
                  <a:txBody>
                    <a:bodyPr lIns="133350" tIns="85725" rIns="133350" bIns="85725">
                      <a:noAutofit/>
                    </a:bodyPr>
                    <a:lstStyle/>
                    <a:p>
                      <a:r>
                        <a:rPr sz="2100" b="1">
                          <a:solidFill>
                            <a:srgbClr val="FFFFFF"/>
                          </a:solidFill>
                          <a:latin typeface="Arial"/>
                          <a:ea typeface="Arial"/>
                          <a:cs typeface="Arial"/>
                        </a:rPr>
                        <a:t>temperature</a:t>
                      </a:r>
                    </a:p>
                  </a:txBody>
                  <a:tcPr marL="91440" marR="91440" marT="45720" marB="45720" anchor="ctr">
                    <a:solidFill>
                      <a:srgbClr val="155F46"/>
                    </a:solidFill>
                  </a:tcPr>
                </a:tc>
                <a:tc>
                  <a:txBody>
                    <a:bodyPr lIns="133350" tIns="85725" rIns="133350" bIns="85725">
                      <a:noAutofit/>
                    </a:bodyPr>
                    <a:lstStyle/>
                    <a:p>
                      <a:r>
                        <a:rPr sz="2100" b="1">
                          <a:solidFill>
                            <a:srgbClr val="FFFFFF"/>
                          </a:solidFill>
                          <a:latin typeface="Arial"/>
                          <a:ea typeface="Arial"/>
                          <a:cs typeface="Arial"/>
                        </a:rPr>
                        <a:t>unit</a:t>
                      </a:r>
                    </a:p>
                  </a:txBody>
                  <a:tcPr marL="91440" marR="91440" marT="45720" marB="45720" anchor="ctr">
                    <a:solidFill>
                      <a:srgbClr val="155F46"/>
                    </a:solidFill>
                  </a:tcPr>
                </a:tc>
              </a:tr>
              <a:tr h="575310">
                <a:tc>
                  <a:txBody>
                    <a:bodyPr lIns="133350" tIns="85725" rIns="133350" bIns="85725">
                      <a:noAutofit/>
                    </a:bodyPr>
                    <a:lstStyle/>
                    <a:p>
                      <a:r>
                        <a:rPr sz="2100" b="0">
                          <a:solidFill>
                            <a:srgbClr val="142A24"/>
                          </a:solidFill>
                          <a:latin typeface="Arial"/>
                          <a:ea typeface="Arial"/>
                          <a:cs typeface="Arial"/>
                        </a:rPr>
                        <a:t>A</a:t>
                      </a:r>
                    </a:p>
                  </a:txBody>
                  <a:tcPr marL="91440" marR="91440" marT="45720" marB="45720" anchor="ctr">
                    <a:solidFill>
                      <a:srgbClr val="FFFEFB"/>
                    </a:solidFill>
                  </a:tcPr>
                </a:tc>
                <a:tc>
                  <a:txBody>
                    <a:bodyPr lIns="133350" tIns="85725" rIns="133350" bIns="85725">
                      <a:noAutofit/>
                    </a:bodyPr>
                    <a:lstStyle/>
                    <a:p>
                      <a:r>
                        <a:rPr sz="2100" b="0">
                          <a:solidFill>
                            <a:srgbClr val="142A24"/>
                          </a:solidFill>
                          <a:latin typeface="Arial"/>
                          <a:ea typeface="Arial"/>
                          <a:cs typeface="Arial"/>
                        </a:rPr>
                        <a:t>22</a:t>
                      </a:r>
                    </a:p>
                  </a:txBody>
                  <a:tcPr marL="91440" marR="91440" marT="45720" marB="45720" anchor="ctr">
                    <a:solidFill>
                      <a:srgbClr val="FFFEFB"/>
                    </a:solidFill>
                  </a:tcPr>
                </a:tc>
                <a:tc>
                  <a:txBody>
                    <a:bodyPr lIns="133350" tIns="85725" rIns="133350" bIns="85725">
                      <a:noAutofit/>
                    </a:bodyPr>
                    <a:lstStyle/>
                    <a:p>
                      <a:r>
                        <a:rPr sz="2100" b="0">
                          <a:solidFill>
                            <a:srgbClr val="142A24"/>
                          </a:solidFill>
                          <a:latin typeface="Arial"/>
                          <a:ea typeface="Arial"/>
                          <a:cs typeface="Arial"/>
                        </a:rPr>
                        <a:t>°C</a:t>
                      </a:r>
                    </a:p>
                  </a:txBody>
                  <a:tcPr marL="91440" marR="91440" marT="45720" marB="45720" anchor="ctr">
                    <a:solidFill>
                      <a:srgbClr val="FFFEFB"/>
                    </a:solidFill>
                  </a:tcPr>
                </a:tc>
              </a:tr>
              <a:tr h="575310">
                <a:tc>
                  <a:txBody>
                    <a:bodyPr lIns="133350" tIns="85725" rIns="133350" bIns="85725">
                      <a:noAutofit/>
                    </a:bodyPr>
                    <a:lstStyle/>
                    <a:p>
                      <a:r>
                        <a:rPr sz="2100" b="0">
                          <a:solidFill>
                            <a:srgbClr val="142A24"/>
                          </a:solidFill>
                          <a:latin typeface="Arial"/>
                          <a:ea typeface="Arial"/>
                          <a:cs typeface="Arial"/>
                        </a:rPr>
                        <a:t>B</a:t>
                      </a:r>
                    </a:p>
                  </a:txBody>
                  <a:tcPr marL="91440" marR="91440" marT="45720" marB="45720" anchor="ctr">
                    <a:solidFill>
                      <a:srgbClr val="F0F4F1"/>
                    </a:solidFill>
                  </a:tcPr>
                </a:tc>
                <a:tc>
                  <a:txBody>
                    <a:bodyPr lIns="133350" tIns="85725" rIns="133350" bIns="85725">
                      <a:noAutofit/>
                    </a:bodyPr>
                    <a:lstStyle/>
                    <a:p>
                      <a:r>
                        <a:rPr sz="2100" b="0">
                          <a:solidFill>
                            <a:srgbClr val="142A24"/>
                          </a:solidFill>
                          <a:latin typeface="Arial"/>
                          <a:ea typeface="Arial"/>
                          <a:cs typeface="Arial"/>
                        </a:rPr>
                        <a:t>71.6</a:t>
                      </a:r>
                    </a:p>
                  </a:txBody>
                  <a:tcPr marL="91440" marR="91440" marT="45720" marB="45720" anchor="ctr">
                    <a:solidFill>
                      <a:srgbClr val="F0F4F1"/>
                    </a:solidFill>
                  </a:tcPr>
                </a:tc>
                <a:tc>
                  <a:txBody>
                    <a:bodyPr lIns="133350" tIns="85725" rIns="133350" bIns="85725">
                      <a:noAutofit/>
                    </a:bodyPr>
                    <a:lstStyle/>
                    <a:p>
                      <a:r>
                        <a:rPr sz="2100" b="0">
                          <a:solidFill>
                            <a:srgbClr val="142A24"/>
                          </a:solidFill>
                          <a:latin typeface="Arial"/>
                          <a:ea typeface="Arial"/>
                          <a:cs typeface="Arial"/>
                        </a:rPr>
                        <a:t>°F</a:t>
                      </a:r>
                    </a:p>
                  </a:txBody>
                  <a:tcPr marL="91440" marR="91440" marT="45720" marB="45720" anchor="ctr">
                    <a:solidFill>
                      <a:srgbClr val="F0F4F1"/>
                    </a:solidFill>
                  </a:tcPr>
                </a:tc>
              </a:tr>
              <a:tr h="575310">
                <a:tc>
                  <a:txBody>
                    <a:bodyPr lIns="133350" tIns="85725" rIns="133350" bIns="85725">
                      <a:noAutofit/>
                    </a:bodyPr>
                    <a:lstStyle/>
                    <a:p>
                      <a:r>
                        <a:rPr sz="2100" b="0">
                          <a:solidFill>
                            <a:srgbClr val="142A24"/>
                          </a:solidFill>
                          <a:latin typeface="Arial"/>
                          <a:ea typeface="Arial"/>
                          <a:cs typeface="Arial"/>
                        </a:rPr>
                        <a:t>C</a:t>
                      </a:r>
                    </a:p>
                  </a:txBody>
                  <a:tcPr marL="91440" marR="91440" marT="45720" marB="45720" anchor="ctr">
                    <a:solidFill>
                      <a:srgbClr val="FFFEFB"/>
                    </a:solidFill>
                  </a:tcPr>
                </a:tc>
                <a:tc>
                  <a:txBody>
                    <a:bodyPr lIns="133350" tIns="85725" rIns="133350" bIns="85725">
                      <a:noAutofit/>
                    </a:bodyPr>
                    <a:lstStyle/>
                    <a:p>
                      <a:r>
                        <a:rPr sz="2100" b="0">
                          <a:solidFill>
                            <a:srgbClr val="142A24"/>
                          </a:solidFill>
                          <a:latin typeface="Arial"/>
                          <a:ea typeface="Arial"/>
                          <a:cs typeface="Arial"/>
                        </a:rPr>
                        <a:t>20</a:t>
                      </a:r>
                    </a:p>
                  </a:txBody>
                  <a:tcPr marL="91440" marR="91440" marT="45720" marB="45720" anchor="ctr">
                    <a:solidFill>
                      <a:srgbClr val="FFFEFB"/>
                    </a:solidFill>
                  </a:tcPr>
                </a:tc>
                <a:tc>
                  <a:txBody>
                    <a:bodyPr lIns="133350" tIns="85725" rIns="133350" bIns="85725">
                      <a:noAutofit/>
                    </a:bodyPr>
                    <a:lstStyle/>
                    <a:p>
                      <a:r>
                        <a:rPr sz="2100" b="0">
                          <a:solidFill>
                            <a:srgbClr val="142A24"/>
                          </a:solidFill>
                          <a:latin typeface="Arial"/>
                          <a:ea typeface="Arial"/>
                          <a:cs typeface="Arial"/>
                        </a:rPr>
                        <a:t>°C</a:t>
                      </a:r>
                    </a:p>
                  </a:txBody>
                  <a:tcPr marL="91440" marR="91440" marT="45720" marB="45720" anchor="ctr">
                    <a:solidFill>
                      <a:srgbClr val="FFFEFB"/>
                    </a:solidFill>
                  </a:tcPr>
                </a:tc>
              </a:tr>
              <a:tr h="575310">
                <a:tc>
                  <a:txBody>
                    <a:bodyPr lIns="133350" tIns="85725" rIns="133350" bIns="85725">
                      <a:noAutofit/>
                    </a:bodyPr>
                    <a:lstStyle/>
                    <a:p>
                      <a:r>
                        <a:rPr sz="2100" b="0">
                          <a:solidFill>
                            <a:srgbClr val="142A24"/>
                          </a:solidFill>
                          <a:latin typeface="Arial"/>
                          <a:ea typeface="Arial"/>
                          <a:cs typeface="Arial"/>
                        </a:rPr>
                        <a:t>D</a:t>
                      </a:r>
                    </a:p>
                  </a:txBody>
                  <a:tcPr marL="91440" marR="91440" marT="45720" marB="45720" anchor="ctr">
                    <a:solidFill>
                      <a:srgbClr val="F0F4F1"/>
                    </a:solidFill>
                  </a:tcPr>
                </a:tc>
                <a:tc>
                  <a:txBody>
                    <a:bodyPr lIns="133350" tIns="85725" rIns="133350" bIns="85725">
                      <a:noAutofit/>
                    </a:bodyPr>
                    <a:lstStyle/>
                    <a:p>
                      <a:r>
                        <a:rPr sz="2100" b="0">
                          <a:solidFill>
                            <a:srgbClr val="142A24"/>
                          </a:solidFill>
                          <a:latin typeface="Arial"/>
                          <a:ea typeface="Arial"/>
                          <a:cs typeface="Arial"/>
                        </a:rPr>
                        <a:t>missing</a:t>
                      </a:r>
                    </a:p>
                  </a:txBody>
                  <a:tcPr marL="91440" marR="91440" marT="45720" marB="45720" anchor="ctr">
                    <a:solidFill>
                      <a:srgbClr val="F0F4F1"/>
                    </a:solidFill>
                  </a:tcPr>
                </a:tc>
                <a:tc>
                  <a:txBody>
                    <a:bodyPr lIns="133350" tIns="85725" rIns="133350" bIns="85725">
                      <a:noAutofit/>
                    </a:bodyPr>
                    <a:lstStyle/>
                    <a:p>
                      <a:r>
                        <a:rPr sz="2100" b="0">
                          <a:solidFill>
                            <a:srgbClr val="142A24"/>
                          </a:solidFill>
                          <a:latin typeface="Arial"/>
                          <a:ea typeface="Arial"/>
                          <a:cs typeface="Arial"/>
                        </a:rPr>
                        <a:t>°C</a:t>
                      </a:r>
                    </a:p>
                  </a:txBody>
                  <a:tcPr marL="91440" marR="91440" marT="45720" marB="45720" anchor="ctr">
                    <a:solidFill>
                      <a:srgbClr val="F0F4F1"/>
                    </a:solidFill>
                  </a:tcPr>
                </a:tc>
              </a:tr>
            </a:tbl>
          </a:graphicData>
        </a:graphic>
      </p:graphicFrame>
      <p:sp>
        <p:nvSpPr>
          <p:cNvPr id="5" name="DataFrame: a table with named columns.&#10;Series: one labelled ">
            <a:extLst xmlns:a="http://schemas.openxmlformats.org/drawingml/2006/main">
              <a:ext uri="{FF2B5EF4-FFF2-40B4-BE49-F238E27FC236}">
                <a16:creationId xmlns:a16="http://schemas.microsoft.com/office/drawing/2014/main" id="{F73AC4BD-485E-4C12-940D-A69F87A292B3}"/>
              </a:ext>
            </a:extLst>
          </p:cNvPr>
          <p:cNvSpPr>
            <a:spLocks xmlns:a="http://schemas.openxmlformats.org/drawingml/2006/main" noGrp="1"/>
          </p:cNvSpPr>
          <p:nvPr/>
        </p:nvSpPr>
        <p:spPr>
          <a:xfrm xmlns:a="http://schemas.openxmlformats.org/drawingml/2006/main">
            <a:off x="6381750" y="1847850"/>
            <a:ext cx="5143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42A24"/>
                </a:solidFill>
                <a:latin typeface="Arial"/>
                <a:ea typeface="Arial"/>
                <a:cs typeface="Arial"/>
              </a:defRPr>
            </a:pPr>
            <a:r>
              <a:rPr sz="2250" b="0">
                <a:solidFill>
                  <a:srgbClr val="142A24"/>
                </a:solidFill>
                <a:latin typeface="Arial"/>
                <a:ea typeface="Arial"/>
                <a:cs typeface="Arial"/>
              </a:rPr>
              <a:t>DataFrame: a table with named columns.</a:t>
            </a:r>
          </a:p>
          <a:p xmlns:a="http://schemas.openxmlformats.org/drawingml/2006/main">
            <a:pPr>
              <a:defRPr sz="2250" b="0">
                <a:solidFill>
                  <a:srgbClr val="142A24"/>
                </a:solidFill>
                <a:latin typeface="Arial"/>
                <a:ea typeface="Arial"/>
                <a:cs typeface="Arial"/>
              </a:defRPr>
            </a:pPr>
            <a:r>
              <a:rPr sz="2250" b="0">
                <a:solidFill>
                  <a:srgbClr val="142A24"/>
                </a:solidFill>
                <a:latin typeface="Arial"/>
                <a:ea typeface="Arial"/>
                <a:cs typeface="Arial"/>
              </a:rPr>
              <a:t>Series: one labelled column.</a:t>
            </a:r>
          </a:p>
        </p:txBody>
      </p:sp>
      <p:sp>
        <p:nvSpPr>
          <p:cNvPr id="6" name="One row = one sensor reading.&#10;The row index is not the senso">
            <a:extLst xmlns:a="http://schemas.openxmlformats.org/drawingml/2006/main">
              <a:ext uri="{FF2B5EF4-FFF2-40B4-BE49-F238E27FC236}">
                <a16:creationId xmlns:a16="http://schemas.microsoft.com/office/drawing/2014/main" id="{45A34F39-ED24-489E-BC5E-CD856A985E17}"/>
              </a:ext>
            </a:extLst>
          </p:cNvPr>
          <p:cNvSpPr>
            <a:spLocks xmlns:a="http://schemas.openxmlformats.org/drawingml/2006/main" noGrp="1"/>
          </p:cNvSpPr>
          <p:nvPr/>
        </p:nvSpPr>
        <p:spPr>
          <a:xfrm xmlns:a="http://schemas.openxmlformats.org/drawingml/2006/main">
            <a:off x="6381750" y="3171825"/>
            <a:ext cx="5143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42A24"/>
                </a:solidFill>
                <a:latin typeface="Arial"/>
                <a:ea typeface="Arial"/>
                <a:cs typeface="Arial"/>
              </a:defRPr>
            </a:pPr>
            <a:r>
              <a:rPr sz="2250" b="0">
                <a:solidFill>
                  <a:srgbClr val="142A24"/>
                </a:solidFill>
                <a:latin typeface="Arial"/>
                <a:ea typeface="Arial"/>
                <a:cs typeface="Arial"/>
              </a:rPr>
              <a:t>One row = one sensor reading.</a:t>
            </a:r>
          </a:p>
          <a:p xmlns:a="http://schemas.openxmlformats.org/drawingml/2006/main">
            <a:pPr>
              <a:defRPr sz="2250" b="0">
                <a:solidFill>
                  <a:srgbClr val="142A24"/>
                </a:solidFill>
                <a:latin typeface="Arial"/>
                <a:ea typeface="Arial"/>
                <a:cs typeface="Arial"/>
              </a:defRPr>
            </a:pPr>
            <a:r>
              <a:rPr sz="2250" b="0">
                <a:solidFill>
                  <a:srgbClr val="142A24"/>
                </a:solidFill>
                <a:latin typeface="Arial"/>
                <a:ea typeface="Arial"/>
                <a:cs typeface="Arial"/>
              </a:rPr>
              <a:t>The row index is not the sensor ID.</a:t>
            </a:r>
          </a:p>
        </p:txBody>
      </p:sp>
      <p:sp>
        <p:nvSpPr>
          <p:cNvPr id="7" name="Code example">
            <a:extLst xmlns:a="http://schemas.openxmlformats.org/drawingml/2006/main">
              <a:ext uri="{FF2B5EF4-FFF2-40B4-BE49-F238E27FC236}">
                <a16:creationId xmlns:a16="http://schemas.microsoft.com/office/drawing/2014/main" id="{EA335356-22B1-4661-953C-318F7804FB1F}"/>
              </a:ext>
            </a:extLst>
          </p:cNvPr>
          <p:cNvSpPr>
            <a:spLocks xmlns:a="http://schemas.openxmlformats.org/drawingml/2006/main" noGrp="1"/>
          </p:cNvSpPr>
          <p:nvPr/>
        </p:nvSpPr>
        <p:spPr>
          <a:xfrm xmlns:a="http://schemas.openxmlformats.org/drawingml/2006/main">
            <a:off x="685800" y="4981575"/>
            <a:ext cx="10820400" cy="914400"/>
          </a:xfrm>
          <a:prstGeom xmlns:a="http://schemas.openxmlformats.org/drawingml/2006/main" prst="rect">
            <a:avLst/>
          </a:prstGeom>
          <a:solidFill xmlns:a="http://schemas.openxmlformats.org/drawingml/2006/main">
            <a:srgbClr val="F0F4F1"/>
          </a:solidFill>
          <a:ln xmlns:a="http://schemas.openxmlformats.org/drawingml/2006/main" w="0">
            <a:noFill/>
          </a:ln>
        </p:spPr>
        <p:txBody>
          <a:bodyPr xmlns:a="http://schemas.openxmlformats.org/drawingml/2006/main" wrap="none" lIns="152400" tIns="133350" rIns="152400" bIns="133350" anchor="t">
            <a:noAutofit/>
          </a:bodyPr>
          <a:lstStyle xmlns:a="http://schemas.openxmlformats.org/drawingml/2006/main"/>
          <a:p xmlns:a="http://schemas.openxmlformats.org/drawingml/2006/main">
            <a:pPr>
              <a:defRPr sz="2025" b="0">
                <a:solidFill>
                  <a:srgbClr val="142A24"/>
                </a:solidFill>
                <a:latin typeface="Menlo"/>
                <a:ea typeface="Menlo"/>
                <a:cs typeface="Menlo"/>
              </a:defRPr>
            </a:pPr>
            <a:r>
              <a:rPr sz="2025" b="0">
                <a:solidFill>
                  <a:srgbClr val="142A24"/>
                </a:solidFill>
                <a:latin typeface="Menlo"/>
                <a:ea typeface="Menlo"/>
                <a:cs typeface="Menlo"/>
              </a:rPr>
              <a:t>import pandas as pd</a:t>
            </a:r>
          </a:p>
          <a:p xmlns:a="http://schemas.openxmlformats.org/drawingml/2006/main">
            <a:pPr>
              <a:defRPr sz="2025" b="0">
                <a:solidFill>
                  <a:srgbClr val="142A24"/>
                </a:solidFill>
                <a:latin typeface="Menlo"/>
                <a:ea typeface="Menlo"/>
                <a:cs typeface="Menlo"/>
              </a:defRPr>
            </a:pPr>
            <a:r>
              <a:rPr sz="2025" b="0">
                <a:solidFill>
                  <a:srgbClr val="142A24"/>
                </a:solidFill>
                <a:latin typeface="Menlo"/>
                <a:ea typeface="Menlo"/>
                <a:cs typeface="Menlo"/>
              </a:rPr>
              <a:t>measurements = pd.read_csv(StringIO(csv_text))</a:t>
            </a:r>
          </a:p>
        </p:txBody>
      </p:sp>
      <p:sp>
        <p:nvSpPr>
          <p:cNvPr id="8" name="Open course page">
            <a:extLst xmlns:a="http://schemas.openxmlformats.org/drawingml/2006/main">
              <a:ext uri="{FF2B5EF4-FFF2-40B4-BE49-F238E27FC236}">
                <a16:creationId xmlns:a16="http://schemas.microsoft.com/office/drawing/2014/main" id="{23A94A5B-E3DA-4748-80EB-1142D848179B}"/>
              </a:ext>
            </a:extLst>
          </p:cNvPr>
          <p:cNvSpPr>
            <a:spLocks xmlns:a="http://schemas.openxmlformats.org/drawingml/2006/main" noGrp="1"/>
          </p:cNvSpPr>
          <p:nvPr/>
        </p:nvSpPr>
        <p:spPr>
          <a:xfrm xmlns:a="http://schemas.openxmlformats.org/drawingml/2006/main">
            <a:off x="685800" y="6381750"/>
            <a:ext cx="571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55F46"/>
                </a:solidFill>
                <a:latin typeface="Arial"/>
                <a:ea typeface="Arial"/>
                <a:cs typeface="Arial"/>
              </a:defRPr>
            </a:pPr>
            <a:r>
              <a:rPr sz="1500" b="1">
                <a:solidFill>
                  <a:srgbClr val="155F46"/>
                </a:solidFill>
                <a:latin typeface="Arial"/>
                <a:ea typeface="Arial"/>
                <a:cs typeface="Arial"/>
                <a:hlinkClick xmlns:r="http://schemas.openxmlformats.org/officeDocument/2006/relationships" r:id="Rc68dcb28b73c4d1d"/>
              </a:rPr>
              <a:t>Open course page</a:t>
            </a:r>
          </a:p>
        </p:txBody>
      </p:sp>
      <p:sp>
        <p:nvSpPr>
          <p:cNvPr id="9" name="4–9 min · 3 / 23">
            <a:extLst xmlns:a="http://schemas.openxmlformats.org/drawingml/2006/main">
              <a:ext uri="{FF2B5EF4-FFF2-40B4-BE49-F238E27FC236}">
                <a16:creationId xmlns:a16="http://schemas.microsoft.com/office/drawing/2014/main" id="{46BACDD1-4DAC-4100-B3AA-57B246509D42}"/>
              </a:ext>
            </a:extLst>
          </p:cNvPr>
          <p:cNvSpPr>
            <a:spLocks xmlns:a="http://schemas.openxmlformats.org/drawingml/2006/main" noGrp="1"/>
          </p:cNvSpPr>
          <p:nvPr/>
        </p:nvSpPr>
        <p:spPr>
          <a:xfrm xmlns:a="http://schemas.openxmlformats.org/drawingml/2006/main">
            <a:off x="8191500" y="6381750"/>
            <a:ext cx="3314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66C61"/>
                </a:solidFill>
                <a:latin typeface="Arial"/>
                <a:ea typeface="Arial"/>
                <a:cs typeface="Arial"/>
              </a:defRPr>
            </a:pPr>
            <a:r>
              <a:rPr sz="1500" b="0">
                <a:solidFill>
                  <a:srgbClr val="566C61"/>
                </a:solidFill>
                <a:latin typeface="Arial"/>
                <a:ea typeface="Arial"/>
                <a:cs typeface="Arial"/>
              </a:rPr>
              <a:t>4–9 min · 3 / 23</a:t>
            </a:r>
          </a:p>
        </p:txBody>
      </p:sp>
    </p:spTree>
    <p:extLst>
      <p:ext uri="{BB962C8B-B14F-4D97-AF65-F5344CB8AC3E}">
        <p14:creationId xmlns:p14="http://schemas.microsoft.com/office/powerpoint/2010/main" val="128066151"/>
      </p:ext>
    </p:extLst>
  </p:cSld>
</p:sld>
</file>

<file path=ppt/slides/slide4.xml><?xml version="1.0" encoding="utf-8"?>
<p:sld xmlns:p="http://schemas.openxmlformats.org/presentationml/2006/main">
  <p:cSld>
    <p:bg>
      <p:bgPr>
        <a:solidFill xmlns:a="http://schemas.openxmlformats.org/drawingml/2006/main">
          <a:srgbClr val="FFFEFB"/>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2004FA2-A060-4772-8CE2-12FD7B04F927}"/>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5F46"/>
          </a:solidFill>
          <a:ln xmlns:a="http://schemas.openxmlformats.org/drawingml/2006/main" w="0">
            <a:noFill/>
          </a:ln>
        </p:spPr>
      </p:sp>
      <p:sp>
        <p:nvSpPr>
          <p:cNvPr id="2" name="1 · First steps">
            <a:extLst xmlns:a="http://schemas.openxmlformats.org/drawingml/2006/main">
              <a:ext uri="{FF2B5EF4-FFF2-40B4-BE49-F238E27FC236}">
                <a16:creationId xmlns:a16="http://schemas.microsoft.com/office/drawing/2014/main" id="{8CA49E69-762B-4DDD-9333-70E6B0DF2EAC}"/>
              </a:ext>
            </a:extLst>
          </p:cNvPr>
          <p:cNvSpPr>
            <a:spLocks xmlns:a="http://schemas.openxmlformats.org/drawingml/2006/main" noGrp="1"/>
          </p:cNvSpPr>
          <p:nvPr/>
        </p:nvSpPr>
        <p:spPr>
          <a:xfrm xmlns:a="http://schemas.openxmlformats.org/drawingml/2006/main">
            <a:off x="685800" y="323850"/>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1">
                <a:solidFill>
                  <a:srgbClr val="155F46"/>
                </a:solidFill>
                <a:latin typeface="Arial"/>
                <a:ea typeface="Arial"/>
                <a:cs typeface="Arial"/>
              </a:defRPr>
            </a:pPr>
            <a:r>
              <a:rPr sz="1575" b="1">
                <a:solidFill>
                  <a:srgbClr val="155F46"/>
                </a:solidFill>
                <a:latin typeface="Arial"/>
                <a:ea typeface="Arial"/>
                <a:cs typeface="Arial"/>
              </a:rPr>
              <a:t>1 · First steps</a:t>
            </a:r>
          </a:p>
        </p:txBody>
      </p:sp>
      <p:sp>
        <p:nvSpPr>
          <p:cNvPr id="3" name="Select columns and rows by name">
            <a:extLst xmlns:a="http://schemas.openxmlformats.org/drawingml/2006/main">
              <a:ext uri="{FF2B5EF4-FFF2-40B4-BE49-F238E27FC236}">
                <a16:creationId xmlns:a16="http://schemas.microsoft.com/office/drawing/2014/main" id="{0B40EC2C-0A6E-427E-9B68-FFDC76040134}"/>
              </a:ext>
            </a:extLst>
          </p:cNvPr>
          <p:cNvSpPr>
            <a:spLocks xmlns:a="http://schemas.openxmlformats.org/drawingml/2006/main" noGrp="1"/>
          </p:cNvSpPr>
          <p:nvPr/>
        </p:nvSpPr>
        <p:spPr>
          <a:xfrm xmlns:a="http://schemas.openxmlformats.org/drawingml/2006/main">
            <a:off x="685800" y="73342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142A24"/>
                </a:solidFill>
                <a:latin typeface="Arial"/>
                <a:ea typeface="Arial"/>
                <a:cs typeface="Arial"/>
              </a:defRPr>
            </a:pPr>
            <a:r>
              <a:rPr sz="3225" b="1">
                <a:solidFill>
                  <a:srgbClr val="142A24"/>
                </a:solidFill>
                <a:latin typeface="Arial"/>
                <a:ea typeface="Arial"/>
                <a:cs typeface="Arial"/>
              </a:rPr>
              <a:t>Select columns and rows by name</a:t>
            </a:r>
          </a:p>
        </p:txBody>
      </p:sp>
      <p:sp>
        <p:nvSpPr>
          <p:cNvPr id="4" name="Code example">
            <a:extLst xmlns:a="http://schemas.openxmlformats.org/drawingml/2006/main">
              <a:ext uri="{FF2B5EF4-FFF2-40B4-BE49-F238E27FC236}">
                <a16:creationId xmlns:a16="http://schemas.microsoft.com/office/drawing/2014/main" id="{144A81CC-CFA5-4F9C-AA29-5A01405024CF}"/>
              </a:ext>
            </a:extLst>
          </p:cNvPr>
          <p:cNvSpPr>
            <a:spLocks xmlns:a="http://schemas.openxmlformats.org/drawingml/2006/main" noGrp="1"/>
          </p:cNvSpPr>
          <p:nvPr/>
        </p:nvSpPr>
        <p:spPr>
          <a:xfrm xmlns:a="http://schemas.openxmlformats.org/drawingml/2006/main">
            <a:off x="685800" y="1790700"/>
            <a:ext cx="10820400" cy="1790700"/>
          </a:xfrm>
          <a:prstGeom xmlns:a="http://schemas.openxmlformats.org/drawingml/2006/main" prst="rect">
            <a:avLst/>
          </a:prstGeom>
          <a:solidFill xmlns:a="http://schemas.openxmlformats.org/drawingml/2006/main">
            <a:srgbClr val="F0F4F1"/>
          </a:solidFill>
          <a:ln xmlns:a="http://schemas.openxmlformats.org/drawingml/2006/main" w="0">
            <a:noFill/>
          </a:ln>
        </p:spPr>
        <p:txBody>
          <a:bodyPr xmlns:a="http://schemas.openxmlformats.org/drawingml/2006/main" wrap="none" lIns="152400" tIns="133350" rIns="152400" bIns="133350" anchor="t">
            <a:noAutofit/>
          </a:bodyPr>
          <a:lstStyle xmlns:a="http://schemas.openxmlformats.org/drawingml/2006/main"/>
          <a:p xmlns:a="http://schemas.openxmlformats.org/drawingml/2006/main">
            <a:pPr>
              <a:defRPr sz="2025" b="0">
                <a:solidFill>
                  <a:srgbClr val="142A24"/>
                </a:solidFill>
                <a:latin typeface="Menlo"/>
                <a:ea typeface="Menlo"/>
                <a:cs typeface="Menlo"/>
              </a:defRPr>
            </a:pPr>
            <a:r>
              <a:rPr sz="2025" b="0">
                <a:solidFill>
                  <a:srgbClr val="142A24"/>
                </a:solidFill>
                <a:latin typeface="Menlo"/>
                <a:ea typeface="Menlo"/>
                <a:cs typeface="Menlo"/>
              </a:rPr>
              <a:t>measurements["temperature"]</a:t>
            </a:r>
          </a:p>
          <a:p xmlns:a="http://schemas.openxmlformats.org/drawingml/2006/main">
            <a:r>
              <a:t/>
            </a:r>
          </a:p>
          <a:p xmlns:a="http://schemas.openxmlformats.org/drawingml/2006/main">
            <a:pPr>
              <a:defRPr sz="2025" b="0">
                <a:solidFill>
                  <a:srgbClr val="142A24"/>
                </a:solidFill>
                <a:latin typeface="Menlo"/>
                <a:ea typeface="Menlo"/>
                <a:cs typeface="Menlo"/>
              </a:defRPr>
            </a:pPr>
            <a:r>
              <a:rPr sz="2025" b="0">
                <a:solidFill>
                  <a:srgbClr val="142A24"/>
                </a:solidFill>
                <a:latin typeface="Menlo"/>
                <a:ea typeface="Menlo"/>
                <a:cs typeface="Menlo"/>
              </a:rPr>
              <a:t>mask = measurements["sensor"] == "B"</a:t>
            </a:r>
          </a:p>
          <a:p xmlns:a="http://schemas.openxmlformats.org/drawingml/2006/main">
            <a:pPr>
              <a:defRPr sz="2025" b="0">
                <a:solidFill>
                  <a:srgbClr val="142A24"/>
                </a:solidFill>
                <a:latin typeface="Menlo"/>
                <a:ea typeface="Menlo"/>
                <a:cs typeface="Menlo"/>
              </a:defRPr>
            </a:pPr>
            <a:r>
              <a:rPr sz="2025" b="0">
                <a:solidFill>
                  <a:srgbClr val="142A24"/>
                </a:solidFill>
                <a:latin typeface="Menlo"/>
                <a:ea typeface="Menlo"/>
                <a:cs typeface="Menlo"/>
              </a:rPr>
              <a:t>measurements.loc[mask, ["sensor", "temperature", "unit"]]</a:t>
            </a:r>
          </a:p>
        </p:txBody>
      </p:sp>
      <p:sp>
        <p:nvSpPr>
          <p:cNvPr id="5" name="The mask contains one Boolean per row: False, True, False, F">
            <a:extLst xmlns:a="http://schemas.openxmlformats.org/drawingml/2006/main">
              <a:ext uri="{FF2B5EF4-FFF2-40B4-BE49-F238E27FC236}">
                <a16:creationId xmlns:a16="http://schemas.microsoft.com/office/drawing/2014/main" id="{2A94CC44-5E30-45B1-A556-A06CEF56EFC6}"/>
              </a:ext>
            </a:extLst>
          </p:cNvPr>
          <p:cNvSpPr>
            <a:spLocks xmlns:a="http://schemas.openxmlformats.org/drawingml/2006/main" noGrp="1"/>
          </p:cNvSpPr>
          <p:nvPr/>
        </p:nvSpPr>
        <p:spPr>
          <a:xfrm xmlns:a="http://schemas.openxmlformats.org/drawingml/2006/main">
            <a:off x="685800" y="3952875"/>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42A24"/>
                </a:solidFill>
                <a:latin typeface="Arial"/>
                <a:ea typeface="Arial"/>
                <a:cs typeface="Arial"/>
              </a:defRPr>
            </a:pPr>
            <a:r>
              <a:rPr sz="2175" b="0">
                <a:solidFill>
                  <a:srgbClr val="142A24"/>
                </a:solidFill>
                <a:latin typeface="Arial"/>
                <a:ea typeface="Arial"/>
                <a:cs typeface="Arial"/>
              </a:rPr>
              <a:t>The mask contains one Boolean per row: False, True, False, False.</a:t>
            </a:r>
          </a:p>
        </p:txBody>
      </p:sp>
      <p:sp>
        <p:nvSpPr>
          <p:cNvPr id="6" name=".loc[row selection, column selection]">
            <a:extLst xmlns:a="http://schemas.openxmlformats.org/drawingml/2006/main">
              <a:ext uri="{FF2B5EF4-FFF2-40B4-BE49-F238E27FC236}">
                <a16:creationId xmlns:a16="http://schemas.microsoft.com/office/drawing/2014/main" id="{56F79575-171E-4351-B724-439FF971F7FA}"/>
              </a:ext>
            </a:extLst>
          </p:cNvPr>
          <p:cNvSpPr>
            <a:spLocks xmlns:a="http://schemas.openxmlformats.org/drawingml/2006/main" noGrp="1"/>
          </p:cNvSpPr>
          <p:nvPr/>
        </p:nvSpPr>
        <p:spPr>
          <a:xfrm xmlns:a="http://schemas.openxmlformats.org/drawingml/2006/main">
            <a:off x="685800" y="4733925"/>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155F46"/>
                </a:solidFill>
                <a:latin typeface="Arial"/>
                <a:ea typeface="Arial"/>
                <a:cs typeface="Arial"/>
              </a:defRPr>
            </a:pPr>
            <a:r>
              <a:rPr sz="2550" b="1">
                <a:solidFill>
                  <a:srgbClr val="155F46"/>
                </a:solidFill>
                <a:latin typeface="Arial"/>
                <a:ea typeface="Arial"/>
                <a:cs typeface="Arial"/>
              </a:rPr>
              <a:t>.loc[row selection, column selection]</a:t>
            </a:r>
          </a:p>
        </p:txBody>
      </p:sp>
      <p:sp>
        <p:nvSpPr>
          <p:cNvPr id="7" name="Try: select the rows whose unit is °C. How many rows should ">
            <a:extLst xmlns:a="http://schemas.openxmlformats.org/drawingml/2006/main">
              <a:ext uri="{FF2B5EF4-FFF2-40B4-BE49-F238E27FC236}">
                <a16:creationId xmlns:a16="http://schemas.microsoft.com/office/drawing/2014/main" id="{8BB449AC-4600-4A45-B05A-AB2C361C04A6}"/>
              </a:ext>
            </a:extLst>
          </p:cNvPr>
          <p:cNvSpPr>
            <a:spLocks xmlns:a="http://schemas.openxmlformats.org/drawingml/2006/main" noGrp="1"/>
          </p:cNvSpPr>
          <p:nvPr/>
        </p:nvSpPr>
        <p:spPr>
          <a:xfrm xmlns:a="http://schemas.openxmlformats.org/drawingml/2006/main">
            <a:off x="685800" y="556260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42A24"/>
                </a:solidFill>
                <a:latin typeface="Arial"/>
                <a:ea typeface="Arial"/>
                <a:cs typeface="Arial"/>
              </a:defRPr>
            </a:pPr>
            <a:r>
              <a:rPr sz="1950" b="0">
                <a:solidFill>
                  <a:srgbClr val="142A24"/>
                </a:solidFill>
                <a:latin typeface="Arial"/>
                <a:ea typeface="Arial"/>
                <a:cs typeface="Arial"/>
              </a:rPr>
              <a:t>Try: select the rows whose unit is °C. How many rows should remain?</a:t>
            </a:r>
          </a:p>
        </p:txBody>
      </p:sp>
      <p:sp>
        <p:nvSpPr>
          <p:cNvPr id="8" name="Open course page">
            <a:extLst xmlns:a="http://schemas.openxmlformats.org/drawingml/2006/main">
              <a:ext uri="{FF2B5EF4-FFF2-40B4-BE49-F238E27FC236}">
                <a16:creationId xmlns:a16="http://schemas.microsoft.com/office/drawing/2014/main" id="{E06DD2FE-4DE2-4F95-836D-4D76C8E2A03C}"/>
              </a:ext>
            </a:extLst>
          </p:cNvPr>
          <p:cNvSpPr>
            <a:spLocks xmlns:a="http://schemas.openxmlformats.org/drawingml/2006/main" noGrp="1"/>
          </p:cNvSpPr>
          <p:nvPr/>
        </p:nvSpPr>
        <p:spPr>
          <a:xfrm xmlns:a="http://schemas.openxmlformats.org/drawingml/2006/main">
            <a:off x="685800" y="6381750"/>
            <a:ext cx="571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55F46"/>
                </a:solidFill>
                <a:latin typeface="Arial"/>
                <a:ea typeface="Arial"/>
                <a:cs typeface="Arial"/>
              </a:defRPr>
            </a:pPr>
            <a:r>
              <a:rPr sz="1500" b="1">
                <a:solidFill>
                  <a:srgbClr val="155F46"/>
                </a:solidFill>
                <a:latin typeface="Arial"/>
                <a:ea typeface="Arial"/>
                <a:cs typeface="Arial"/>
                <a:hlinkClick xmlns:r="http://schemas.openxmlformats.org/officeDocument/2006/relationships" r:id="R4636600287b841ff"/>
              </a:rPr>
              <a:t>Open course page</a:t>
            </a:r>
          </a:p>
        </p:txBody>
      </p:sp>
      <p:sp>
        <p:nvSpPr>
          <p:cNvPr id="9" name="9–14 min · 4 / 23">
            <a:extLst xmlns:a="http://schemas.openxmlformats.org/drawingml/2006/main">
              <a:ext uri="{FF2B5EF4-FFF2-40B4-BE49-F238E27FC236}">
                <a16:creationId xmlns:a16="http://schemas.microsoft.com/office/drawing/2014/main" id="{71675702-63AD-420E-9DC1-9D2911BD35FE}"/>
              </a:ext>
            </a:extLst>
          </p:cNvPr>
          <p:cNvSpPr>
            <a:spLocks xmlns:a="http://schemas.openxmlformats.org/drawingml/2006/main" noGrp="1"/>
          </p:cNvSpPr>
          <p:nvPr/>
        </p:nvSpPr>
        <p:spPr>
          <a:xfrm xmlns:a="http://schemas.openxmlformats.org/drawingml/2006/main">
            <a:off x="8191500" y="6381750"/>
            <a:ext cx="3314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66C61"/>
                </a:solidFill>
                <a:latin typeface="Arial"/>
                <a:ea typeface="Arial"/>
                <a:cs typeface="Arial"/>
              </a:defRPr>
            </a:pPr>
            <a:r>
              <a:rPr sz="1500" b="0">
                <a:solidFill>
                  <a:srgbClr val="566C61"/>
                </a:solidFill>
                <a:latin typeface="Arial"/>
                <a:ea typeface="Arial"/>
                <a:cs typeface="Arial"/>
              </a:rPr>
              <a:t>9–14 min · 4 / 23</a:t>
            </a:r>
          </a:p>
        </p:txBody>
      </p:sp>
    </p:spTree>
    <p:extLst>
      <p:ext uri="{BB962C8B-B14F-4D97-AF65-F5344CB8AC3E}">
        <p14:creationId xmlns:p14="http://schemas.microsoft.com/office/powerpoint/2010/main" val="1087886068"/>
      </p:ext>
    </p:extLst>
  </p:cSld>
</p:sld>
</file>

<file path=ppt/slides/slide5.xml><?xml version="1.0" encoding="utf-8"?>
<p:sld xmlns:p="http://schemas.openxmlformats.org/presentationml/2006/main">
  <p:cSld>
    <p:bg>
      <p:bgPr>
        <a:solidFill xmlns:a="http://schemas.openxmlformats.org/drawingml/2006/main">
          <a:srgbClr val="FFFEF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C113EFE-FC6A-42D0-A3A0-D7669CCE42EB}"/>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5F46"/>
          </a:solidFill>
          <a:ln xmlns:a="http://schemas.openxmlformats.org/drawingml/2006/main" w="0">
            <a:noFill/>
          </a:ln>
        </p:spPr>
      </p:sp>
      <p:sp>
        <p:nvSpPr>
          <p:cNvPr id="2" name="1 · First steps">
            <a:extLst xmlns:a="http://schemas.openxmlformats.org/drawingml/2006/main">
              <a:ext uri="{FF2B5EF4-FFF2-40B4-BE49-F238E27FC236}">
                <a16:creationId xmlns:a16="http://schemas.microsoft.com/office/drawing/2014/main" id="{4BFB5442-C15E-44D7-9EEA-F0ED7A3671DE}"/>
              </a:ext>
            </a:extLst>
          </p:cNvPr>
          <p:cNvSpPr>
            <a:spLocks xmlns:a="http://schemas.openxmlformats.org/drawingml/2006/main" noGrp="1"/>
          </p:cNvSpPr>
          <p:nvPr/>
        </p:nvSpPr>
        <p:spPr>
          <a:xfrm xmlns:a="http://schemas.openxmlformats.org/drawingml/2006/main">
            <a:off x="685800" y="323850"/>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1">
                <a:solidFill>
                  <a:srgbClr val="155F46"/>
                </a:solidFill>
                <a:latin typeface="Arial"/>
                <a:ea typeface="Arial"/>
                <a:cs typeface="Arial"/>
              </a:defRPr>
            </a:pPr>
            <a:r>
              <a:rPr sz="1575" b="1">
                <a:solidFill>
                  <a:srgbClr val="155F46"/>
                </a:solidFill>
                <a:latin typeface="Arial"/>
                <a:ea typeface="Arial"/>
                <a:cs typeface="Arial"/>
              </a:rPr>
              <a:t>1 · First steps</a:t>
            </a:r>
          </a:p>
        </p:txBody>
      </p:sp>
      <p:sp>
        <p:nvSpPr>
          <p:cNvPr id="3" name="A missing value is not zero">
            <a:extLst xmlns:a="http://schemas.openxmlformats.org/drawingml/2006/main">
              <a:ext uri="{FF2B5EF4-FFF2-40B4-BE49-F238E27FC236}">
                <a16:creationId xmlns:a16="http://schemas.microsoft.com/office/drawing/2014/main" id="{DC80E9B6-A8B1-4C7B-AC6F-0DF0EDEB890F}"/>
              </a:ext>
            </a:extLst>
          </p:cNvPr>
          <p:cNvSpPr>
            <a:spLocks xmlns:a="http://schemas.openxmlformats.org/drawingml/2006/main" noGrp="1"/>
          </p:cNvSpPr>
          <p:nvPr/>
        </p:nvSpPr>
        <p:spPr>
          <a:xfrm xmlns:a="http://schemas.openxmlformats.org/drawingml/2006/main">
            <a:off x="685800" y="73342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142A24"/>
                </a:solidFill>
                <a:latin typeface="Arial"/>
                <a:ea typeface="Arial"/>
                <a:cs typeface="Arial"/>
              </a:defRPr>
            </a:pPr>
            <a:r>
              <a:rPr sz="3225" b="1">
                <a:solidFill>
                  <a:srgbClr val="142A24"/>
                </a:solidFill>
                <a:latin typeface="Arial"/>
                <a:ea typeface="Arial"/>
                <a:cs typeface="Arial"/>
              </a:rPr>
              <a:t>A missing value is not zero</a:t>
            </a:r>
          </a:p>
        </p:txBody>
      </p:sp>
      <p:sp>
        <p:nvSpPr>
          <p:cNvPr id="4" name="Code example">
            <a:extLst xmlns:a="http://schemas.openxmlformats.org/drawingml/2006/main">
              <a:ext uri="{FF2B5EF4-FFF2-40B4-BE49-F238E27FC236}">
                <a16:creationId xmlns:a16="http://schemas.microsoft.com/office/drawing/2014/main" id="{5F18DA56-EDE4-4FB7-970D-BB44A470C236}"/>
              </a:ext>
            </a:extLst>
          </p:cNvPr>
          <p:cNvSpPr>
            <a:spLocks xmlns:a="http://schemas.openxmlformats.org/drawingml/2006/main" noGrp="1"/>
          </p:cNvSpPr>
          <p:nvPr/>
        </p:nvSpPr>
        <p:spPr>
          <a:xfrm xmlns:a="http://schemas.openxmlformats.org/drawingml/2006/main">
            <a:off x="685800" y="1790700"/>
            <a:ext cx="10820400" cy="1085850"/>
          </a:xfrm>
          <a:prstGeom xmlns:a="http://schemas.openxmlformats.org/drawingml/2006/main" prst="rect">
            <a:avLst/>
          </a:prstGeom>
          <a:solidFill xmlns:a="http://schemas.openxmlformats.org/drawingml/2006/main">
            <a:srgbClr val="F0F4F1"/>
          </a:solidFill>
          <a:ln xmlns:a="http://schemas.openxmlformats.org/drawingml/2006/main" w="0">
            <a:noFill/>
          </a:ln>
        </p:spPr>
        <p:txBody>
          <a:bodyPr xmlns:a="http://schemas.openxmlformats.org/drawingml/2006/main" wrap="none" lIns="152400" tIns="133350" rIns="152400" bIns="133350" anchor="t">
            <a:noAutofit/>
          </a:bodyPr>
          <a:lstStyle xmlns:a="http://schemas.openxmlformats.org/drawingml/2006/main"/>
          <a:p xmlns:a="http://schemas.openxmlformats.org/drawingml/2006/main">
            <a:pPr>
              <a:defRPr sz="2100" b="0">
                <a:solidFill>
                  <a:srgbClr val="142A24"/>
                </a:solidFill>
                <a:latin typeface="Menlo"/>
                <a:ea typeface="Menlo"/>
                <a:cs typeface="Menlo"/>
              </a:defRPr>
            </a:pPr>
            <a:r>
              <a:rPr sz="2100" b="0">
                <a:solidFill>
                  <a:srgbClr val="142A24"/>
                </a:solidFill>
                <a:latin typeface="Menlo"/>
                <a:ea typeface="Menlo"/>
                <a:cs typeface="Menlo"/>
              </a:rPr>
              <a:t>measurements["temperature"].isna()</a:t>
            </a:r>
          </a:p>
          <a:p xmlns:a="http://schemas.openxmlformats.org/drawingml/2006/main">
            <a:pPr>
              <a:defRPr sz="2100" b="0">
                <a:solidFill>
                  <a:srgbClr val="142A24"/>
                </a:solidFill>
                <a:latin typeface="Menlo"/>
                <a:ea typeface="Menlo"/>
                <a:cs typeface="Menlo"/>
              </a:defRPr>
            </a:pPr>
            <a:r>
              <a:rPr sz="2100" b="0">
                <a:solidFill>
                  <a:srgbClr val="142A24"/>
                </a:solidFill>
                <a:latin typeface="Menlo"/>
                <a:ea typeface="Menlo"/>
                <a:cs typeface="Menlo"/>
              </a:rPr>
              <a:t>measurements.loc[measurements["temperature"].isna()]</a:t>
            </a:r>
          </a:p>
        </p:txBody>
      </p:sp>
      <p:graphicFrame>
        <p:nvGraphicFramePr>
          <p:cNvPr id="13" name=""/>
          <p:cNvGraphicFramePr/>
          <p:nvPr/>
        </p:nvGraphicFramePr>
        <p:xfrm>
          <a:off xmlns:a="http://schemas.openxmlformats.org/drawingml/2006/main" x="685800" y="3200400"/>
          <a:ext xmlns:a="http://schemas.openxmlformats.org/drawingml/2006/main" cx="10820400" cy="2038350"/>
        </p:xfrm>
        <a:graphic xmlns:a="http://schemas.openxmlformats.org/drawingml/2006/main">
          <a:graphicData uri="http://schemas.openxmlformats.org/drawingml/2006/table">
            <a:tbl>
              <a:tblPr firstRow="1" bandRow="0"/>
              <a:tblGrid>
                <a:gridCol w="8115300"/>
                <a:gridCol w="2705100"/>
              </a:tblGrid>
              <a:tr h="509588">
                <a:tc>
                  <a:txBody>
                    <a:bodyPr lIns="133350" tIns="85725" rIns="133350" bIns="85725">
                      <a:noAutofit/>
                    </a:bodyPr>
                    <a:lstStyle/>
                    <a:p>
                      <a:r>
                        <a:rPr sz="2100" b="1">
                          <a:solidFill>
                            <a:srgbClr val="FFFFFF"/>
                          </a:solidFill>
                          <a:latin typeface="Arial"/>
                          <a:ea typeface="Arial"/>
                          <a:cs typeface="Arial"/>
                        </a:rPr>
                        <a:t>What do we count?</a:t>
                      </a:r>
                    </a:p>
                  </a:txBody>
                  <a:tcPr marL="91440" marR="91440" marT="45720" marB="45720" anchor="ctr">
                    <a:solidFill>
                      <a:srgbClr val="155F46"/>
                    </a:solidFill>
                  </a:tcPr>
                </a:tc>
                <a:tc>
                  <a:txBody>
                    <a:bodyPr lIns="133350" tIns="85725" rIns="133350" bIns="85725">
                      <a:noAutofit/>
                    </a:bodyPr>
                    <a:lstStyle/>
                    <a:p>
                      <a:r>
                        <a:rPr sz="2100" b="1">
                          <a:solidFill>
                            <a:srgbClr val="FFFFFF"/>
                          </a:solidFill>
                          <a:latin typeface="Arial"/>
                          <a:ea typeface="Arial"/>
                          <a:cs typeface="Arial"/>
                        </a:rPr>
                        <a:t>Result</a:t>
                      </a:r>
                    </a:p>
                  </a:txBody>
                  <a:tcPr marL="91440" marR="91440" marT="45720" marB="45720" anchor="ctr">
                    <a:solidFill>
                      <a:srgbClr val="155F46"/>
                    </a:solidFill>
                  </a:tcPr>
                </a:tc>
              </a:tr>
              <a:tr h="509588">
                <a:tc>
                  <a:txBody>
                    <a:bodyPr lIns="133350" tIns="85725" rIns="133350" bIns="85725">
                      <a:noAutofit/>
                    </a:bodyPr>
                    <a:lstStyle/>
                    <a:p>
                      <a:r>
                        <a:rPr sz="2100" b="0">
                          <a:solidFill>
                            <a:srgbClr val="142A24"/>
                          </a:solidFill>
                          <a:latin typeface="Arial"/>
                          <a:ea typeface="Arial"/>
                          <a:cs typeface="Arial"/>
                        </a:rPr>
                        <a:t>Rows: len(measurements)</a:t>
                      </a:r>
                    </a:p>
                  </a:txBody>
                  <a:tcPr marL="91440" marR="91440" marT="45720" marB="45720" anchor="ctr">
                    <a:solidFill>
                      <a:srgbClr val="FFFEFB"/>
                    </a:solidFill>
                  </a:tcPr>
                </a:tc>
                <a:tc>
                  <a:txBody>
                    <a:bodyPr lIns="133350" tIns="85725" rIns="133350" bIns="85725">
                      <a:noAutofit/>
                    </a:bodyPr>
                    <a:lstStyle/>
                    <a:p>
                      <a:r>
                        <a:rPr sz="2100" b="0">
                          <a:solidFill>
                            <a:srgbClr val="142A24"/>
                          </a:solidFill>
                          <a:latin typeface="Arial"/>
                          <a:ea typeface="Arial"/>
                          <a:cs typeface="Arial"/>
                        </a:rPr>
                        <a:t>4</a:t>
                      </a:r>
                    </a:p>
                  </a:txBody>
                  <a:tcPr marL="91440" marR="91440" marT="45720" marB="45720" anchor="ctr">
                    <a:solidFill>
                      <a:srgbClr val="FFFEFB"/>
                    </a:solidFill>
                  </a:tcPr>
                </a:tc>
              </a:tr>
              <a:tr h="509588">
                <a:tc>
                  <a:txBody>
                    <a:bodyPr lIns="133350" tIns="85725" rIns="133350" bIns="85725">
                      <a:noAutofit/>
                    </a:bodyPr>
                    <a:lstStyle/>
                    <a:p>
                      <a:r>
                        <a:rPr sz="2100" b="0">
                          <a:solidFill>
                            <a:srgbClr val="142A24"/>
                          </a:solidFill>
                          <a:latin typeface="Arial"/>
                          <a:ea typeface="Arial"/>
                          <a:cs typeface="Arial"/>
                        </a:rPr>
                        <a:t>Available temperatures: .count()</a:t>
                      </a:r>
                    </a:p>
                  </a:txBody>
                  <a:tcPr marL="91440" marR="91440" marT="45720" marB="45720" anchor="ctr">
                    <a:solidFill>
                      <a:srgbClr val="F0F4F1"/>
                    </a:solidFill>
                  </a:tcPr>
                </a:tc>
                <a:tc>
                  <a:txBody>
                    <a:bodyPr lIns="133350" tIns="85725" rIns="133350" bIns="85725">
                      <a:noAutofit/>
                    </a:bodyPr>
                    <a:lstStyle/>
                    <a:p>
                      <a:r>
                        <a:rPr sz="2100" b="0">
                          <a:solidFill>
                            <a:srgbClr val="142A24"/>
                          </a:solidFill>
                          <a:latin typeface="Arial"/>
                          <a:ea typeface="Arial"/>
                          <a:cs typeface="Arial"/>
                        </a:rPr>
                        <a:t>3</a:t>
                      </a:r>
                    </a:p>
                  </a:txBody>
                  <a:tcPr marL="91440" marR="91440" marT="45720" marB="45720" anchor="ctr">
                    <a:solidFill>
                      <a:srgbClr val="F0F4F1"/>
                    </a:solidFill>
                  </a:tcPr>
                </a:tc>
              </a:tr>
              <a:tr h="509588">
                <a:tc>
                  <a:txBody>
                    <a:bodyPr lIns="133350" tIns="85725" rIns="133350" bIns="85725">
                      <a:noAutofit/>
                    </a:bodyPr>
                    <a:lstStyle/>
                    <a:p>
                      <a:r>
                        <a:rPr sz="2100" b="0">
                          <a:solidFill>
                            <a:srgbClr val="142A24"/>
                          </a:solidFill>
                          <a:latin typeface="Arial"/>
                          <a:ea typeface="Arial"/>
                          <a:cs typeface="Arial"/>
                        </a:rPr>
                        <a:t>Missing temperatures: .isna().sum()</a:t>
                      </a:r>
                    </a:p>
                  </a:txBody>
                  <a:tcPr marL="91440" marR="91440" marT="45720" marB="45720" anchor="ctr">
                    <a:solidFill>
                      <a:srgbClr val="FFFEFB"/>
                    </a:solidFill>
                  </a:tcPr>
                </a:tc>
                <a:tc>
                  <a:txBody>
                    <a:bodyPr lIns="133350" tIns="85725" rIns="133350" bIns="85725">
                      <a:noAutofit/>
                    </a:bodyPr>
                    <a:lstStyle/>
                    <a:p>
                      <a:r>
                        <a:rPr sz="2100" b="0">
                          <a:solidFill>
                            <a:srgbClr val="142A24"/>
                          </a:solidFill>
                          <a:latin typeface="Arial"/>
                          <a:ea typeface="Arial"/>
                          <a:cs typeface="Arial"/>
                        </a:rPr>
                        <a:t>1</a:t>
                      </a:r>
                    </a:p>
                  </a:txBody>
                  <a:tcPr marL="91440" marR="91440" marT="45720" marB="45720" anchor="ctr">
                    <a:solidFill>
                      <a:srgbClr val="FFFEFB"/>
                    </a:solidFill>
                  </a:tcPr>
                </a:tc>
              </a:tr>
            </a:tbl>
          </a:graphicData>
        </a:graphic>
      </p:graphicFrame>
      <p:sp>
        <p:nvSpPr>
          <p:cNvPr id="6" name="Do not replace D by 0 °C without a scientific reason.">
            <a:extLst xmlns:a="http://schemas.openxmlformats.org/drawingml/2006/main">
              <a:ext uri="{FF2B5EF4-FFF2-40B4-BE49-F238E27FC236}">
                <a16:creationId xmlns:a16="http://schemas.microsoft.com/office/drawing/2014/main" id="{6285B50B-B168-4A4E-992A-F32AB269BAF4}"/>
              </a:ext>
            </a:extLst>
          </p:cNvPr>
          <p:cNvSpPr>
            <a:spLocks xmlns:a="http://schemas.openxmlformats.org/drawingml/2006/main" noGrp="1"/>
          </p:cNvSpPr>
          <p:nvPr/>
        </p:nvSpPr>
        <p:spPr>
          <a:xfrm xmlns:a="http://schemas.openxmlformats.org/drawingml/2006/main">
            <a:off x="685800" y="5543550"/>
            <a:ext cx="10820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55F46"/>
                </a:solidFill>
                <a:latin typeface="Arial"/>
                <a:ea typeface="Arial"/>
                <a:cs typeface="Arial"/>
              </a:defRPr>
            </a:pPr>
            <a:r>
              <a:rPr sz="2250" b="1">
                <a:solidFill>
                  <a:srgbClr val="155F46"/>
                </a:solidFill>
                <a:latin typeface="Arial"/>
                <a:ea typeface="Arial"/>
                <a:cs typeface="Arial"/>
              </a:rPr>
              <a:t>Do not replace D by 0 °C without a scientific reason.</a:t>
            </a:r>
          </a:p>
        </p:txBody>
      </p:sp>
      <p:sp>
        <p:nvSpPr>
          <p:cNvPr id="7" name="Open course page">
            <a:extLst xmlns:a="http://schemas.openxmlformats.org/drawingml/2006/main">
              <a:ext uri="{FF2B5EF4-FFF2-40B4-BE49-F238E27FC236}">
                <a16:creationId xmlns:a16="http://schemas.microsoft.com/office/drawing/2014/main" id="{BDC0CB2E-781D-445D-AC2F-7B79946A47C5}"/>
              </a:ext>
            </a:extLst>
          </p:cNvPr>
          <p:cNvSpPr>
            <a:spLocks xmlns:a="http://schemas.openxmlformats.org/drawingml/2006/main" noGrp="1"/>
          </p:cNvSpPr>
          <p:nvPr/>
        </p:nvSpPr>
        <p:spPr>
          <a:xfrm xmlns:a="http://schemas.openxmlformats.org/drawingml/2006/main">
            <a:off x="685800" y="6381750"/>
            <a:ext cx="571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55F46"/>
                </a:solidFill>
                <a:latin typeface="Arial"/>
                <a:ea typeface="Arial"/>
                <a:cs typeface="Arial"/>
              </a:defRPr>
            </a:pPr>
            <a:r>
              <a:rPr sz="1500" b="1">
                <a:solidFill>
                  <a:srgbClr val="155F46"/>
                </a:solidFill>
                <a:latin typeface="Arial"/>
                <a:ea typeface="Arial"/>
                <a:cs typeface="Arial"/>
                <a:hlinkClick xmlns:r="http://schemas.openxmlformats.org/officeDocument/2006/relationships" r:id="R53ac2a4a811f4cf8"/>
              </a:rPr>
              <a:t>Open course page</a:t>
            </a:r>
          </a:p>
        </p:txBody>
      </p:sp>
      <p:sp>
        <p:nvSpPr>
          <p:cNvPr id="8" name="14–18 min · 5 / 23">
            <a:extLst xmlns:a="http://schemas.openxmlformats.org/drawingml/2006/main">
              <a:ext uri="{FF2B5EF4-FFF2-40B4-BE49-F238E27FC236}">
                <a16:creationId xmlns:a16="http://schemas.microsoft.com/office/drawing/2014/main" id="{79C5ECB2-6061-4A39-B64B-84B992AC340F}"/>
              </a:ext>
            </a:extLst>
          </p:cNvPr>
          <p:cNvSpPr>
            <a:spLocks xmlns:a="http://schemas.openxmlformats.org/drawingml/2006/main" noGrp="1"/>
          </p:cNvSpPr>
          <p:nvPr/>
        </p:nvSpPr>
        <p:spPr>
          <a:xfrm xmlns:a="http://schemas.openxmlformats.org/drawingml/2006/main">
            <a:off x="8191500" y="6381750"/>
            <a:ext cx="3314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66C61"/>
                </a:solidFill>
                <a:latin typeface="Arial"/>
                <a:ea typeface="Arial"/>
                <a:cs typeface="Arial"/>
              </a:defRPr>
            </a:pPr>
            <a:r>
              <a:rPr sz="1500" b="0">
                <a:solidFill>
                  <a:srgbClr val="566C61"/>
                </a:solidFill>
                <a:latin typeface="Arial"/>
                <a:ea typeface="Arial"/>
                <a:cs typeface="Arial"/>
              </a:rPr>
              <a:t>14–18 min · 5 / 23</a:t>
            </a:r>
          </a:p>
        </p:txBody>
      </p:sp>
    </p:spTree>
    <p:extLst>
      <p:ext uri="{BB962C8B-B14F-4D97-AF65-F5344CB8AC3E}">
        <p14:creationId xmlns:p14="http://schemas.microsoft.com/office/powerpoint/2010/main" val="418384830"/>
      </p:ext>
    </p:extLst>
  </p:cSld>
</p:sld>
</file>

<file path=ppt/slides/slide6.xml><?xml version="1.0" encoding="utf-8"?>
<p:sld xmlns:p="http://schemas.openxmlformats.org/presentationml/2006/main">
  <p:cSld>
    <p:bg>
      <p:bgPr>
        <a:solidFill xmlns:a="http://schemas.openxmlformats.org/drawingml/2006/main">
          <a:srgbClr val="FFFEF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F360173-9112-41EA-A668-54A522C18C82}"/>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5F46"/>
          </a:solidFill>
          <a:ln xmlns:a="http://schemas.openxmlformats.org/drawingml/2006/main" w="0">
            <a:noFill/>
          </a:ln>
        </p:spPr>
      </p:sp>
      <p:sp>
        <p:nvSpPr>
          <p:cNvPr id="2" name="1 · First steps">
            <a:extLst xmlns:a="http://schemas.openxmlformats.org/drawingml/2006/main">
              <a:ext uri="{FF2B5EF4-FFF2-40B4-BE49-F238E27FC236}">
                <a16:creationId xmlns:a16="http://schemas.microsoft.com/office/drawing/2014/main" id="{750293C5-E7A7-4A25-9ABB-41BBCE3BA421}"/>
              </a:ext>
            </a:extLst>
          </p:cNvPr>
          <p:cNvSpPr>
            <a:spLocks xmlns:a="http://schemas.openxmlformats.org/drawingml/2006/main" noGrp="1"/>
          </p:cNvSpPr>
          <p:nvPr/>
        </p:nvSpPr>
        <p:spPr>
          <a:xfrm xmlns:a="http://schemas.openxmlformats.org/drawingml/2006/main">
            <a:off x="685800" y="323850"/>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1">
                <a:solidFill>
                  <a:srgbClr val="155F46"/>
                </a:solidFill>
                <a:latin typeface="Arial"/>
                <a:ea typeface="Arial"/>
                <a:cs typeface="Arial"/>
              </a:defRPr>
            </a:pPr>
            <a:r>
              <a:rPr sz="1575" b="1">
                <a:solidFill>
                  <a:srgbClr val="155F46"/>
                </a:solidFill>
                <a:latin typeface="Arial"/>
                <a:ea typeface="Arial"/>
                <a:cs typeface="Arial"/>
              </a:rPr>
              <a:t>1 · First steps</a:t>
            </a:r>
          </a:p>
        </p:txBody>
      </p:sp>
      <p:sp>
        <p:nvSpPr>
          <p:cNvPr id="3" name="Convert units and keep the recorded values">
            <a:extLst xmlns:a="http://schemas.openxmlformats.org/drawingml/2006/main">
              <a:ext uri="{FF2B5EF4-FFF2-40B4-BE49-F238E27FC236}">
                <a16:creationId xmlns:a16="http://schemas.microsoft.com/office/drawing/2014/main" id="{57E5C122-2373-4CBC-937A-2BC49C58E3C7}"/>
              </a:ext>
            </a:extLst>
          </p:cNvPr>
          <p:cNvSpPr>
            <a:spLocks xmlns:a="http://schemas.openxmlformats.org/drawingml/2006/main" noGrp="1"/>
          </p:cNvSpPr>
          <p:nvPr/>
        </p:nvSpPr>
        <p:spPr>
          <a:xfrm xmlns:a="http://schemas.openxmlformats.org/drawingml/2006/main">
            <a:off x="685800" y="73342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142A24"/>
                </a:solidFill>
                <a:latin typeface="Arial"/>
                <a:ea typeface="Arial"/>
                <a:cs typeface="Arial"/>
              </a:defRPr>
            </a:pPr>
            <a:r>
              <a:rPr sz="3225" b="1">
                <a:solidFill>
                  <a:srgbClr val="142A24"/>
                </a:solidFill>
                <a:latin typeface="Arial"/>
                <a:ea typeface="Arial"/>
                <a:cs typeface="Arial"/>
              </a:rPr>
              <a:t>Convert units and keep the recorded values</a:t>
            </a:r>
          </a:p>
        </p:txBody>
      </p:sp>
      <p:sp>
        <p:nvSpPr>
          <p:cNvPr id="4" name="Code example">
            <a:extLst xmlns:a="http://schemas.openxmlformats.org/drawingml/2006/main">
              <a:ext uri="{FF2B5EF4-FFF2-40B4-BE49-F238E27FC236}">
                <a16:creationId xmlns:a16="http://schemas.microsoft.com/office/drawing/2014/main" id="{BF010F31-E098-4849-91D9-0A75F649085D}"/>
              </a:ext>
            </a:extLst>
          </p:cNvPr>
          <p:cNvSpPr>
            <a:spLocks xmlns:a="http://schemas.openxmlformats.org/drawingml/2006/main" noGrp="1"/>
          </p:cNvSpPr>
          <p:nvPr/>
        </p:nvSpPr>
        <p:spPr>
          <a:xfrm xmlns:a="http://schemas.openxmlformats.org/drawingml/2006/main">
            <a:off x="685800" y="1790700"/>
            <a:ext cx="10820400" cy="2457450"/>
          </a:xfrm>
          <a:prstGeom xmlns:a="http://schemas.openxmlformats.org/drawingml/2006/main" prst="rect">
            <a:avLst/>
          </a:prstGeom>
          <a:solidFill xmlns:a="http://schemas.openxmlformats.org/drawingml/2006/main">
            <a:srgbClr val="F0F4F1"/>
          </a:solidFill>
          <a:ln xmlns:a="http://schemas.openxmlformats.org/drawingml/2006/main" w="0">
            <a:noFill/>
          </a:ln>
        </p:spPr>
        <p:txBody>
          <a:bodyPr xmlns:a="http://schemas.openxmlformats.org/drawingml/2006/main" wrap="none" lIns="152400" tIns="133350" rIns="152400" bIns="133350" anchor="t">
            <a:noAutofit/>
          </a:bodyPr>
          <a:lstStyle xmlns:a="http://schemas.openxmlformats.org/drawingml/2006/main"/>
          <a:p xmlns:a="http://schemas.openxmlformats.org/drawingml/2006/main">
            <a:pPr>
              <a:defRPr sz="2025" b="0">
                <a:solidFill>
                  <a:srgbClr val="142A24"/>
                </a:solidFill>
                <a:latin typeface="Menlo"/>
                <a:ea typeface="Menlo"/>
                <a:cs typeface="Menlo"/>
              </a:defRPr>
            </a:pPr>
            <a:r>
              <a:rPr sz="2025" b="0">
                <a:solidFill>
                  <a:srgbClr val="142A24"/>
                </a:solidFill>
                <a:latin typeface="Menlo"/>
                <a:ea typeface="Menlo"/>
                <a:cs typeface="Menlo"/>
              </a:rPr>
              <a:t>converted = measurements.copy()</a:t>
            </a:r>
          </a:p>
          <a:p xmlns:a="http://schemas.openxmlformats.org/drawingml/2006/main">
            <a:pPr>
              <a:defRPr sz="2025" b="0">
                <a:solidFill>
                  <a:srgbClr val="142A24"/>
                </a:solidFill>
                <a:latin typeface="Menlo"/>
                <a:ea typeface="Menlo"/>
                <a:cs typeface="Menlo"/>
              </a:defRPr>
            </a:pPr>
            <a:r>
              <a:rPr sz="2025" b="0">
                <a:solidFill>
                  <a:srgbClr val="142A24"/>
                </a:solidFill>
                <a:latin typeface="Menlo"/>
                <a:ea typeface="Menlo"/>
                <a:cs typeface="Menlo"/>
              </a:rPr>
              <a:t>converted["temperature_c"] = converted["temperature"]</a:t>
            </a:r>
          </a:p>
          <a:p xmlns:a="http://schemas.openxmlformats.org/drawingml/2006/main">
            <a:pPr>
              <a:defRPr sz="2025" b="0">
                <a:solidFill>
                  <a:srgbClr val="142A24"/>
                </a:solidFill>
                <a:latin typeface="Menlo"/>
                <a:ea typeface="Menlo"/>
                <a:cs typeface="Menlo"/>
              </a:defRPr>
            </a:pPr>
            <a:r>
              <a:rPr sz="2025" b="0">
                <a:solidFill>
                  <a:srgbClr val="142A24"/>
                </a:solidFill>
                <a:latin typeface="Menlo"/>
                <a:ea typeface="Menlo"/>
                <a:cs typeface="Menlo"/>
              </a:rPr>
              <a:t>is_fahrenheit = converted["unit"] == "°F"</a:t>
            </a:r>
          </a:p>
          <a:p xmlns:a="http://schemas.openxmlformats.org/drawingml/2006/main">
            <a:pPr>
              <a:defRPr sz="2025" b="0">
                <a:solidFill>
                  <a:srgbClr val="142A24"/>
                </a:solidFill>
                <a:latin typeface="Menlo"/>
                <a:ea typeface="Menlo"/>
                <a:cs typeface="Menlo"/>
              </a:defRPr>
            </a:pPr>
            <a:r>
              <a:rPr sz="2025" b="0">
                <a:solidFill>
                  <a:srgbClr val="142A24"/>
                </a:solidFill>
                <a:latin typeface="Menlo"/>
                <a:ea typeface="Menlo"/>
                <a:cs typeface="Menlo"/>
              </a:rPr>
              <a:t>converted.loc[is_fahrenheit, "temperature_c"] = (</a:t>
            </a:r>
          </a:p>
          <a:p xmlns:a="http://schemas.openxmlformats.org/drawingml/2006/main">
            <a:pPr>
              <a:defRPr sz="2025" b="0">
                <a:solidFill>
                  <a:srgbClr val="142A24"/>
                </a:solidFill>
                <a:latin typeface="Menlo"/>
                <a:ea typeface="Menlo"/>
                <a:cs typeface="Menlo"/>
              </a:defRPr>
            </a:pPr>
            <a:r>
              <a:rPr sz="2025" b="0">
                <a:solidFill>
                  <a:srgbClr val="142A24"/>
                </a:solidFill>
                <a:latin typeface="Menlo"/>
                <a:ea typeface="Menlo"/>
                <a:cs typeface="Menlo"/>
              </a:rPr>
              <a:t>    converted.loc[is_fahrenheit, "temperature"] - 32</a:t>
            </a:r>
          </a:p>
          <a:p xmlns:a="http://schemas.openxmlformats.org/drawingml/2006/main">
            <a:pPr>
              <a:defRPr sz="2025" b="0">
                <a:solidFill>
                  <a:srgbClr val="142A24"/>
                </a:solidFill>
                <a:latin typeface="Menlo"/>
                <a:ea typeface="Menlo"/>
                <a:cs typeface="Menlo"/>
              </a:defRPr>
            </a:pPr>
            <a:r>
              <a:rPr sz="2025" b="0">
                <a:solidFill>
                  <a:srgbClr val="142A24"/>
                </a:solidFill>
                <a:latin typeface="Menlo"/>
                <a:ea typeface="Menlo"/>
                <a:cs typeface="Menlo"/>
              </a:rPr>
              <a:t>) * 5 / 9</a:t>
            </a:r>
          </a:p>
        </p:txBody>
      </p:sp>
      <p:sp>
        <p:nvSpPr>
          <p:cNvPr id="5" name="71.6 °F becomes 22 °C. D remains missing.">
            <a:extLst xmlns:a="http://schemas.openxmlformats.org/drawingml/2006/main">
              <a:ext uri="{FF2B5EF4-FFF2-40B4-BE49-F238E27FC236}">
                <a16:creationId xmlns:a16="http://schemas.microsoft.com/office/drawing/2014/main" id="{AD697614-B0A9-4F26-9FF7-AB6BAF5FAF0B}"/>
              </a:ext>
            </a:extLst>
          </p:cNvPr>
          <p:cNvSpPr>
            <a:spLocks xmlns:a="http://schemas.openxmlformats.org/drawingml/2006/main" noGrp="1"/>
          </p:cNvSpPr>
          <p:nvPr/>
        </p:nvSpPr>
        <p:spPr>
          <a:xfrm xmlns:a="http://schemas.openxmlformats.org/drawingml/2006/main">
            <a:off x="685800" y="4629150"/>
            <a:ext cx="10820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155F46"/>
                </a:solidFill>
                <a:latin typeface="Arial"/>
                <a:ea typeface="Arial"/>
                <a:cs typeface="Arial"/>
              </a:defRPr>
            </a:pPr>
            <a:r>
              <a:rPr sz="2550" b="1">
                <a:solidFill>
                  <a:srgbClr val="155F46"/>
                </a:solidFill>
                <a:latin typeface="Arial"/>
                <a:ea typeface="Arial"/>
                <a:cs typeface="Arial"/>
              </a:rPr>
              <a:t>71.6 °F becomes 22 °C. D remains missing.</a:t>
            </a:r>
          </a:p>
        </p:txBody>
      </p:sp>
      <p:sp>
        <p:nvSpPr>
          <p:cNvPr id="6" name="The expression acts on selected values together. No Python l">
            <a:extLst xmlns:a="http://schemas.openxmlformats.org/drawingml/2006/main">
              <a:ext uri="{FF2B5EF4-FFF2-40B4-BE49-F238E27FC236}">
                <a16:creationId xmlns:a16="http://schemas.microsoft.com/office/drawing/2014/main" id="{65384E84-7AEA-460D-B0B8-CD6028452112}"/>
              </a:ext>
            </a:extLst>
          </p:cNvPr>
          <p:cNvSpPr>
            <a:spLocks xmlns:a="http://schemas.openxmlformats.org/drawingml/2006/main" noGrp="1"/>
          </p:cNvSpPr>
          <p:nvPr/>
        </p:nvSpPr>
        <p:spPr>
          <a:xfrm xmlns:a="http://schemas.openxmlformats.org/drawingml/2006/main">
            <a:off x="685800" y="54387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42A24"/>
                </a:solidFill>
                <a:latin typeface="Arial"/>
                <a:ea typeface="Arial"/>
                <a:cs typeface="Arial"/>
              </a:defRPr>
            </a:pPr>
            <a:r>
              <a:rPr sz="2100" b="0">
                <a:solidFill>
                  <a:srgbClr val="142A24"/>
                </a:solidFill>
                <a:latin typeface="Arial"/>
                <a:ea typeface="Arial"/>
                <a:cs typeface="Arial"/>
              </a:rPr>
              <a:t>The expression acts on selected values together. No Python loop is needed.</a:t>
            </a:r>
          </a:p>
        </p:txBody>
      </p:sp>
      <p:sp>
        <p:nvSpPr>
          <p:cNvPr id="7" name="Open course page">
            <a:extLst xmlns:a="http://schemas.openxmlformats.org/drawingml/2006/main">
              <a:ext uri="{FF2B5EF4-FFF2-40B4-BE49-F238E27FC236}">
                <a16:creationId xmlns:a16="http://schemas.microsoft.com/office/drawing/2014/main" id="{1E484221-9D34-4FBE-AE2B-44117F55F92B}"/>
              </a:ext>
            </a:extLst>
          </p:cNvPr>
          <p:cNvSpPr>
            <a:spLocks xmlns:a="http://schemas.openxmlformats.org/drawingml/2006/main" noGrp="1"/>
          </p:cNvSpPr>
          <p:nvPr/>
        </p:nvSpPr>
        <p:spPr>
          <a:xfrm xmlns:a="http://schemas.openxmlformats.org/drawingml/2006/main">
            <a:off x="685800" y="6381750"/>
            <a:ext cx="571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55F46"/>
                </a:solidFill>
                <a:latin typeface="Arial"/>
                <a:ea typeface="Arial"/>
                <a:cs typeface="Arial"/>
              </a:defRPr>
            </a:pPr>
            <a:r>
              <a:rPr sz="1500" b="1">
                <a:solidFill>
                  <a:srgbClr val="155F46"/>
                </a:solidFill>
                <a:latin typeface="Arial"/>
                <a:ea typeface="Arial"/>
                <a:cs typeface="Arial"/>
                <a:hlinkClick xmlns:r="http://schemas.openxmlformats.org/officeDocument/2006/relationships" r:id="Rb68b269e8d0b43e5"/>
              </a:rPr>
              <a:t>Open course page</a:t>
            </a:r>
          </a:p>
        </p:txBody>
      </p:sp>
      <p:sp>
        <p:nvSpPr>
          <p:cNvPr id="8" name="18–24 min · 6 / 23">
            <a:extLst xmlns:a="http://schemas.openxmlformats.org/drawingml/2006/main">
              <a:ext uri="{FF2B5EF4-FFF2-40B4-BE49-F238E27FC236}">
                <a16:creationId xmlns:a16="http://schemas.microsoft.com/office/drawing/2014/main" id="{A768A136-97ED-4B61-8019-A44A733AF201}"/>
              </a:ext>
            </a:extLst>
          </p:cNvPr>
          <p:cNvSpPr>
            <a:spLocks xmlns:a="http://schemas.openxmlformats.org/drawingml/2006/main" noGrp="1"/>
          </p:cNvSpPr>
          <p:nvPr/>
        </p:nvSpPr>
        <p:spPr>
          <a:xfrm xmlns:a="http://schemas.openxmlformats.org/drawingml/2006/main">
            <a:off x="8191500" y="6381750"/>
            <a:ext cx="3314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66C61"/>
                </a:solidFill>
                <a:latin typeface="Arial"/>
                <a:ea typeface="Arial"/>
                <a:cs typeface="Arial"/>
              </a:defRPr>
            </a:pPr>
            <a:r>
              <a:rPr sz="1500" b="0">
                <a:solidFill>
                  <a:srgbClr val="566C61"/>
                </a:solidFill>
                <a:latin typeface="Arial"/>
                <a:ea typeface="Arial"/>
                <a:cs typeface="Arial"/>
              </a:rPr>
              <a:t>18–24 min · 6 / 23</a:t>
            </a:r>
          </a:p>
        </p:txBody>
      </p:sp>
    </p:spTree>
    <p:extLst>
      <p:ext uri="{BB962C8B-B14F-4D97-AF65-F5344CB8AC3E}">
        <p14:creationId xmlns:p14="http://schemas.microsoft.com/office/powerpoint/2010/main" val="2039967810"/>
      </p:ext>
    </p:extLst>
  </p:cSld>
</p:sld>
</file>

<file path=ppt/slides/slide7.xml><?xml version="1.0" encoding="utf-8"?>
<p:sld xmlns:p="http://schemas.openxmlformats.org/presentationml/2006/main">
  <p:cSld>
    <p:bg>
      <p:bgPr>
        <a:solidFill xmlns:a="http://schemas.openxmlformats.org/drawingml/2006/main">
          <a:srgbClr val="FFFEFB"/>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0E0266D-0F62-4FB6-ADB3-2F2D6827A1C1}"/>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5F46"/>
          </a:solidFill>
          <a:ln xmlns:a="http://schemas.openxmlformats.org/drawingml/2006/main" w="0">
            <a:noFill/>
          </a:ln>
        </p:spPr>
      </p:sp>
      <p:sp>
        <p:nvSpPr>
          <p:cNvPr id="2" name="1 · First steps">
            <a:extLst xmlns:a="http://schemas.openxmlformats.org/drawingml/2006/main">
              <a:ext uri="{FF2B5EF4-FFF2-40B4-BE49-F238E27FC236}">
                <a16:creationId xmlns:a16="http://schemas.microsoft.com/office/drawing/2014/main" id="{A5B5E486-D22F-4DF2-967A-D52313C832A4}"/>
              </a:ext>
            </a:extLst>
          </p:cNvPr>
          <p:cNvSpPr>
            <a:spLocks xmlns:a="http://schemas.openxmlformats.org/drawingml/2006/main" noGrp="1"/>
          </p:cNvSpPr>
          <p:nvPr/>
        </p:nvSpPr>
        <p:spPr>
          <a:xfrm xmlns:a="http://schemas.openxmlformats.org/drawingml/2006/main">
            <a:off x="685800" y="323850"/>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1">
                <a:solidFill>
                  <a:srgbClr val="155F46"/>
                </a:solidFill>
                <a:latin typeface="Arial"/>
                <a:ea typeface="Arial"/>
                <a:cs typeface="Arial"/>
              </a:defRPr>
            </a:pPr>
            <a:r>
              <a:rPr sz="1575" b="1">
                <a:solidFill>
                  <a:srgbClr val="155F46"/>
                </a:solidFill>
                <a:latin typeface="Arial"/>
                <a:ea typeface="Arial"/>
                <a:cs typeface="Arial"/>
              </a:rPr>
              <a:t>1 · First steps</a:t>
            </a:r>
          </a:p>
        </p:txBody>
      </p:sp>
      <p:sp>
        <p:nvSpPr>
          <p:cNvPr id="3" name="Compute a mean, then say what it means">
            <a:extLst xmlns:a="http://schemas.openxmlformats.org/drawingml/2006/main">
              <a:ext uri="{FF2B5EF4-FFF2-40B4-BE49-F238E27FC236}">
                <a16:creationId xmlns:a16="http://schemas.microsoft.com/office/drawing/2014/main" id="{03BD5DE0-DACB-4649-93A5-1095CAEE0883}"/>
              </a:ext>
            </a:extLst>
          </p:cNvPr>
          <p:cNvSpPr>
            <a:spLocks xmlns:a="http://schemas.openxmlformats.org/drawingml/2006/main" noGrp="1"/>
          </p:cNvSpPr>
          <p:nvPr/>
        </p:nvSpPr>
        <p:spPr>
          <a:xfrm xmlns:a="http://schemas.openxmlformats.org/drawingml/2006/main">
            <a:off x="685800" y="73342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142A24"/>
                </a:solidFill>
                <a:latin typeface="Arial"/>
                <a:ea typeface="Arial"/>
                <a:cs typeface="Arial"/>
              </a:defRPr>
            </a:pPr>
            <a:r>
              <a:rPr sz="3225" b="1">
                <a:solidFill>
                  <a:srgbClr val="142A24"/>
                </a:solidFill>
                <a:latin typeface="Arial"/>
                <a:ea typeface="Arial"/>
                <a:cs typeface="Arial"/>
              </a:rPr>
              <a:t>Compute a mean, then say what it means</a:t>
            </a:r>
          </a:p>
        </p:txBody>
      </p:sp>
      <p:sp>
        <p:nvSpPr>
          <p:cNvPr id="4" name="Code example">
            <a:extLst xmlns:a="http://schemas.openxmlformats.org/drawingml/2006/main">
              <a:ext uri="{FF2B5EF4-FFF2-40B4-BE49-F238E27FC236}">
                <a16:creationId xmlns:a16="http://schemas.microsoft.com/office/drawing/2014/main" id="{405366CA-1301-4111-8704-841AC21C53AB}"/>
              </a:ext>
            </a:extLst>
          </p:cNvPr>
          <p:cNvSpPr>
            <a:spLocks xmlns:a="http://schemas.openxmlformats.org/drawingml/2006/main" noGrp="1"/>
          </p:cNvSpPr>
          <p:nvPr/>
        </p:nvSpPr>
        <p:spPr>
          <a:xfrm xmlns:a="http://schemas.openxmlformats.org/drawingml/2006/main">
            <a:off x="685800" y="1790700"/>
            <a:ext cx="10820400" cy="1066800"/>
          </a:xfrm>
          <a:prstGeom xmlns:a="http://schemas.openxmlformats.org/drawingml/2006/main" prst="rect">
            <a:avLst/>
          </a:prstGeom>
          <a:solidFill xmlns:a="http://schemas.openxmlformats.org/drawingml/2006/main">
            <a:srgbClr val="F0F4F1"/>
          </a:solidFill>
          <a:ln xmlns:a="http://schemas.openxmlformats.org/drawingml/2006/main" w="0">
            <a:noFill/>
          </a:ln>
        </p:spPr>
        <p:txBody>
          <a:bodyPr xmlns:a="http://schemas.openxmlformats.org/drawingml/2006/main" wrap="none" lIns="152400" tIns="133350" rIns="152400" bIns="133350" anchor="t">
            <a:noAutofit/>
          </a:bodyPr>
          <a:lstStyle xmlns:a="http://schemas.openxmlformats.org/drawingml/2006/main"/>
          <a:p xmlns:a="http://schemas.openxmlformats.org/drawingml/2006/main">
            <a:pPr>
              <a:defRPr sz="2175" b="0">
                <a:solidFill>
                  <a:srgbClr val="142A24"/>
                </a:solidFill>
                <a:latin typeface="Menlo"/>
                <a:ea typeface="Menlo"/>
                <a:cs typeface="Menlo"/>
              </a:defRPr>
            </a:pPr>
            <a:r>
              <a:rPr sz="2175" b="0">
                <a:solidFill>
                  <a:srgbClr val="142A24"/>
                </a:solidFill>
                <a:latin typeface="Menlo"/>
                <a:ea typeface="Menlo"/>
                <a:cs typeface="Menlo"/>
              </a:rPr>
              <a:t>mean_c = converted["temperature_c"].mean()</a:t>
            </a:r>
          </a:p>
          <a:p xmlns:a="http://schemas.openxmlformats.org/drawingml/2006/main">
            <a:pPr>
              <a:defRPr sz="2175" b="0">
                <a:solidFill>
                  <a:srgbClr val="142A24"/>
                </a:solidFill>
                <a:latin typeface="Menlo"/>
                <a:ea typeface="Menlo"/>
                <a:cs typeface="Menlo"/>
              </a:defRPr>
            </a:pPr>
            <a:r>
              <a:rPr sz="2175" b="0">
                <a:solidFill>
                  <a:srgbClr val="142A24"/>
                </a:solidFill>
                <a:latin typeface="Menlo"/>
                <a:ea typeface="Menlo"/>
                <a:cs typeface="Menlo"/>
              </a:rPr>
              <a:t>count = converted["temperature_c"].count()</a:t>
            </a:r>
          </a:p>
        </p:txBody>
      </p:sp>
      <p:sp>
        <p:nvSpPr>
          <p:cNvPr id="5" name="(22 + 22 + 20) / 3 ≈ 21.3 °C">
            <a:extLst xmlns:a="http://schemas.openxmlformats.org/drawingml/2006/main">
              <a:ext uri="{FF2B5EF4-FFF2-40B4-BE49-F238E27FC236}">
                <a16:creationId xmlns:a16="http://schemas.microsoft.com/office/drawing/2014/main" id="{FE1569E4-AE09-473D-8BAF-26A6C5405E9D}"/>
              </a:ext>
            </a:extLst>
          </p:cNvPr>
          <p:cNvSpPr>
            <a:spLocks xmlns:a="http://schemas.openxmlformats.org/drawingml/2006/main" noGrp="1"/>
          </p:cNvSpPr>
          <p:nvPr/>
        </p:nvSpPr>
        <p:spPr>
          <a:xfrm xmlns:a="http://schemas.openxmlformats.org/drawingml/2006/main">
            <a:off x="685800" y="3276600"/>
            <a:ext cx="108204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55F46"/>
                </a:solidFill>
                <a:latin typeface="Arial"/>
                <a:ea typeface="Arial"/>
                <a:cs typeface="Arial"/>
              </a:defRPr>
            </a:pPr>
            <a:r>
              <a:rPr sz="3600" b="1">
                <a:solidFill>
                  <a:srgbClr val="155F46"/>
                </a:solidFill>
                <a:latin typeface="Arial"/>
                <a:ea typeface="Arial"/>
                <a:cs typeface="Arial"/>
              </a:rPr>
              <a:t>(22 + 22 + 20) / 3 ≈ 21.3 °C</a:t>
            </a:r>
          </a:p>
        </p:txBody>
      </p:sp>
      <p:sp>
        <p:nvSpPr>
          <p:cNvPr id="6" name="Mean of the three available readings. One reading is missing">
            <a:extLst xmlns:a="http://schemas.openxmlformats.org/drawingml/2006/main">
              <a:ext uri="{FF2B5EF4-FFF2-40B4-BE49-F238E27FC236}">
                <a16:creationId xmlns:a16="http://schemas.microsoft.com/office/drawing/2014/main" id="{210424FD-0ADD-4502-AB67-8FA5531E7711}"/>
              </a:ext>
            </a:extLst>
          </p:cNvPr>
          <p:cNvSpPr>
            <a:spLocks xmlns:a="http://schemas.openxmlformats.org/drawingml/2006/main" noGrp="1"/>
          </p:cNvSpPr>
          <p:nvPr/>
        </p:nvSpPr>
        <p:spPr>
          <a:xfrm xmlns:a="http://schemas.openxmlformats.org/drawingml/2006/main">
            <a:off x="685800" y="445770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42A24"/>
                </a:solidFill>
                <a:latin typeface="Arial"/>
                <a:ea typeface="Arial"/>
                <a:cs typeface="Arial"/>
              </a:defRPr>
            </a:pPr>
            <a:r>
              <a:rPr sz="2325" b="0">
                <a:solidFill>
                  <a:srgbClr val="142A24"/>
                </a:solidFill>
                <a:latin typeface="Arial"/>
                <a:ea typeface="Arial"/>
                <a:cs typeface="Arial"/>
              </a:rPr>
              <a:t>Mean of the three available readings. One reading is missing.</a:t>
            </a:r>
          </a:p>
        </p:txBody>
      </p:sp>
      <p:sp>
        <p:nvSpPr>
          <p:cNvPr id="7" name="This is a summary of this table, not an estimate of every pl">
            <a:extLst xmlns:a="http://schemas.openxmlformats.org/drawingml/2006/main">
              <a:ext uri="{FF2B5EF4-FFF2-40B4-BE49-F238E27FC236}">
                <a16:creationId xmlns:a16="http://schemas.microsoft.com/office/drawing/2014/main" id="{15A91BE8-B2F7-4349-A551-8BD2B6F3B6DA}"/>
              </a:ext>
            </a:extLst>
          </p:cNvPr>
          <p:cNvSpPr>
            <a:spLocks xmlns:a="http://schemas.openxmlformats.org/drawingml/2006/main" noGrp="1"/>
          </p:cNvSpPr>
          <p:nvPr/>
        </p:nvSpPr>
        <p:spPr>
          <a:xfrm xmlns:a="http://schemas.openxmlformats.org/drawingml/2006/main">
            <a:off x="685800" y="5476875"/>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42A24"/>
                </a:solidFill>
                <a:latin typeface="Arial"/>
                <a:ea typeface="Arial"/>
                <a:cs typeface="Arial"/>
              </a:defRPr>
            </a:pPr>
            <a:r>
              <a:rPr sz="2025" b="0">
                <a:solidFill>
                  <a:srgbClr val="142A24"/>
                </a:solidFill>
                <a:latin typeface="Arial"/>
                <a:ea typeface="Arial"/>
                <a:cs typeface="Arial"/>
              </a:rPr>
              <a:t>This is a summary of this table, not an estimate of every place in the room.</a:t>
            </a:r>
          </a:p>
        </p:txBody>
      </p:sp>
      <p:sp>
        <p:nvSpPr>
          <p:cNvPr id="8" name="Open course page">
            <a:extLst xmlns:a="http://schemas.openxmlformats.org/drawingml/2006/main">
              <a:ext uri="{FF2B5EF4-FFF2-40B4-BE49-F238E27FC236}">
                <a16:creationId xmlns:a16="http://schemas.microsoft.com/office/drawing/2014/main" id="{57E1194F-1615-45F3-96A7-EBBFA6F6FC6C}"/>
              </a:ext>
            </a:extLst>
          </p:cNvPr>
          <p:cNvSpPr>
            <a:spLocks xmlns:a="http://schemas.openxmlformats.org/drawingml/2006/main" noGrp="1"/>
          </p:cNvSpPr>
          <p:nvPr/>
        </p:nvSpPr>
        <p:spPr>
          <a:xfrm xmlns:a="http://schemas.openxmlformats.org/drawingml/2006/main">
            <a:off x="685800" y="6381750"/>
            <a:ext cx="571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55F46"/>
                </a:solidFill>
                <a:latin typeface="Arial"/>
                <a:ea typeface="Arial"/>
                <a:cs typeface="Arial"/>
              </a:defRPr>
            </a:pPr>
            <a:r>
              <a:rPr sz="1500" b="1">
                <a:solidFill>
                  <a:srgbClr val="155F46"/>
                </a:solidFill>
                <a:latin typeface="Arial"/>
                <a:ea typeface="Arial"/>
                <a:cs typeface="Arial"/>
                <a:hlinkClick xmlns:r="http://schemas.openxmlformats.org/officeDocument/2006/relationships" r:id="R1c3c2ae031da490e"/>
              </a:rPr>
              <a:t>Open course page</a:t>
            </a:r>
          </a:p>
        </p:txBody>
      </p:sp>
      <p:sp>
        <p:nvSpPr>
          <p:cNvPr id="9" name="24–28 min · 7 / 23">
            <a:extLst xmlns:a="http://schemas.openxmlformats.org/drawingml/2006/main">
              <a:ext uri="{FF2B5EF4-FFF2-40B4-BE49-F238E27FC236}">
                <a16:creationId xmlns:a16="http://schemas.microsoft.com/office/drawing/2014/main" id="{1D9B6979-3F0A-48D1-924E-8E3BDC6BAE45}"/>
              </a:ext>
            </a:extLst>
          </p:cNvPr>
          <p:cNvSpPr>
            <a:spLocks xmlns:a="http://schemas.openxmlformats.org/drawingml/2006/main" noGrp="1"/>
          </p:cNvSpPr>
          <p:nvPr/>
        </p:nvSpPr>
        <p:spPr>
          <a:xfrm xmlns:a="http://schemas.openxmlformats.org/drawingml/2006/main">
            <a:off x="8191500" y="6381750"/>
            <a:ext cx="3314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66C61"/>
                </a:solidFill>
                <a:latin typeface="Arial"/>
                <a:ea typeface="Arial"/>
                <a:cs typeface="Arial"/>
              </a:defRPr>
            </a:pPr>
            <a:r>
              <a:rPr sz="1500" b="0">
                <a:solidFill>
                  <a:srgbClr val="566C61"/>
                </a:solidFill>
                <a:latin typeface="Arial"/>
                <a:ea typeface="Arial"/>
                <a:cs typeface="Arial"/>
              </a:rPr>
              <a:t>24–28 min · 7 / 23</a:t>
            </a:r>
          </a:p>
        </p:txBody>
      </p:sp>
    </p:spTree>
    <p:extLst>
      <p:ext uri="{BB962C8B-B14F-4D97-AF65-F5344CB8AC3E}">
        <p14:creationId xmlns:p14="http://schemas.microsoft.com/office/powerpoint/2010/main" val="896273575"/>
      </p:ext>
    </p:extLst>
  </p:cSld>
</p:sld>
</file>

<file path=ppt/slides/slide8.xml><?xml version="1.0" encoding="utf-8"?>
<p:sld xmlns:p="http://schemas.openxmlformats.org/presentationml/2006/main">
  <p:cSld>
    <p:bg>
      <p:bgPr>
        <a:solidFill xmlns:a="http://schemas.openxmlformats.org/drawingml/2006/main">
          <a:srgbClr val="FFFEF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550B502-77EA-413D-AC34-875EFA23DFF4}"/>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5F46"/>
          </a:solidFill>
          <a:ln xmlns:a="http://schemas.openxmlformats.org/drawingml/2006/main" w="0">
            <a:noFill/>
          </a:ln>
        </p:spPr>
      </p:sp>
      <p:sp>
        <p:nvSpPr>
          <p:cNvPr id="2" name="1 · Practice · 9 minutes">
            <a:extLst xmlns:a="http://schemas.openxmlformats.org/drawingml/2006/main">
              <a:ext uri="{FF2B5EF4-FFF2-40B4-BE49-F238E27FC236}">
                <a16:creationId xmlns:a16="http://schemas.microsoft.com/office/drawing/2014/main" id="{4F8E03E5-F000-4E31-8B34-E6F2D58B1F5A}"/>
              </a:ext>
            </a:extLst>
          </p:cNvPr>
          <p:cNvSpPr>
            <a:spLocks xmlns:a="http://schemas.openxmlformats.org/drawingml/2006/main" noGrp="1"/>
          </p:cNvSpPr>
          <p:nvPr/>
        </p:nvSpPr>
        <p:spPr>
          <a:xfrm xmlns:a="http://schemas.openxmlformats.org/drawingml/2006/main">
            <a:off x="685800" y="323850"/>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1">
                <a:solidFill>
                  <a:srgbClr val="155F46"/>
                </a:solidFill>
                <a:latin typeface="Arial"/>
                <a:ea typeface="Arial"/>
                <a:cs typeface="Arial"/>
              </a:defRPr>
            </a:pPr>
            <a:r>
              <a:rPr sz="1575" b="1">
                <a:solidFill>
                  <a:srgbClr val="155F46"/>
                </a:solidFill>
                <a:latin typeface="Arial"/>
                <a:ea typeface="Arial"/>
                <a:cs typeface="Arial"/>
              </a:rPr>
              <a:t>1 · Practice · 9 minutes</a:t>
            </a:r>
          </a:p>
        </p:txBody>
      </p:sp>
      <p:sp>
        <p:nvSpPr>
          <p:cNvPr id="3" name="Your turn: change one reading">
            <a:extLst xmlns:a="http://schemas.openxmlformats.org/drawingml/2006/main">
              <a:ext uri="{FF2B5EF4-FFF2-40B4-BE49-F238E27FC236}">
                <a16:creationId xmlns:a16="http://schemas.microsoft.com/office/drawing/2014/main" id="{56D0C3A6-504A-4027-8022-1F88EC9765BC}"/>
              </a:ext>
            </a:extLst>
          </p:cNvPr>
          <p:cNvSpPr>
            <a:spLocks xmlns:a="http://schemas.openxmlformats.org/drawingml/2006/main" noGrp="1"/>
          </p:cNvSpPr>
          <p:nvPr/>
        </p:nvSpPr>
        <p:spPr>
          <a:xfrm xmlns:a="http://schemas.openxmlformats.org/drawingml/2006/main">
            <a:off x="685800" y="73342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142A24"/>
                </a:solidFill>
                <a:latin typeface="Arial"/>
                <a:ea typeface="Arial"/>
                <a:cs typeface="Arial"/>
              </a:defRPr>
            </a:pPr>
            <a:r>
              <a:rPr sz="3225" b="1">
                <a:solidFill>
                  <a:srgbClr val="142A24"/>
                </a:solidFill>
                <a:latin typeface="Arial"/>
                <a:ea typeface="Arial"/>
                <a:cs typeface="Arial"/>
              </a:rPr>
              <a:t>Your turn: change one reading</a:t>
            </a:r>
          </a:p>
        </p:txBody>
      </p:sp>
      <p:sp>
        <p:nvSpPr>
          <p:cNvPr id="4" name="Work in pairs in the first pandas notebook.">
            <a:extLst xmlns:a="http://schemas.openxmlformats.org/drawingml/2006/main">
              <a:ext uri="{FF2B5EF4-FFF2-40B4-BE49-F238E27FC236}">
                <a16:creationId xmlns:a16="http://schemas.microsoft.com/office/drawing/2014/main" id="{1FE55C16-CA8B-4F13-9F50-2A2547836F96}"/>
              </a:ext>
            </a:extLst>
          </p:cNvPr>
          <p:cNvSpPr>
            <a:spLocks xmlns:a="http://schemas.openxmlformats.org/drawingml/2006/main" noGrp="1"/>
          </p:cNvSpPr>
          <p:nvPr/>
        </p:nvSpPr>
        <p:spPr>
          <a:xfrm xmlns:a="http://schemas.openxmlformats.org/drawingml/2006/main">
            <a:off x="685800" y="1790700"/>
            <a:ext cx="10820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0">
                <a:solidFill>
                  <a:srgbClr val="142A24"/>
                </a:solidFill>
                <a:latin typeface="Arial"/>
                <a:ea typeface="Arial"/>
                <a:cs typeface="Arial"/>
              </a:defRPr>
            </a:pPr>
            <a:r>
              <a:rPr sz="2400" b="0">
                <a:solidFill>
                  <a:srgbClr val="142A24"/>
                </a:solidFill>
                <a:latin typeface="Arial"/>
                <a:ea typeface="Arial"/>
                <a:cs typeface="Arial"/>
              </a:rPr>
              <a:t>Work in pairs in the first pandas notebook.</a:t>
            </a:r>
          </a:p>
        </p:txBody>
      </p:sp>
      <p:sp>
        <p:nvSpPr>
          <p:cNvPr id="5" name="1. Make a copy of the original table.">
            <a:extLst xmlns:a="http://schemas.openxmlformats.org/drawingml/2006/main">
              <a:ext uri="{FF2B5EF4-FFF2-40B4-BE49-F238E27FC236}">
                <a16:creationId xmlns:a16="http://schemas.microsoft.com/office/drawing/2014/main" id="{3E0CF5AF-F730-4DB0-A545-03AB1890C623}"/>
              </a:ext>
            </a:extLst>
          </p:cNvPr>
          <p:cNvSpPr>
            <a:spLocks xmlns:a="http://schemas.openxmlformats.org/drawingml/2006/main" noGrp="1"/>
          </p:cNvSpPr>
          <p:nvPr/>
        </p:nvSpPr>
        <p:spPr>
          <a:xfrm xmlns:a="http://schemas.openxmlformats.org/drawingml/2006/main">
            <a:off x="685800" y="2647950"/>
            <a:ext cx="10820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0">
                <a:solidFill>
                  <a:srgbClr val="142A24"/>
                </a:solidFill>
                <a:latin typeface="Arial"/>
                <a:ea typeface="Arial"/>
                <a:cs typeface="Arial"/>
              </a:defRPr>
            </a:pPr>
            <a:r>
              <a:rPr sz="2400" b="0">
                <a:solidFill>
                  <a:srgbClr val="142A24"/>
                </a:solidFill>
                <a:latin typeface="Arial"/>
                <a:ea typeface="Arial"/>
                <a:cs typeface="Arial"/>
              </a:rPr>
              <a:t>1. Make a copy of the original table.</a:t>
            </a:r>
          </a:p>
        </p:txBody>
      </p:sp>
      <p:sp>
        <p:nvSpPr>
          <p:cNvPr id="6" name="2. Change C from 20 °C to 18 °C using .loc.">
            <a:extLst xmlns:a="http://schemas.openxmlformats.org/drawingml/2006/main">
              <a:ext uri="{FF2B5EF4-FFF2-40B4-BE49-F238E27FC236}">
                <a16:creationId xmlns:a16="http://schemas.microsoft.com/office/drawing/2014/main" id="{C76B929A-EA32-447E-A33B-C24F5014CA07}"/>
              </a:ext>
            </a:extLst>
          </p:cNvPr>
          <p:cNvSpPr>
            <a:spLocks xmlns:a="http://schemas.openxmlformats.org/drawingml/2006/main" noGrp="1"/>
          </p:cNvSpPr>
          <p:nvPr/>
        </p:nvSpPr>
        <p:spPr>
          <a:xfrm xmlns:a="http://schemas.openxmlformats.org/drawingml/2006/main">
            <a:off x="685800" y="3400425"/>
            <a:ext cx="10820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0">
                <a:solidFill>
                  <a:srgbClr val="142A24"/>
                </a:solidFill>
                <a:latin typeface="Arial"/>
                <a:ea typeface="Arial"/>
                <a:cs typeface="Arial"/>
              </a:defRPr>
            </a:pPr>
            <a:r>
              <a:rPr sz="2400" b="0">
                <a:solidFill>
                  <a:srgbClr val="142A24"/>
                </a:solidFill>
                <a:latin typeface="Arial"/>
                <a:ea typeface="Arial"/>
                <a:cs typeface="Arial"/>
              </a:rPr>
              <a:t>2. Change C from 20 °C to 18 °C using .loc.</a:t>
            </a:r>
          </a:p>
        </p:txBody>
      </p:sp>
      <p:sp>
        <p:nvSpPr>
          <p:cNvPr id="7" name="3. Recompute the Celsius column and the mean.">
            <a:extLst xmlns:a="http://schemas.openxmlformats.org/drawingml/2006/main">
              <a:ext uri="{FF2B5EF4-FFF2-40B4-BE49-F238E27FC236}">
                <a16:creationId xmlns:a16="http://schemas.microsoft.com/office/drawing/2014/main" id="{6EC9B745-E170-4E27-9ADB-C6E9A413A96D}"/>
              </a:ext>
            </a:extLst>
          </p:cNvPr>
          <p:cNvSpPr>
            <a:spLocks xmlns:a="http://schemas.openxmlformats.org/drawingml/2006/main" noGrp="1"/>
          </p:cNvSpPr>
          <p:nvPr/>
        </p:nvSpPr>
        <p:spPr>
          <a:xfrm xmlns:a="http://schemas.openxmlformats.org/drawingml/2006/main">
            <a:off x="685800" y="4152900"/>
            <a:ext cx="10820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0">
                <a:solidFill>
                  <a:srgbClr val="142A24"/>
                </a:solidFill>
                <a:latin typeface="Arial"/>
                <a:ea typeface="Arial"/>
                <a:cs typeface="Arial"/>
              </a:defRPr>
            </a:pPr>
            <a:r>
              <a:rPr sz="2400" b="0">
                <a:solidFill>
                  <a:srgbClr val="142A24"/>
                </a:solidFill>
                <a:latin typeface="Arial"/>
                <a:ea typeface="Arial"/>
                <a:cs typeface="Arial"/>
              </a:rPr>
              <a:t>3. Recompute the Celsius column and the mean.</a:t>
            </a:r>
          </a:p>
        </p:txBody>
      </p:sp>
      <p:sp>
        <p:nvSpPr>
          <p:cNvPr id="8" name="4. Report the mean, the available count and the missing coun">
            <a:extLst xmlns:a="http://schemas.openxmlformats.org/drawingml/2006/main">
              <a:ext uri="{FF2B5EF4-FFF2-40B4-BE49-F238E27FC236}">
                <a16:creationId xmlns:a16="http://schemas.microsoft.com/office/drawing/2014/main" id="{8513BB59-0FDE-483D-A7A3-6AE4F4CDA672}"/>
              </a:ext>
            </a:extLst>
          </p:cNvPr>
          <p:cNvSpPr>
            <a:spLocks xmlns:a="http://schemas.openxmlformats.org/drawingml/2006/main" noGrp="1"/>
          </p:cNvSpPr>
          <p:nvPr/>
        </p:nvSpPr>
        <p:spPr>
          <a:xfrm xmlns:a="http://schemas.openxmlformats.org/drawingml/2006/main">
            <a:off x="685800" y="4905375"/>
            <a:ext cx="10820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42A24"/>
                </a:solidFill>
                <a:latin typeface="Arial"/>
                <a:ea typeface="Arial"/>
                <a:cs typeface="Arial"/>
              </a:defRPr>
            </a:pPr>
            <a:r>
              <a:rPr sz="2325" b="0">
                <a:solidFill>
                  <a:srgbClr val="142A24"/>
                </a:solidFill>
                <a:latin typeface="Arial"/>
                <a:ea typeface="Arial"/>
                <a:cs typeface="Arial"/>
              </a:rPr>
              <a:t>4. Report the mean, the available count and the missing count.</a:t>
            </a:r>
          </a:p>
        </p:txBody>
      </p:sp>
      <p:sp>
        <p:nvSpPr>
          <p:cNvPr id="9" name="Open course page">
            <a:extLst xmlns:a="http://schemas.openxmlformats.org/drawingml/2006/main">
              <a:ext uri="{FF2B5EF4-FFF2-40B4-BE49-F238E27FC236}">
                <a16:creationId xmlns:a16="http://schemas.microsoft.com/office/drawing/2014/main" id="{17BDCC42-B0FC-4DC1-93A6-3E2395FFB9B9}"/>
              </a:ext>
            </a:extLst>
          </p:cNvPr>
          <p:cNvSpPr>
            <a:spLocks xmlns:a="http://schemas.openxmlformats.org/drawingml/2006/main" noGrp="1"/>
          </p:cNvSpPr>
          <p:nvPr/>
        </p:nvSpPr>
        <p:spPr>
          <a:xfrm xmlns:a="http://schemas.openxmlformats.org/drawingml/2006/main">
            <a:off x="685800" y="6381750"/>
            <a:ext cx="571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55F46"/>
                </a:solidFill>
                <a:latin typeface="Arial"/>
                <a:ea typeface="Arial"/>
                <a:cs typeface="Arial"/>
              </a:defRPr>
            </a:pPr>
            <a:r>
              <a:rPr sz="1500" b="1">
                <a:solidFill>
                  <a:srgbClr val="155F46"/>
                </a:solidFill>
                <a:latin typeface="Arial"/>
                <a:ea typeface="Arial"/>
                <a:cs typeface="Arial"/>
                <a:hlinkClick xmlns:r="http://schemas.openxmlformats.org/officeDocument/2006/relationships" r:id="R82aae375ea794f92"/>
              </a:rPr>
              <a:t>Open course page</a:t>
            </a:r>
          </a:p>
        </p:txBody>
      </p:sp>
      <p:sp>
        <p:nvSpPr>
          <p:cNvPr id="10" name="28–37 min · 8 / 23">
            <a:extLst xmlns:a="http://schemas.openxmlformats.org/drawingml/2006/main">
              <a:ext uri="{FF2B5EF4-FFF2-40B4-BE49-F238E27FC236}">
                <a16:creationId xmlns:a16="http://schemas.microsoft.com/office/drawing/2014/main" id="{1D5EB202-FF3E-44BD-B8D0-7290B1C6B620}"/>
              </a:ext>
            </a:extLst>
          </p:cNvPr>
          <p:cNvSpPr>
            <a:spLocks xmlns:a="http://schemas.openxmlformats.org/drawingml/2006/main" noGrp="1"/>
          </p:cNvSpPr>
          <p:nvPr/>
        </p:nvSpPr>
        <p:spPr>
          <a:xfrm xmlns:a="http://schemas.openxmlformats.org/drawingml/2006/main">
            <a:off x="8191500" y="6381750"/>
            <a:ext cx="3314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66C61"/>
                </a:solidFill>
                <a:latin typeface="Arial"/>
                <a:ea typeface="Arial"/>
                <a:cs typeface="Arial"/>
              </a:defRPr>
            </a:pPr>
            <a:r>
              <a:rPr sz="1500" b="0">
                <a:solidFill>
                  <a:srgbClr val="566C61"/>
                </a:solidFill>
                <a:latin typeface="Arial"/>
                <a:ea typeface="Arial"/>
                <a:cs typeface="Arial"/>
              </a:rPr>
              <a:t>28–37 min · 8 / 23</a:t>
            </a:r>
          </a:p>
        </p:txBody>
      </p:sp>
    </p:spTree>
    <p:extLst>
      <p:ext uri="{BB962C8B-B14F-4D97-AF65-F5344CB8AC3E}">
        <p14:creationId xmlns:p14="http://schemas.microsoft.com/office/powerpoint/2010/main" val="1238621961"/>
      </p:ext>
    </p:extLst>
  </p:cSld>
</p:sld>
</file>

<file path=ppt/slides/slide9.xml><?xml version="1.0" encoding="utf-8"?>
<p:sld xmlns:p="http://schemas.openxmlformats.org/presentationml/2006/main">
  <p:cSld>
    <p:bg>
      <p:bgPr>
        <a:solidFill xmlns:a="http://schemas.openxmlformats.org/drawingml/2006/main">
          <a:srgbClr val="FFFEFB"/>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8EEEDF1-F73E-4AB4-89EC-D2E118511D44}"/>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5F46"/>
          </a:solidFill>
          <a:ln xmlns:a="http://schemas.openxmlformats.org/drawingml/2006/main" w="0">
            <a:noFill/>
          </a:ln>
        </p:spPr>
      </p:sp>
      <p:sp>
        <p:nvSpPr>
          <p:cNvPr id="2" name="1 · Debrief">
            <a:extLst xmlns:a="http://schemas.openxmlformats.org/drawingml/2006/main">
              <a:ext uri="{FF2B5EF4-FFF2-40B4-BE49-F238E27FC236}">
                <a16:creationId xmlns:a16="http://schemas.microsoft.com/office/drawing/2014/main" id="{FC836BDF-D6BD-4177-A4C0-0DE1888A3B2C}"/>
              </a:ext>
            </a:extLst>
          </p:cNvPr>
          <p:cNvSpPr>
            <a:spLocks xmlns:a="http://schemas.openxmlformats.org/drawingml/2006/main" noGrp="1"/>
          </p:cNvSpPr>
          <p:nvPr/>
        </p:nvSpPr>
        <p:spPr>
          <a:xfrm xmlns:a="http://schemas.openxmlformats.org/drawingml/2006/main">
            <a:off x="685800" y="323850"/>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1">
                <a:solidFill>
                  <a:srgbClr val="155F46"/>
                </a:solidFill>
                <a:latin typeface="Arial"/>
                <a:ea typeface="Arial"/>
                <a:cs typeface="Arial"/>
              </a:defRPr>
            </a:pPr>
            <a:r>
              <a:rPr sz="1575" b="1">
                <a:solidFill>
                  <a:srgbClr val="155F46"/>
                </a:solidFill>
                <a:latin typeface="Arial"/>
                <a:ea typeface="Arial"/>
                <a:cs typeface="Arial"/>
              </a:rPr>
              <a:t>1 · Debrief</a:t>
            </a:r>
          </a:p>
        </p:txBody>
      </p:sp>
      <p:sp>
        <p:nvSpPr>
          <p:cNvPr id="3" name="Check the change, not only the final number">
            <a:extLst xmlns:a="http://schemas.openxmlformats.org/drawingml/2006/main">
              <a:ext uri="{FF2B5EF4-FFF2-40B4-BE49-F238E27FC236}">
                <a16:creationId xmlns:a16="http://schemas.microsoft.com/office/drawing/2014/main" id="{DC29A6D6-6E79-4C16-AFEB-FDE058CDDD99}"/>
              </a:ext>
            </a:extLst>
          </p:cNvPr>
          <p:cNvSpPr>
            <a:spLocks xmlns:a="http://schemas.openxmlformats.org/drawingml/2006/main" noGrp="1"/>
          </p:cNvSpPr>
          <p:nvPr/>
        </p:nvSpPr>
        <p:spPr>
          <a:xfrm xmlns:a="http://schemas.openxmlformats.org/drawingml/2006/main">
            <a:off x="685800" y="73342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142A24"/>
                </a:solidFill>
                <a:latin typeface="Arial"/>
                <a:ea typeface="Arial"/>
                <a:cs typeface="Arial"/>
              </a:defRPr>
            </a:pPr>
            <a:r>
              <a:rPr sz="3225" b="1">
                <a:solidFill>
                  <a:srgbClr val="142A24"/>
                </a:solidFill>
                <a:latin typeface="Arial"/>
                <a:ea typeface="Arial"/>
                <a:cs typeface="Arial"/>
              </a:rPr>
              <a:t>Check the change, not only the final number</a:t>
            </a:r>
          </a:p>
        </p:txBody>
      </p:sp>
      <p:sp>
        <p:nvSpPr>
          <p:cNvPr id="4" name="Code example">
            <a:extLst xmlns:a="http://schemas.openxmlformats.org/drawingml/2006/main">
              <a:ext uri="{FF2B5EF4-FFF2-40B4-BE49-F238E27FC236}">
                <a16:creationId xmlns:a16="http://schemas.microsoft.com/office/drawing/2014/main" id="{75B6CC9F-56BB-422E-947E-16392146FC45}"/>
              </a:ext>
            </a:extLst>
          </p:cNvPr>
          <p:cNvSpPr>
            <a:spLocks xmlns:a="http://schemas.openxmlformats.org/drawingml/2006/main" noGrp="1"/>
          </p:cNvSpPr>
          <p:nvPr/>
        </p:nvSpPr>
        <p:spPr>
          <a:xfrm xmlns:a="http://schemas.openxmlformats.org/drawingml/2006/main">
            <a:off x="685800" y="1790700"/>
            <a:ext cx="10820400" cy="1123950"/>
          </a:xfrm>
          <a:prstGeom xmlns:a="http://schemas.openxmlformats.org/drawingml/2006/main" prst="rect">
            <a:avLst/>
          </a:prstGeom>
          <a:solidFill xmlns:a="http://schemas.openxmlformats.org/drawingml/2006/main">
            <a:srgbClr val="F0F4F1"/>
          </a:solidFill>
          <a:ln xmlns:a="http://schemas.openxmlformats.org/drawingml/2006/main" w="0">
            <a:noFill/>
          </a:ln>
        </p:spPr>
        <p:txBody>
          <a:bodyPr xmlns:a="http://schemas.openxmlformats.org/drawingml/2006/main" wrap="none" lIns="152400" tIns="133350" rIns="152400" bIns="133350" anchor="t">
            <a:noAutofit/>
          </a:bodyPr>
          <a:lstStyle xmlns:a="http://schemas.openxmlformats.org/drawingml/2006/main"/>
          <a:p xmlns:a="http://schemas.openxmlformats.org/drawingml/2006/main">
            <a:pPr>
              <a:defRPr sz="2025" b="0">
                <a:solidFill>
                  <a:srgbClr val="142A24"/>
                </a:solidFill>
                <a:latin typeface="Menlo"/>
                <a:ea typeface="Menlo"/>
                <a:cs typeface="Menlo"/>
              </a:defRPr>
            </a:pPr>
            <a:r>
              <a:rPr sz="2025" b="0">
                <a:solidFill>
                  <a:srgbClr val="142A24"/>
                </a:solidFill>
                <a:latin typeface="Menlo"/>
                <a:ea typeface="Menlo"/>
                <a:cs typeface="Menlo"/>
              </a:rPr>
              <a:t>trial = measurements.copy()</a:t>
            </a:r>
          </a:p>
          <a:p xmlns:a="http://schemas.openxmlformats.org/drawingml/2006/main">
            <a:pPr>
              <a:defRPr sz="2025" b="0">
                <a:solidFill>
                  <a:srgbClr val="142A24"/>
                </a:solidFill>
                <a:latin typeface="Menlo"/>
                <a:ea typeface="Menlo"/>
                <a:cs typeface="Menlo"/>
              </a:defRPr>
            </a:pPr>
            <a:r>
              <a:rPr sz="2025" b="0">
                <a:solidFill>
                  <a:srgbClr val="142A24"/>
                </a:solidFill>
                <a:latin typeface="Menlo"/>
                <a:ea typeface="Menlo"/>
                <a:cs typeface="Menlo"/>
              </a:rPr>
              <a:t>trial.loc[trial["sensor"] == "C", "temperature"] = 18.0</a:t>
            </a:r>
          </a:p>
        </p:txBody>
      </p:sp>
      <p:sp>
        <p:nvSpPr>
          <p:cNvPr id="5" name="After converting trial to Celsius:">
            <a:extLst xmlns:a="http://schemas.openxmlformats.org/drawingml/2006/main">
              <a:ext uri="{FF2B5EF4-FFF2-40B4-BE49-F238E27FC236}">
                <a16:creationId xmlns:a16="http://schemas.microsoft.com/office/drawing/2014/main" id="{098ED807-AED8-4395-B7E2-7DFCD1FEC0A4}"/>
              </a:ext>
            </a:extLst>
          </p:cNvPr>
          <p:cNvSpPr>
            <a:spLocks xmlns:a="http://schemas.openxmlformats.org/drawingml/2006/main" noGrp="1"/>
          </p:cNvSpPr>
          <p:nvPr/>
        </p:nvSpPr>
        <p:spPr>
          <a:xfrm xmlns:a="http://schemas.openxmlformats.org/drawingml/2006/main">
            <a:off x="685800" y="3314700"/>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42A24"/>
                </a:solidFill>
                <a:latin typeface="Arial"/>
                <a:ea typeface="Arial"/>
                <a:cs typeface="Arial"/>
              </a:defRPr>
            </a:pPr>
            <a:r>
              <a:rPr sz="2325" b="0">
                <a:solidFill>
                  <a:srgbClr val="142A24"/>
                </a:solidFill>
                <a:latin typeface="Arial"/>
                <a:ea typeface="Arial"/>
                <a:cs typeface="Arial"/>
              </a:rPr>
              <a:t>After converting trial to Celsius:</a:t>
            </a:r>
          </a:p>
        </p:txBody>
      </p:sp>
      <p:sp>
        <p:nvSpPr>
          <p:cNvPr id="6" name="(22 + 22 + 18) / 3 ≈ 20.7 °C">
            <a:extLst xmlns:a="http://schemas.openxmlformats.org/drawingml/2006/main">
              <a:ext uri="{FF2B5EF4-FFF2-40B4-BE49-F238E27FC236}">
                <a16:creationId xmlns:a16="http://schemas.microsoft.com/office/drawing/2014/main" id="{8FA172B2-8D0B-4718-864E-A90119EB389B}"/>
              </a:ext>
            </a:extLst>
          </p:cNvPr>
          <p:cNvSpPr>
            <a:spLocks xmlns:a="http://schemas.openxmlformats.org/drawingml/2006/main" noGrp="1"/>
          </p:cNvSpPr>
          <p:nvPr/>
        </p:nvSpPr>
        <p:spPr>
          <a:xfrm xmlns:a="http://schemas.openxmlformats.org/drawingml/2006/main">
            <a:off x="685800" y="407670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75" b="1">
                <a:solidFill>
                  <a:srgbClr val="155F46"/>
                </a:solidFill>
                <a:latin typeface="Arial"/>
                <a:ea typeface="Arial"/>
                <a:cs typeface="Arial"/>
              </a:defRPr>
            </a:pPr>
            <a:r>
              <a:rPr sz="3375" b="1">
                <a:solidFill>
                  <a:srgbClr val="155F46"/>
                </a:solidFill>
                <a:latin typeface="Arial"/>
                <a:ea typeface="Arial"/>
                <a:cs typeface="Arial"/>
              </a:rPr>
              <a:t>(22 + 22 + 18) / 3 ≈ 20.7 °C</a:t>
            </a:r>
          </a:p>
        </p:txBody>
      </p:sp>
      <p:sp>
        <p:nvSpPr>
          <p:cNvPr id="7" name="Still 4 rows, 3 available values and 1 missing value.&#10;The or">
            <a:extLst xmlns:a="http://schemas.openxmlformats.org/drawingml/2006/main">
              <a:ext uri="{FF2B5EF4-FFF2-40B4-BE49-F238E27FC236}">
                <a16:creationId xmlns:a16="http://schemas.microsoft.com/office/drawing/2014/main" id="{3FB01AB4-45F0-45A8-B2CC-6F07EF9839AF}"/>
              </a:ext>
            </a:extLst>
          </p:cNvPr>
          <p:cNvSpPr>
            <a:spLocks xmlns:a="http://schemas.openxmlformats.org/drawingml/2006/main" noGrp="1"/>
          </p:cNvSpPr>
          <p:nvPr/>
        </p:nvSpPr>
        <p:spPr>
          <a:xfrm xmlns:a="http://schemas.openxmlformats.org/drawingml/2006/main">
            <a:off x="685800" y="5248275"/>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42A24"/>
                </a:solidFill>
                <a:latin typeface="Arial"/>
                <a:ea typeface="Arial"/>
                <a:cs typeface="Arial"/>
              </a:defRPr>
            </a:pPr>
            <a:r>
              <a:rPr sz="2175" b="0">
                <a:solidFill>
                  <a:srgbClr val="142A24"/>
                </a:solidFill>
                <a:latin typeface="Arial"/>
                <a:ea typeface="Arial"/>
                <a:cs typeface="Arial"/>
              </a:rPr>
              <a:t>Still 4 rows, 3 available values and 1 missing value.</a:t>
            </a:r>
          </a:p>
          <a:p xmlns:a="http://schemas.openxmlformats.org/drawingml/2006/main">
            <a:pPr>
              <a:defRPr sz="2175" b="0">
                <a:solidFill>
                  <a:srgbClr val="142A24"/>
                </a:solidFill>
                <a:latin typeface="Arial"/>
                <a:ea typeface="Arial"/>
                <a:cs typeface="Arial"/>
              </a:defRPr>
            </a:pPr>
            <a:r>
              <a:rPr sz="2175" b="0">
                <a:solidFill>
                  <a:srgbClr val="142A24"/>
                </a:solidFill>
                <a:latin typeface="Arial"/>
                <a:ea typeface="Arial"/>
                <a:cs typeface="Arial"/>
              </a:rPr>
              <a:t>The original table still contains 20 °C for C.</a:t>
            </a:r>
          </a:p>
        </p:txBody>
      </p:sp>
      <p:sp>
        <p:nvSpPr>
          <p:cNvPr id="8" name="Open course page">
            <a:extLst xmlns:a="http://schemas.openxmlformats.org/drawingml/2006/main">
              <a:ext uri="{FF2B5EF4-FFF2-40B4-BE49-F238E27FC236}">
                <a16:creationId xmlns:a16="http://schemas.microsoft.com/office/drawing/2014/main" id="{82168B71-3169-4513-8409-2CECFC377A55}"/>
              </a:ext>
            </a:extLst>
          </p:cNvPr>
          <p:cNvSpPr>
            <a:spLocks xmlns:a="http://schemas.openxmlformats.org/drawingml/2006/main" noGrp="1"/>
          </p:cNvSpPr>
          <p:nvPr/>
        </p:nvSpPr>
        <p:spPr>
          <a:xfrm xmlns:a="http://schemas.openxmlformats.org/drawingml/2006/main">
            <a:off x="685800" y="6381750"/>
            <a:ext cx="571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55F46"/>
                </a:solidFill>
                <a:latin typeface="Arial"/>
                <a:ea typeface="Arial"/>
                <a:cs typeface="Arial"/>
              </a:defRPr>
            </a:pPr>
            <a:r>
              <a:rPr sz="1500" b="1">
                <a:solidFill>
                  <a:srgbClr val="155F46"/>
                </a:solidFill>
                <a:latin typeface="Arial"/>
                <a:ea typeface="Arial"/>
                <a:cs typeface="Arial"/>
                <a:hlinkClick xmlns:r="http://schemas.openxmlformats.org/officeDocument/2006/relationships" r:id="R01f8808050fe4760"/>
              </a:rPr>
              <a:t>Open course page</a:t>
            </a:r>
          </a:p>
        </p:txBody>
      </p:sp>
      <p:sp>
        <p:nvSpPr>
          <p:cNvPr id="9" name="37–40 min · 9 / 23">
            <a:extLst xmlns:a="http://schemas.openxmlformats.org/drawingml/2006/main">
              <a:ext uri="{FF2B5EF4-FFF2-40B4-BE49-F238E27FC236}">
                <a16:creationId xmlns:a16="http://schemas.microsoft.com/office/drawing/2014/main" id="{5832A1DD-87A5-42C0-A438-E670A9D276A0}"/>
              </a:ext>
            </a:extLst>
          </p:cNvPr>
          <p:cNvSpPr>
            <a:spLocks xmlns:a="http://schemas.openxmlformats.org/drawingml/2006/main" noGrp="1"/>
          </p:cNvSpPr>
          <p:nvPr/>
        </p:nvSpPr>
        <p:spPr>
          <a:xfrm xmlns:a="http://schemas.openxmlformats.org/drawingml/2006/main">
            <a:off x="8191500" y="6381750"/>
            <a:ext cx="3314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66C61"/>
                </a:solidFill>
                <a:latin typeface="Arial"/>
                <a:ea typeface="Arial"/>
                <a:cs typeface="Arial"/>
              </a:defRPr>
            </a:pPr>
            <a:r>
              <a:rPr sz="1500" b="0">
                <a:solidFill>
                  <a:srgbClr val="566C61"/>
                </a:solidFill>
                <a:latin typeface="Arial"/>
                <a:ea typeface="Arial"/>
                <a:cs typeface="Arial"/>
              </a:rPr>
              <a:t>37–40 min · 9 / 23</a:t>
            </a:r>
          </a:p>
        </p:txBody>
      </p:sp>
    </p:spTree>
    <p:extLst>
      <p:ext uri="{BB962C8B-B14F-4D97-AF65-F5344CB8AC3E}">
        <p14:creationId xmlns:p14="http://schemas.microsoft.com/office/powerpoint/2010/main" val="931065751"/>
      </p:ext>
    </p:extLst>
  </p:cSld>
</p:sld>
</file>

<file path=ppt/slides/slide10.xml><?xml version="1.0" encoding="utf-8"?>
<p:sld xmlns:p="http://schemas.openxmlformats.org/presentationml/2006/main">
  <p:cSld>
    <p:bg>
      <p:bgPr>
        <a:solidFill xmlns:a="http://schemas.openxmlformats.org/drawingml/2006/main">
          <a:srgbClr val="FFFEFB"/>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EE2CFB9-77D6-423A-8FB9-4CC73DC9652C}"/>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5F46"/>
          </a:solidFill>
          <a:ln xmlns:a="http://schemas.openxmlformats.org/drawingml/2006/main" w="0">
            <a:noFill/>
          </a:ln>
        </p:spPr>
      </p:sp>
      <p:sp>
        <p:nvSpPr>
          <p:cNvPr id="2" name="2 · Groups, joins, and SQL">
            <a:extLst xmlns:a="http://schemas.openxmlformats.org/drawingml/2006/main">
              <a:ext uri="{FF2B5EF4-FFF2-40B4-BE49-F238E27FC236}">
                <a16:creationId xmlns:a16="http://schemas.microsoft.com/office/drawing/2014/main" id="{77713C76-68FE-4712-BFFF-2CE86470C4A4}"/>
              </a:ext>
            </a:extLst>
          </p:cNvPr>
          <p:cNvSpPr>
            <a:spLocks xmlns:a="http://schemas.openxmlformats.org/drawingml/2006/main" noGrp="1"/>
          </p:cNvSpPr>
          <p:nvPr/>
        </p:nvSpPr>
        <p:spPr>
          <a:xfrm xmlns:a="http://schemas.openxmlformats.org/drawingml/2006/main">
            <a:off x="685800" y="323850"/>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1">
                <a:solidFill>
                  <a:srgbClr val="155F46"/>
                </a:solidFill>
                <a:latin typeface="Arial"/>
                <a:ea typeface="Arial"/>
                <a:cs typeface="Arial"/>
              </a:defRPr>
            </a:pPr>
            <a:r>
              <a:rPr sz="1575" b="1">
                <a:solidFill>
                  <a:srgbClr val="155F46"/>
                </a:solidFill>
                <a:latin typeface="Arial"/>
                <a:ea typeface="Arial"/>
                <a:cs typeface="Arial"/>
              </a:rPr>
              <a:t>2 · Groups, joins, and SQL</a:t>
            </a:r>
          </a:p>
        </p:txBody>
      </p:sp>
      <p:sp>
        <p:nvSpPr>
          <p:cNvPr id="3" name="Group readings into one row per sensor">
            <a:extLst xmlns:a="http://schemas.openxmlformats.org/drawingml/2006/main">
              <a:ext uri="{FF2B5EF4-FFF2-40B4-BE49-F238E27FC236}">
                <a16:creationId xmlns:a16="http://schemas.microsoft.com/office/drawing/2014/main" id="{CE36C742-EAB0-423B-B22B-71A8E185286D}"/>
              </a:ext>
            </a:extLst>
          </p:cNvPr>
          <p:cNvSpPr>
            <a:spLocks xmlns:a="http://schemas.openxmlformats.org/drawingml/2006/main" noGrp="1"/>
          </p:cNvSpPr>
          <p:nvPr/>
        </p:nvSpPr>
        <p:spPr>
          <a:xfrm xmlns:a="http://schemas.openxmlformats.org/drawingml/2006/main">
            <a:off x="685800" y="73342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142A24"/>
                </a:solidFill>
                <a:latin typeface="Arial"/>
                <a:ea typeface="Arial"/>
                <a:cs typeface="Arial"/>
              </a:defRPr>
            </a:pPr>
            <a:r>
              <a:rPr sz="3225" b="1">
                <a:solidFill>
                  <a:srgbClr val="142A24"/>
                </a:solidFill>
                <a:latin typeface="Arial"/>
                <a:ea typeface="Arial"/>
                <a:cs typeface="Arial"/>
              </a:rPr>
              <a:t>Group readings into one row per sensor</a:t>
            </a:r>
          </a:p>
        </p:txBody>
      </p:sp>
      <p:sp>
        <p:nvSpPr>
          <p:cNvPr id="4" name="Add 11:00 readings: A = 24, B = 24, C = 22, D = 21 °C.">
            <a:extLst xmlns:a="http://schemas.openxmlformats.org/drawingml/2006/main">
              <a:ext uri="{FF2B5EF4-FFF2-40B4-BE49-F238E27FC236}">
                <a16:creationId xmlns:a16="http://schemas.microsoft.com/office/drawing/2014/main" id="{9DA5D4B4-F129-4526-8E0D-407F1F316F33}"/>
              </a:ext>
            </a:extLst>
          </p:cNvPr>
          <p:cNvSpPr>
            <a:spLocks xmlns:a="http://schemas.openxmlformats.org/drawingml/2006/main" noGrp="1"/>
          </p:cNvSpPr>
          <p:nvPr/>
        </p:nvSpPr>
        <p:spPr>
          <a:xfrm xmlns:a="http://schemas.openxmlformats.org/drawingml/2006/main">
            <a:off x="685800" y="1714500"/>
            <a:ext cx="108204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42A24"/>
                </a:solidFill>
                <a:latin typeface="Arial"/>
                <a:ea typeface="Arial"/>
                <a:cs typeface="Arial"/>
              </a:defRPr>
            </a:pPr>
            <a:r>
              <a:rPr sz="2175" b="0">
                <a:solidFill>
                  <a:srgbClr val="142A24"/>
                </a:solidFill>
                <a:latin typeface="Arial"/>
                <a:ea typeface="Arial"/>
                <a:cs typeface="Arial"/>
              </a:rPr>
              <a:t>Add 11:00 readings: A = 24, B = 24, C = 22, D = 21 °C.</a:t>
            </a:r>
          </a:p>
        </p:txBody>
      </p:sp>
      <p:graphicFrame>
        <p:nvGraphicFramePr>
          <p:cNvPr id="14" name=""/>
          <p:cNvGraphicFramePr/>
          <p:nvPr/>
        </p:nvGraphicFramePr>
        <p:xfrm>
          <a:off xmlns:a="http://schemas.openxmlformats.org/drawingml/2006/main" x="685800" y="2457450"/>
          <a:ext xmlns:a="http://schemas.openxmlformats.org/drawingml/2006/main" cx="5810250" cy="2667000"/>
        </p:xfrm>
        <a:graphic xmlns:a="http://schemas.openxmlformats.org/drawingml/2006/main">
          <a:graphicData uri="http://schemas.openxmlformats.org/drawingml/2006/table">
            <a:tbl>
              <a:tblPr firstRow="1" bandRow="0"/>
              <a:tblGrid>
                <a:gridCol w="1263098"/>
                <a:gridCol w="1263098"/>
                <a:gridCol w="1642027"/>
                <a:gridCol w="1642027"/>
              </a:tblGrid>
              <a:tr h="533400">
                <a:tc>
                  <a:txBody>
                    <a:bodyPr lIns="133350" tIns="85725" rIns="133350" bIns="85725">
                      <a:noAutofit/>
                    </a:bodyPr>
                    <a:lstStyle/>
                    <a:p>
                      <a:r>
                        <a:rPr sz="2100" b="1">
                          <a:solidFill>
                            <a:srgbClr val="FFFFFF"/>
                          </a:solidFill>
                          <a:latin typeface="Arial"/>
                          <a:ea typeface="Arial"/>
                          <a:cs typeface="Arial"/>
                        </a:rPr>
                        <a:t>sensor</a:t>
                      </a:r>
                    </a:p>
                  </a:txBody>
                  <a:tcPr marL="91440" marR="91440" marT="45720" marB="45720" anchor="ctr">
                    <a:solidFill>
                      <a:srgbClr val="155F46"/>
                    </a:solidFill>
                  </a:tcPr>
                </a:tc>
                <a:tc>
                  <a:txBody>
                    <a:bodyPr lIns="133350" tIns="85725" rIns="133350" bIns="85725">
                      <a:noAutofit/>
                    </a:bodyPr>
                    <a:lstStyle/>
                    <a:p>
                      <a:r>
                        <a:rPr sz="2100" b="1">
                          <a:solidFill>
                            <a:srgbClr val="FFFFFF"/>
                          </a:solidFill>
                          <a:latin typeface="Arial"/>
                          <a:ea typeface="Arial"/>
                          <a:cs typeface="Arial"/>
                        </a:rPr>
                        <a:t>rows</a:t>
                      </a:r>
                    </a:p>
                  </a:txBody>
                  <a:tcPr marL="91440" marR="91440" marT="45720" marB="45720" anchor="ctr">
                    <a:solidFill>
                      <a:srgbClr val="155F46"/>
                    </a:solidFill>
                  </a:tcPr>
                </a:tc>
                <a:tc>
                  <a:txBody>
                    <a:bodyPr lIns="133350" tIns="85725" rIns="133350" bIns="85725">
                      <a:noAutofit/>
                    </a:bodyPr>
                    <a:lstStyle/>
                    <a:p>
                      <a:r>
                        <a:rPr sz="2100" b="1">
                          <a:solidFill>
                            <a:srgbClr val="FFFFFF"/>
                          </a:solidFill>
                          <a:latin typeface="Arial"/>
                          <a:ea typeface="Arial"/>
                          <a:cs typeface="Arial"/>
                        </a:rPr>
                        <a:t>available</a:t>
                      </a:r>
                    </a:p>
                  </a:txBody>
                  <a:tcPr marL="91440" marR="91440" marT="45720" marB="45720" anchor="ctr">
                    <a:solidFill>
                      <a:srgbClr val="155F46"/>
                    </a:solidFill>
                  </a:tcPr>
                </a:tc>
                <a:tc>
                  <a:txBody>
                    <a:bodyPr lIns="133350" tIns="85725" rIns="133350" bIns="85725">
                      <a:noAutofit/>
                    </a:bodyPr>
                    <a:lstStyle/>
                    <a:p>
                      <a:r>
                        <a:rPr sz="2100" b="1">
                          <a:solidFill>
                            <a:srgbClr val="FFFFFF"/>
                          </a:solidFill>
                          <a:latin typeface="Arial"/>
                          <a:ea typeface="Arial"/>
                          <a:cs typeface="Arial"/>
                        </a:rPr>
                        <a:t>mean °C</a:t>
                      </a:r>
                    </a:p>
                  </a:txBody>
                  <a:tcPr marL="91440" marR="91440" marT="45720" marB="45720" anchor="ctr">
                    <a:solidFill>
                      <a:srgbClr val="155F46"/>
                    </a:solidFill>
                  </a:tcPr>
                </a:tc>
              </a:tr>
              <a:tr h="533400">
                <a:tc>
                  <a:txBody>
                    <a:bodyPr lIns="133350" tIns="85725" rIns="133350" bIns="85725">
                      <a:noAutofit/>
                    </a:bodyPr>
                    <a:lstStyle/>
                    <a:p>
                      <a:r>
                        <a:rPr sz="2100" b="0">
                          <a:solidFill>
                            <a:srgbClr val="142A24"/>
                          </a:solidFill>
                          <a:latin typeface="Arial"/>
                          <a:ea typeface="Arial"/>
                          <a:cs typeface="Arial"/>
                        </a:rPr>
                        <a:t>A</a:t>
                      </a:r>
                    </a:p>
                  </a:txBody>
                  <a:tcPr marL="91440" marR="91440" marT="45720" marB="45720" anchor="ctr">
                    <a:solidFill>
                      <a:srgbClr val="FFFEFB"/>
                    </a:solidFill>
                  </a:tcPr>
                </a:tc>
                <a:tc>
                  <a:txBody>
                    <a:bodyPr lIns="133350" tIns="85725" rIns="133350" bIns="85725">
                      <a:noAutofit/>
                    </a:bodyPr>
                    <a:lstStyle/>
                    <a:p>
                      <a:r>
                        <a:rPr sz="2100" b="0">
                          <a:solidFill>
                            <a:srgbClr val="142A24"/>
                          </a:solidFill>
                          <a:latin typeface="Arial"/>
                          <a:ea typeface="Arial"/>
                          <a:cs typeface="Arial"/>
                        </a:rPr>
                        <a:t>2</a:t>
                      </a:r>
                    </a:p>
                  </a:txBody>
                  <a:tcPr marL="91440" marR="91440" marT="45720" marB="45720" anchor="ctr">
                    <a:solidFill>
                      <a:srgbClr val="FFFEFB"/>
                    </a:solidFill>
                  </a:tcPr>
                </a:tc>
                <a:tc>
                  <a:txBody>
                    <a:bodyPr lIns="133350" tIns="85725" rIns="133350" bIns="85725">
                      <a:noAutofit/>
                    </a:bodyPr>
                    <a:lstStyle/>
                    <a:p>
                      <a:r>
                        <a:rPr sz="2100" b="0">
                          <a:solidFill>
                            <a:srgbClr val="142A24"/>
                          </a:solidFill>
                          <a:latin typeface="Arial"/>
                          <a:ea typeface="Arial"/>
                          <a:cs typeface="Arial"/>
                        </a:rPr>
                        <a:t>2</a:t>
                      </a:r>
                    </a:p>
                  </a:txBody>
                  <a:tcPr marL="91440" marR="91440" marT="45720" marB="45720" anchor="ctr">
                    <a:solidFill>
                      <a:srgbClr val="FFFEFB"/>
                    </a:solidFill>
                  </a:tcPr>
                </a:tc>
                <a:tc>
                  <a:txBody>
                    <a:bodyPr lIns="133350" tIns="85725" rIns="133350" bIns="85725">
                      <a:noAutofit/>
                    </a:bodyPr>
                    <a:lstStyle/>
                    <a:p>
                      <a:r>
                        <a:rPr sz="2100" b="0">
                          <a:solidFill>
                            <a:srgbClr val="142A24"/>
                          </a:solidFill>
                          <a:latin typeface="Arial"/>
                          <a:ea typeface="Arial"/>
                          <a:cs typeface="Arial"/>
                        </a:rPr>
                        <a:t>23</a:t>
                      </a:r>
                    </a:p>
                  </a:txBody>
                  <a:tcPr marL="91440" marR="91440" marT="45720" marB="45720" anchor="ctr">
                    <a:solidFill>
                      <a:srgbClr val="FFFEFB"/>
                    </a:solidFill>
                  </a:tcPr>
                </a:tc>
              </a:tr>
              <a:tr h="533400">
                <a:tc>
                  <a:txBody>
                    <a:bodyPr lIns="133350" tIns="85725" rIns="133350" bIns="85725">
                      <a:noAutofit/>
                    </a:bodyPr>
                    <a:lstStyle/>
                    <a:p>
                      <a:r>
                        <a:rPr sz="2100" b="0">
                          <a:solidFill>
                            <a:srgbClr val="142A24"/>
                          </a:solidFill>
                          <a:latin typeface="Arial"/>
                          <a:ea typeface="Arial"/>
                          <a:cs typeface="Arial"/>
                        </a:rPr>
                        <a:t>B</a:t>
                      </a:r>
                    </a:p>
                  </a:txBody>
                  <a:tcPr marL="91440" marR="91440" marT="45720" marB="45720" anchor="ctr">
                    <a:solidFill>
                      <a:srgbClr val="F0F4F1"/>
                    </a:solidFill>
                  </a:tcPr>
                </a:tc>
                <a:tc>
                  <a:txBody>
                    <a:bodyPr lIns="133350" tIns="85725" rIns="133350" bIns="85725">
                      <a:noAutofit/>
                    </a:bodyPr>
                    <a:lstStyle/>
                    <a:p>
                      <a:r>
                        <a:rPr sz="2100" b="0">
                          <a:solidFill>
                            <a:srgbClr val="142A24"/>
                          </a:solidFill>
                          <a:latin typeface="Arial"/>
                          <a:ea typeface="Arial"/>
                          <a:cs typeface="Arial"/>
                        </a:rPr>
                        <a:t>2</a:t>
                      </a:r>
                    </a:p>
                  </a:txBody>
                  <a:tcPr marL="91440" marR="91440" marT="45720" marB="45720" anchor="ctr">
                    <a:solidFill>
                      <a:srgbClr val="F0F4F1"/>
                    </a:solidFill>
                  </a:tcPr>
                </a:tc>
                <a:tc>
                  <a:txBody>
                    <a:bodyPr lIns="133350" tIns="85725" rIns="133350" bIns="85725">
                      <a:noAutofit/>
                    </a:bodyPr>
                    <a:lstStyle/>
                    <a:p>
                      <a:r>
                        <a:rPr sz="2100" b="0">
                          <a:solidFill>
                            <a:srgbClr val="142A24"/>
                          </a:solidFill>
                          <a:latin typeface="Arial"/>
                          <a:ea typeface="Arial"/>
                          <a:cs typeface="Arial"/>
                        </a:rPr>
                        <a:t>2</a:t>
                      </a:r>
                    </a:p>
                  </a:txBody>
                  <a:tcPr marL="91440" marR="91440" marT="45720" marB="45720" anchor="ctr">
                    <a:solidFill>
                      <a:srgbClr val="F0F4F1"/>
                    </a:solidFill>
                  </a:tcPr>
                </a:tc>
                <a:tc>
                  <a:txBody>
                    <a:bodyPr lIns="133350" tIns="85725" rIns="133350" bIns="85725">
                      <a:noAutofit/>
                    </a:bodyPr>
                    <a:lstStyle/>
                    <a:p>
                      <a:r>
                        <a:rPr sz="2100" b="0">
                          <a:solidFill>
                            <a:srgbClr val="142A24"/>
                          </a:solidFill>
                          <a:latin typeface="Arial"/>
                          <a:ea typeface="Arial"/>
                          <a:cs typeface="Arial"/>
                        </a:rPr>
                        <a:t>23</a:t>
                      </a:r>
                    </a:p>
                  </a:txBody>
                  <a:tcPr marL="91440" marR="91440" marT="45720" marB="45720" anchor="ctr">
                    <a:solidFill>
                      <a:srgbClr val="F0F4F1"/>
                    </a:solidFill>
                  </a:tcPr>
                </a:tc>
              </a:tr>
              <a:tr h="533400">
                <a:tc>
                  <a:txBody>
                    <a:bodyPr lIns="133350" tIns="85725" rIns="133350" bIns="85725">
                      <a:noAutofit/>
                    </a:bodyPr>
                    <a:lstStyle/>
                    <a:p>
                      <a:r>
                        <a:rPr sz="2100" b="0">
                          <a:solidFill>
                            <a:srgbClr val="142A24"/>
                          </a:solidFill>
                          <a:latin typeface="Arial"/>
                          <a:ea typeface="Arial"/>
                          <a:cs typeface="Arial"/>
                        </a:rPr>
                        <a:t>C</a:t>
                      </a:r>
                    </a:p>
                  </a:txBody>
                  <a:tcPr marL="91440" marR="91440" marT="45720" marB="45720" anchor="ctr">
                    <a:solidFill>
                      <a:srgbClr val="FFFEFB"/>
                    </a:solidFill>
                  </a:tcPr>
                </a:tc>
                <a:tc>
                  <a:txBody>
                    <a:bodyPr lIns="133350" tIns="85725" rIns="133350" bIns="85725">
                      <a:noAutofit/>
                    </a:bodyPr>
                    <a:lstStyle/>
                    <a:p>
                      <a:r>
                        <a:rPr sz="2100" b="0">
                          <a:solidFill>
                            <a:srgbClr val="142A24"/>
                          </a:solidFill>
                          <a:latin typeface="Arial"/>
                          <a:ea typeface="Arial"/>
                          <a:cs typeface="Arial"/>
                        </a:rPr>
                        <a:t>2</a:t>
                      </a:r>
                    </a:p>
                  </a:txBody>
                  <a:tcPr marL="91440" marR="91440" marT="45720" marB="45720" anchor="ctr">
                    <a:solidFill>
                      <a:srgbClr val="FFFEFB"/>
                    </a:solidFill>
                  </a:tcPr>
                </a:tc>
                <a:tc>
                  <a:txBody>
                    <a:bodyPr lIns="133350" tIns="85725" rIns="133350" bIns="85725">
                      <a:noAutofit/>
                    </a:bodyPr>
                    <a:lstStyle/>
                    <a:p>
                      <a:r>
                        <a:rPr sz="2100" b="0">
                          <a:solidFill>
                            <a:srgbClr val="142A24"/>
                          </a:solidFill>
                          <a:latin typeface="Arial"/>
                          <a:ea typeface="Arial"/>
                          <a:cs typeface="Arial"/>
                        </a:rPr>
                        <a:t>2</a:t>
                      </a:r>
                    </a:p>
                  </a:txBody>
                  <a:tcPr marL="91440" marR="91440" marT="45720" marB="45720" anchor="ctr">
                    <a:solidFill>
                      <a:srgbClr val="FFFEFB"/>
                    </a:solidFill>
                  </a:tcPr>
                </a:tc>
                <a:tc>
                  <a:txBody>
                    <a:bodyPr lIns="133350" tIns="85725" rIns="133350" bIns="85725">
                      <a:noAutofit/>
                    </a:bodyPr>
                    <a:lstStyle/>
                    <a:p>
                      <a:r>
                        <a:rPr sz="2100" b="0">
                          <a:solidFill>
                            <a:srgbClr val="142A24"/>
                          </a:solidFill>
                          <a:latin typeface="Arial"/>
                          <a:ea typeface="Arial"/>
                          <a:cs typeface="Arial"/>
                        </a:rPr>
                        <a:t>21</a:t>
                      </a:r>
                    </a:p>
                  </a:txBody>
                  <a:tcPr marL="91440" marR="91440" marT="45720" marB="45720" anchor="ctr">
                    <a:solidFill>
                      <a:srgbClr val="FFFEFB"/>
                    </a:solidFill>
                  </a:tcPr>
                </a:tc>
              </a:tr>
              <a:tr h="533400">
                <a:tc>
                  <a:txBody>
                    <a:bodyPr lIns="133350" tIns="85725" rIns="133350" bIns="85725">
                      <a:noAutofit/>
                    </a:bodyPr>
                    <a:lstStyle/>
                    <a:p>
                      <a:r>
                        <a:rPr sz="2100" b="0">
                          <a:solidFill>
                            <a:srgbClr val="142A24"/>
                          </a:solidFill>
                          <a:latin typeface="Arial"/>
                          <a:ea typeface="Arial"/>
                          <a:cs typeface="Arial"/>
                        </a:rPr>
                        <a:t>D</a:t>
                      </a:r>
                    </a:p>
                  </a:txBody>
                  <a:tcPr marL="91440" marR="91440" marT="45720" marB="45720" anchor="ctr">
                    <a:solidFill>
                      <a:srgbClr val="F0F4F1"/>
                    </a:solidFill>
                  </a:tcPr>
                </a:tc>
                <a:tc>
                  <a:txBody>
                    <a:bodyPr lIns="133350" tIns="85725" rIns="133350" bIns="85725">
                      <a:noAutofit/>
                    </a:bodyPr>
                    <a:lstStyle/>
                    <a:p>
                      <a:r>
                        <a:rPr sz="2100" b="0">
                          <a:solidFill>
                            <a:srgbClr val="142A24"/>
                          </a:solidFill>
                          <a:latin typeface="Arial"/>
                          <a:ea typeface="Arial"/>
                          <a:cs typeface="Arial"/>
                        </a:rPr>
                        <a:t>2</a:t>
                      </a:r>
                    </a:p>
                  </a:txBody>
                  <a:tcPr marL="91440" marR="91440" marT="45720" marB="45720" anchor="ctr">
                    <a:solidFill>
                      <a:srgbClr val="F0F4F1"/>
                    </a:solidFill>
                  </a:tcPr>
                </a:tc>
                <a:tc>
                  <a:txBody>
                    <a:bodyPr lIns="133350" tIns="85725" rIns="133350" bIns="85725">
                      <a:noAutofit/>
                    </a:bodyPr>
                    <a:lstStyle/>
                    <a:p>
                      <a:r>
                        <a:rPr sz="2100" b="0">
                          <a:solidFill>
                            <a:srgbClr val="142A24"/>
                          </a:solidFill>
                          <a:latin typeface="Arial"/>
                          <a:ea typeface="Arial"/>
                          <a:cs typeface="Arial"/>
                        </a:rPr>
                        <a:t>1</a:t>
                      </a:r>
                    </a:p>
                  </a:txBody>
                  <a:tcPr marL="91440" marR="91440" marT="45720" marB="45720" anchor="ctr">
                    <a:solidFill>
                      <a:srgbClr val="F0F4F1"/>
                    </a:solidFill>
                  </a:tcPr>
                </a:tc>
                <a:tc>
                  <a:txBody>
                    <a:bodyPr lIns="133350" tIns="85725" rIns="133350" bIns="85725">
                      <a:noAutofit/>
                    </a:bodyPr>
                    <a:lstStyle/>
                    <a:p>
                      <a:r>
                        <a:rPr sz="2100" b="0">
                          <a:solidFill>
                            <a:srgbClr val="142A24"/>
                          </a:solidFill>
                          <a:latin typeface="Arial"/>
                          <a:ea typeface="Arial"/>
                          <a:cs typeface="Arial"/>
                        </a:rPr>
                        <a:t>21</a:t>
                      </a:r>
                    </a:p>
                  </a:txBody>
                  <a:tcPr marL="91440" marR="91440" marT="45720" marB="45720" anchor="ctr">
                    <a:solidFill>
                      <a:srgbClr val="F0F4F1"/>
                    </a:solidFill>
                  </a:tcPr>
                </a:tc>
              </a:tr>
            </a:tbl>
          </a:graphicData>
        </a:graphic>
      </p:graphicFrame>
      <p:sp>
        <p:nvSpPr>
          <p:cNvPr id="6" name="Input: one sensor at one time.&#10;Output: one summary per senso">
            <a:extLst xmlns:a="http://schemas.openxmlformats.org/drawingml/2006/main">
              <a:ext uri="{FF2B5EF4-FFF2-40B4-BE49-F238E27FC236}">
                <a16:creationId xmlns:a16="http://schemas.microsoft.com/office/drawing/2014/main" id="{3A8E6A19-976D-4636-B51D-2C13266BF670}"/>
              </a:ext>
            </a:extLst>
          </p:cNvPr>
          <p:cNvSpPr>
            <a:spLocks xmlns:a="http://schemas.openxmlformats.org/drawingml/2006/main" noGrp="1"/>
          </p:cNvSpPr>
          <p:nvPr/>
        </p:nvSpPr>
        <p:spPr>
          <a:xfrm xmlns:a="http://schemas.openxmlformats.org/drawingml/2006/main">
            <a:off x="7048500" y="2686050"/>
            <a:ext cx="4419600" cy="2228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42A24"/>
                </a:solidFill>
                <a:latin typeface="Arial"/>
                <a:ea typeface="Arial"/>
                <a:cs typeface="Arial"/>
              </a:defRPr>
            </a:pPr>
            <a:r>
              <a:rPr sz="2100" b="0">
                <a:solidFill>
                  <a:srgbClr val="142A24"/>
                </a:solidFill>
                <a:latin typeface="Arial"/>
                <a:ea typeface="Arial"/>
                <a:cs typeface="Arial"/>
              </a:rPr>
              <a:t>Input: one sensor at one time.</a:t>
            </a:r>
          </a:p>
          <a:p xmlns:a="http://schemas.openxmlformats.org/drawingml/2006/main">
            <a:pPr>
              <a:defRPr sz="2100" b="0">
                <a:solidFill>
                  <a:srgbClr val="142A24"/>
                </a:solidFill>
                <a:latin typeface="Arial"/>
                <a:ea typeface="Arial"/>
                <a:cs typeface="Arial"/>
              </a:defRPr>
            </a:pPr>
            <a:r>
              <a:rPr sz="2100" b="0">
                <a:solidFill>
                  <a:srgbClr val="142A24"/>
                </a:solidFill>
                <a:latin typeface="Arial"/>
                <a:ea typeface="Arial"/>
                <a:cs typeface="Arial"/>
              </a:rPr>
              <a:t>Output: one summary per sensor.</a:t>
            </a:r>
          </a:p>
          <a:p xmlns:a="http://schemas.openxmlformats.org/drawingml/2006/main">
            <a:r>
              <a:t/>
            </a:r>
          </a:p>
          <a:p xmlns:a="http://schemas.openxmlformats.org/drawingml/2006/main">
            <a:pPr>
              <a:defRPr sz="2100" b="0">
                <a:solidFill>
                  <a:srgbClr val="142A24"/>
                </a:solidFill>
                <a:latin typeface="Arial"/>
                <a:ea typeface="Arial"/>
                <a:cs typeface="Arial"/>
              </a:defRPr>
            </a:pPr>
            <a:r>
              <a:rPr sz="2100" b="0">
                <a:solidFill>
                  <a:srgbClr val="142A24"/>
                </a:solidFill>
                <a:latin typeface="Arial"/>
                <a:ea typeface="Arial"/>
                <a:cs typeface="Arial"/>
              </a:rPr>
              <a:t>SQL connection: GROUP BY.</a:t>
            </a:r>
          </a:p>
        </p:txBody>
      </p:sp>
      <p:sp>
        <p:nvSpPr>
          <p:cNvPr id="7" name="Code example">
            <a:extLst xmlns:a="http://schemas.openxmlformats.org/drawingml/2006/main">
              <a:ext uri="{FF2B5EF4-FFF2-40B4-BE49-F238E27FC236}">
                <a16:creationId xmlns:a16="http://schemas.microsoft.com/office/drawing/2014/main" id="{F0F4D0C7-23A8-47DD-B566-2600E4CD6867}"/>
              </a:ext>
            </a:extLst>
          </p:cNvPr>
          <p:cNvSpPr>
            <a:spLocks xmlns:a="http://schemas.openxmlformats.org/drawingml/2006/main" noGrp="1"/>
          </p:cNvSpPr>
          <p:nvPr/>
        </p:nvSpPr>
        <p:spPr>
          <a:xfrm xmlns:a="http://schemas.openxmlformats.org/drawingml/2006/main">
            <a:off x="685800" y="5457825"/>
            <a:ext cx="10820400" cy="638175"/>
          </a:xfrm>
          <a:prstGeom xmlns:a="http://schemas.openxmlformats.org/drawingml/2006/main" prst="rect">
            <a:avLst/>
          </a:prstGeom>
          <a:solidFill xmlns:a="http://schemas.openxmlformats.org/drawingml/2006/main">
            <a:srgbClr val="F0F4F1"/>
          </a:solidFill>
          <a:ln xmlns:a="http://schemas.openxmlformats.org/drawingml/2006/main" w="0">
            <a:noFill/>
          </a:ln>
        </p:spPr>
        <p:txBody>
          <a:bodyPr xmlns:a="http://schemas.openxmlformats.org/drawingml/2006/main" wrap="none" lIns="152400" tIns="133350" rIns="152400" bIns="133350" anchor="t">
            <a:noAutofit/>
          </a:bodyPr>
          <a:lstStyle xmlns:a="http://schemas.openxmlformats.org/drawingml/2006/main"/>
          <a:p xmlns:a="http://schemas.openxmlformats.org/drawingml/2006/main">
            <a:pPr>
              <a:defRPr sz="2100" b="0">
                <a:solidFill>
                  <a:srgbClr val="142A24"/>
                </a:solidFill>
                <a:latin typeface="Menlo"/>
                <a:ea typeface="Menlo"/>
                <a:cs typeface="Menlo"/>
              </a:defRPr>
            </a:pPr>
            <a:r>
              <a:rPr sz="2100" b="0">
                <a:solidFill>
                  <a:srgbClr val="142A24"/>
                </a:solidFill>
                <a:latin typeface="Menlo"/>
                <a:ea typeface="Menlo"/>
                <a:cs typeface="Menlo"/>
              </a:rPr>
              <a:t>converted.groupby("sensor")["temperature_c"].mean()</a:t>
            </a:r>
          </a:p>
        </p:txBody>
      </p:sp>
      <p:sp>
        <p:nvSpPr>
          <p:cNvPr id="8" name="Open course page">
            <a:extLst xmlns:a="http://schemas.openxmlformats.org/drawingml/2006/main">
              <a:ext uri="{FF2B5EF4-FFF2-40B4-BE49-F238E27FC236}">
                <a16:creationId xmlns:a16="http://schemas.microsoft.com/office/drawing/2014/main" id="{342804BC-6254-4C89-9AE6-70C341110E23}"/>
              </a:ext>
            </a:extLst>
          </p:cNvPr>
          <p:cNvSpPr>
            <a:spLocks xmlns:a="http://schemas.openxmlformats.org/drawingml/2006/main" noGrp="1"/>
          </p:cNvSpPr>
          <p:nvPr/>
        </p:nvSpPr>
        <p:spPr>
          <a:xfrm xmlns:a="http://schemas.openxmlformats.org/drawingml/2006/main">
            <a:off x="685800" y="6381750"/>
            <a:ext cx="571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55F46"/>
                </a:solidFill>
                <a:latin typeface="Arial"/>
                <a:ea typeface="Arial"/>
                <a:cs typeface="Arial"/>
              </a:defRPr>
            </a:pPr>
            <a:r>
              <a:rPr sz="1500" b="1">
                <a:solidFill>
                  <a:srgbClr val="155F46"/>
                </a:solidFill>
                <a:latin typeface="Arial"/>
                <a:ea typeface="Arial"/>
                <a:cs typeface="Arial"/>
                <a:hlinkClick xmlns:r="http://schemas.openxmlformats.org/officeDocument/2006/relationships" r:id="Rd12646ce662d4599"/>
              </a:rPr>
              <a:t>Open course page</a:t>
            </a:r>
          </a:p>
        </p:txBody>
      </p:sp>
      <p:sp>
        <p:nvSpPr>
          <p:cNvPr id="9" name="40–46 min · 10 / 23">
            <a:extLst xmlns:a="http://schemas.openxmlformats.org/drawingml/2006/main">
              <a:ext uri="{FF2B5EF4-FFF2-40B4-BE49-F238E27FC236}">
                <a16:creationId xmlns:a16="http://schemas.microsoft.com/office/drawing/2014/main" id="{17602A73-70CD-45F2-99D7-BD86212EF3AF}"/>
              </a:ext>
            </a:extLst>
          </p:cNvPr>
          <p:cNvSpPr>
            <a:spLocks xmlns:a="http://schemas.openxmlformats.org/drawingml/2006/main" noGrp="1"/>
          </p:cNvSpPr>
          <p:nvPr/>
        </p:nvSpPr>
        <p:spPr>
          <a:xfrm xmlns:a="http://schemas.openxmlformats.org/drawingml/2006/main">
            <a:off x="8191500" y="6381750"/>
            <a:ext cx="3314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66C61"/>
                </a:solidFill>
                <a:latin typeface="Arial"/>
                <a:ea typeface="Arial"/>
                <a:cs typeface="Arial"/>
              </a:defRPr>
            </a:pPr>
            <a:r>
              <a:rPr sz="1500" b="0">
                <a:solidFill>
                  <a:srgbClr val="566C61"/>
                </a:solidFill>
                <a:latin typeface="Arial"/>
                <a:ea typeface="Arial"/>
                <a:cs typeface="Arial"/>
              </a:rPr>
              <a:t>40–46 min · 10 / 23</a:t>
            </a:r>
          </a:p>
        </p:txBody>
      </p:sp>
    </p:spTree>
    <p:extLst>
      <p:ext uri="{BB962C8B-B14F-4D97-AF65-F5344CB8AC3E}">
        <p14:creationId xmlns:p14="http://schemas.microsoft.com/office/powerpoint/2010/main" val="1093780606"/>
      </p:ext>
    </p:extLst>
  </p:cSld>
</p:sld>
</file>

<file path=ppt/slides/slide11.xml><?xml version="1.0" encoding="utf-8"?>
<p:sld xmlns:p="http://schemas.openxmlformats.org/presentationml/2006/main">
  <p:cSld>
    <p:bg>
      <p:bgPr>
        <a:solidFill xmlns:a="http://schemas.openxmlformats.org/drawingml/2006/main">
          <a:srgbClr val="FFFEFB"/>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EB392AD-B18E-4F70-B118-6433D366801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5F46"/>
          </a:solidFill>
          <a:ln xmlns:a="http://schemas.openxmlformats.org/drawingml/2006/main" w="0">
            <a:noFill/>
          </a:ln>
        </p:spPr>
      </p:sp>
      <p:sp>
        <p:nvSpPr>
          <p:cNvPr id="2" name="2 · Groups, joins, and SQL">
            <a:extLst xmlns:a="http://schemas.openxmlformats.org/drawingml/2006/main">
              <a:ext uri="{FF2B5EF4-FFF2-40B4-BE49-F238E27FC236}">
                <a16:creationId xmlns:a16="http://schemas.microsoft.com/office/drawing/2014/main" id="{B058351B-151B-4901-ACEF-4F4ADB305942}"/>
              </a:ext>
            </a:extLst>
          </p:cNvPr>
          <p:cNvSpPr>
            <a:spLocks xmlns:a="http://schemas.openxmlformats.org/drawingml/2006/main" noGrp="1"/>
          </p:cNvSpPr>
          <p:nvPr/>
        </p:nvSpPr>
        <p:spPr>
          <a:xfrm xmlns:a="http://schemas.openxmlformats.org/drawingml/2006/main">
            <a:off x="685800" y="323850"/>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1">
                <a:solidFill>
                  <a:srgbClr val="155F46"/>
                </a:solidFill>
                <a:latin typeface="Arial"/>
                <a:ea typeface="Arial"/>
                <a:cs typeface="Arial"/>
              </a:defRPr>
            </a:pPr>
            <a:r>
              <a:rPr sz="1575" b="1">
                <a:solidFill>
                  <a:srgbClr val="155F46"/>
                </a:solidFill>
                <a:latin typeface="Arial"/>
                <a:ea typeface="Arial"/>
                <a:cs typeface="Arial"/>
              </a:rPr>
              <a:t>2 · Groups, joins, and SQL</a:t>
            </a:r>
          </a:p>
        </p:txBody>
      </p:sp>
      <p:sp>
        <p:nvSpPr>
          <p:cNvPr id="3" name="Join each reading to its sensor description">
            <a:extLst xmlns:a="http://schemas.openxmlformats.org/drawingml/2006/main">
              <a:ext uri="{FF2B5EF4-FFF2-40B4-BE49-F238E27FC236}">
                <a16:creationId xmlns:a16="http://schemas.microsoft.com/office/drawing/2014/main" id="{BB22D4C6-0D3B-4943-9A61-0F79E96C1103}"/>
              </a:ext>
            </a:extLst>
          </p:cNvPr>
          <p:cNvSpPr>
            <a:spLocks xmlns:a="http://schemas.openxmlformats.org/drawingml/2006/main" noGrp="1"/>
          </p:cNvSpPr>
          <p:nvPr/>
        </p:nvSpPr>
        <p:spPr>
          <a:xfrm xmlns:a="http://schemas.openxmlformats.org/drawingml/2006/main">
            <a:off x="685800" y="73342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142A24"/>
                </a:solidFill>
                <a:latin typeface="Arial"/>
                <a:ea typeface="Arial"/>
                <a:cs typeface="Arial"/>
              </a:defRPr>
            </a:pPr>
            <a:r>
              <a:rPr sz="3225" b="1">
                <a:solidFill>
                  <a:srgbClr val="142A24"/>
                </a:solidFill>
                <a:latin typeface="Arial"/>
                <a:ea typeface="Arial"/>
                <a:cs typeface="Arial"/>
              </a:rPr>
              <a:t>Join each reading to its sensor description</a:t>
            </a:r>
          </a:p>
        </p:txBody>
      </p:sp>
      <p:graphicFrame>
        <p:nvGraphicFramePr>
          <p:cNvPr id="13" name=""/>
          <p:cNvGraphicFramePr/>
          <p:nvPr/>
        </p:nvGraphicFramePr>
        <p:xfrm>
          <a:off xmlns:a="http://schemas.openxmlformats.org/drawingml/2006/main" x="685800" y="1790700"/>
          <a:ext xmlns:a="http://schemas.openxmlformats.org/drawingml/2006/main" cx="3781425" cy="2552700"/>
        </p:xfrm>
        <a:graphic xmlns:a="http://schemas.openxmlformats.org/drawingml/2006/main">
          <a:graphicData uri="http://schemas.openxmlformats.org/drawingml/2006/table">
            <a:tbl>
              <a:tblPr firstRow="1" bandRow="0"/>
              <a:tblGrid>
                <a:gridCol w="1575594"/>
                <a:gridCol w="2205831"/>
              </a:tblGrid>
              <a:tr h="510540">
                <a:tc>
                  <a:txBody>
                    <a:bodyPr lIns="133350" tIns="85725" rIns="133350" bIns="85725">
                      <a:noAutofit/>
                    </a:bodyPr>
                    <a:lstStyle/>
                    <a:p>
                      <a:r>
                        <a:rPr sz="2025" b="1">
                          <a:solidFill>
                            <a:srgbClr val="FFFFFF"/>
                          </a:solidFill>
                          <a:latin typeface="Arial"/>
                          <a:ea typeface="Arial"/>
                          <a:cs typeface="Arial"/>
                        </a:rPr>
                        <a:t>sensor</a:t>
                      </a:r>
                    </a:p>
                  </a:txBody>
                  <a:tcPr marL="91440" marR="91440" marT="45720" marB="45720" anchor="ctr">
                    <a:solidFill>
                      <a:srgbClr val="155F46"/>
                    </a:solidFill>
                  </a:tcPr>
                </a:tc>
                <a:tc>
                  <a:txBody>
                    <a:bodyPr lIns="133350" tIns="85725" rIns="133350" bIns="85725">
                      <a:noAutofit/>
                    </a:bodyPr>
                    <a:lstStyle/>
                    <a:p>
                      <a:r>
                        <a:rPr sz="2025" b="1">
                          <a:solidFill>
                            <a:srgbClr val="FFFFFF"/>
                          </a:solidFill>
                          <a:latin typeface="Arial"/>
                          <a:ea typeface="Arial"/>
                          <a:cs typeface="Arial"/>
                        </a:rPr>
                        <a:t>position</a:t>
                      </a:r>
                    </a:p>
                  </a:txBody>
                  <a:tcPr marL="91440" marR="91440" marT="45720" marB="45720" anchor="ctr">
                    <a:solidFill>
                      <a:srgbClr val="155F46"/>
                    </a:solidFill>
                  </a:tcPr>
                </a:tc>
              </a:tr>
              <a:tr h="510540">
                <a:tc>
                  <a:txBody>
                    <a:bodyPr lIns="133350" tIns="85725" rIns="133350" bIns="85725">
                      <a:noAutofit/>
                    </a:bodyPr>
                    <a:lstStyle/>
                    <a:p>
                      <a:r>
                        <a:rPr sz="2025" b="0">
                          <a:solidFill>
                            <a:srgbClr val="142A24"/>
                          </a:solidFill>
                          <a:latin typeface="Arial"/>
                          <a:ea typeface="Arial"/>
                          <a:cs typeface="Arial"/>
                        </a:rPr>
                        <a:t>A</a:t>
                      </a:r>
                    </a:p>
                  </a:txBody>
                  <a:tcPr marL="91440" marR="91440" marT="45720" marB="45720" anchor="ctr">
                    <a:solidFill>
                      <a:srgbClr val="FFFEFB"/>
                    </a:solidFill>
                  </a:tcPr>
                </a:tc>
                <a:tc>
                  <a:txBody>
                    <a:bodyPr lIns="133350" tIns="85725" rIns="133350" bIns="85725">
                      <a:noAutofit/>
                    </a:bodyPr>
                    <a:lstStyle/>
                    <a:p>
                      <a:r>
                        <a:rPr sz="2025" b="0">
                          <a:solidFill>
                            <a:srgbClr val="142A24"/>
                          </a:solidFill>
                          <a:latin typeface="Arial"/>
                          <a:ea typeface="Arial"/>
                          <a:cs typeface="Arial"/>
                        </a:rPr>
                        <a:t>window</a:t>
                      </a:r>
                    </a:p>
                  </a:txBody>
                  <a:tcPr marL="91440" marR="91440" marT="45720" marB="45720" anchor="ctr">
                    <a:solidFill>
                      <a:srgbClr val="FFFEFB"/>
                    </a:solidFill>
                  </a:tcPr>
                </a:tc>
              </a:tr>
              <a:tr h="510540">
                <a:tc>
                  <a:txBody>
                    <a:bodyPr lIns="133350" tIns="85725" rIns="133350" bIns="85725">
                      <a:noAutofit/>
                    </a:bodyPr>
                    <a:lstStyle/>
                    <a:p>
                      <a:r>
                        <a:rPr sz="2025" b="0">
                          <a:solidFill>
                            <a:srgbClr val="142A24"/>
                          </a:solidFill>
                          <a:latin typeface="Arial"/>
                          <a:ea typeface="Arial"/>
                          <a:cs typeface="Arial"/>
                        </a:rPr>
                        <a:t>B</a:t>
                      </a:r>
                    </a:p>
                  </a:txBody>
                  <a:tcPr marL="91440" marR="91440" marT="45720" marB="45720" anchor="ctr">
                    <a:solidFill>
                      <a:srgbClr val="F0F4F1"/>
                    </a:solidFill>
                  </a:tcPr>
                </a:tc>
                <a:tc>
                  <a:txBody>
                    <a:bodyPr lIns="133350" tIns="85725" rIns="133350" bIns="85725">
                      <a:noAutofit/>
                    </a:bodyPr>
                    <a:lstStyle/>
                    <a:p>
                      <a:r>
                        <a:rPr sz="2025" b="0">
                          <a:solidFill>
                            <a:srgbClr val="142A24"/>
                          </a:solidFill>
                          <a:latin typeface="Arial"/>
                          <a:ea typeface="Arial"/>
                          <a:cs typeface="Arial"/>
                        </a:rPr>
                        <a:t>window</a:t>
                      </a:r>
                    </a:p>
                  </a:txBody>
                  <a:tcPr marL="91440" marR="91440" marT="45720" marB="45720" anchor="ctr">
                    <a:solidFill>
                      <a:srgbClr val="F0F4F1"/>
                    </a:solidFill>
                  </a:tcPr>
                </a:tc>
              </a:tr>
              <a:tr h="510540">
                <a:tc>
                  <a:txBody>
                    <a:bodyPr lIns="133350" tIns="85725" rIns="133350" bIns="85725">
                      <a:noAutofit/>
                    </a:bodyPr>
                    <a:lstStyle/>
                    <a:p>
                      <a:r>
                        <a:rPr sz="2025" b="0">
                          <a:solidFill>
                            <a:srgbClr val="142A24"/>
                          </a:solidFill>
                          <a:latin typeface="Arial"/>
                          <a:ea typeface="Arial"/>
                          <a:cs typeface="Arial"/>
                        </a:rPr>
                        <a:t>C</a:t>
                      </a:r>
                    </a:p>
                  </a:txBody>
                  <a:tcPr marL="91440" marR="91440" marT="45720" marB="45720" anchor="ctr">
                    <a:solidFill>
                      <a:srgbClr val="FFFEFB"/>
                    </a:solidFill>
                  </a:tcPr>
                </a:tc>
                <a:tc>
                  <a:txBody>
                    <a:bodyPr lIns="133350" tIns="85725" rIns="133350" bIns="85725">
                      <a:noAutofit/>
                    </a:bodyPr>
                    <a:lstStyle/>
                    <a:p>
                      <a:r>
                        <a:rPr sz="2025" b="0">
                          <a:solidFill>
                            <a:srgbClr val="142A24"/>
                          </a:solidFill>
                          <a:latin typeface="Arial"/>
                          <a:ea typeface="Arial"/>
                          <a:cs typeface="Arial"/>
                        </a:rPr>
                        <a:t>door</a:t>
                      </a:r>
                    </a:p>
                  </a:txBody>
                  <a:tcPr marL="91440" marR="91440" marT="45720" marB="45720" anchor="ctr">
                    <a:solidFill>
                      <a:srgbClr val="FFFEFB"/>
                    </a:solidFill>
                  </a:tcPr>
                </a:tc>
              </a:tr>
              <a:tr h="510540">
                <a:tc>
                  <a:txBody>
                    <a:bodyPr lIns="133350" tIns="85725" rIns="133350" bIns="85725">
                      <a:noAutofit/>
                    </a:bodyPr>
                    <a:lstStyle/>
                    <a:p>
                      <a:r>
                        <a:rPr sz="2025" b="0">
                          <a:solidFill>
                            <a:srgbClr val="142A24"/>
                          </a:solidFill>
                          <a:latin typeface="Arial"/>
                          <a:ea typeface="Arial"/>
                          <a:cs typeface="Arial"/>
                        </a:rPr>
                        <a:t>D</a:t>
                      </a:r>
                    </a:p>
                  </a:txBody>
                  <a:tcPr marL="91440" marR="91440" marT="45720" marB="45720" anchor="ctr">
                    <a:solidFill>
                      <a:srgbClr val="F0F4F1"/>
                    </a:solidFill>
                  </a:tcPr>
                </a:tc>
                <a:tc>
                  <a:txBody>
                    <a:bodyPr lIns="133350" tIns="85725" rIns="133350" bIns="85725">
                      <a:noAutofit/>
                    </a:bodyPr>
                    <a:lstStyle/>
                    <a:p>
                      <a:r>
                        <a:rPr sz="2025" b="0">
                          <a:solidFill>
                            <a:srgbClr val="142A24"/>
                          </a:solidFill>
                          <a:latin typeface="Arial"/>
                          <a:ea typeface="Arial"/>
                          <a:cs typeface="Arial"/>
                        </a:rPr>
                        <a:t>door</a:t>
                      </a:r>
                    </a:p>
                  </a:txBody>
                  <a:tcPr marL="91440" marR="91440" marT="45720" marB="45720" anchor="ctr">
                    <a:solidFill>
                      <a:srgbClr val="F0F4F1"/>
                    </a:solidFill>
                  </a:tcPr>
                </a:tc>
              </a:tr>
            </a:tbl>
          </a:graphicData>
        </a:graphic>
      </p:graphicFrame>
      <p:sp>
        <p:nvSpPr>
          <p:cNvPr id="5" name="8 readings + 4 sensor descriptions&#10;&#10;Expected result: 8 enric">
            <a:extLst xmlns:a="http://schemas.openxmlformats.org/drawingml/2006/main">
              <a:ext uri="{FF2B5EF4-FFF2-40B4-BE49-F238E27FC236}">
                <a16:creationId xmlns:a16="http://schemas.microsoft.com/office/drawing/2014/main" id="{0544F880-8FB2-48B1-B5B2-66BE34B1B065}"/>
              </a:ext>
            </a:extLst>
          </p:cNvPr>
          <p:cNvSpPr>
            <a:spLocks xmlns:a="http://schemas.openxmlformats.org/drawingml/2006/main" noGrp="1"/>
          </p:cNvSpPr>
          <p:nvPr/>
        </p:nvSpPr>
        <p:spPr>
          <a:xfrm xmlns:a="http://schemas.openxmlformats.org/drawingml/2006/main">
            <a:off x="5019675" y="1943100"/>
            <a:ext cx="64865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42A24"/>
                </a:solidFill>
                <a:latin typeface="Arial"/>
                <a:ea typeface="Arial"/>
                <a:cs typeface="Arial"/>
              </a:defRPr>
            </a:pPr>
            <a:r>
              <a:rPr sz="2325" b="0">
                <a:solidFill>
                  <a:srgbClr val="142A24"/>
                </a:solidFill>
                <a:latin typeface="Arial"/>
                <a:ea typeface="Arial"/>
                <a:cs typeface="Arial"/>
              </a:rPr>
              <a:t>8 readings + 4 sensor descriptions</a:t>
            </a:r>
          </a:p>
          <a:p xmlns:a="http://schemas.openxmlformats.org/drawingml/2006/main">
            <a:r>
              <a:t/>
            </a:r>
          </a:p>
          <a:p xmlns:a="http://schemas.openxmlformats.org/drawingml/2006/main">
            <a:pPr>
              <a:defRPr sz="2325" b="0">
                <a:solidFill>
                  <a:srgbClr val="142A24"/>
                </a:solidFill>
                <a:latin typeface="Arial"/>
                <a:ea typeface="Arial"/>
                <a:cs typeface="Arial"/>
              </a:defRPr>
            </a:pPr>
            <a:r>
              <a:rPr sz="2325" b="0">
                <a:solidFill>
                  <a:srgbClr val="142A24"/>
                </a:solidFill>
                <a:latin typeface="Arial"/>
                <a:ea typeface="Arial"/>
                <a:cs typeface="Arial"/>
              </a:rPr>
              <a:t>Expected result: 8 enriched readings.</a:t>
            </a:r>
          </a:p>
        </p:txBody>
      </p:sp>
      <p:sp>
        <p:nvSpPr>
          <p:cNvPr id="6" name="merge corresponds to a SQL JOIN.&#10;Here: many readings, one de">
            <a:extLst xmlns:a="http://schemas.openxmlformats.org/drawingml/2006/main">
              <a:ext uri="{FF2B5EF4-FFF2-40B4-BE49-F238E27FC236}">
                <a16:creationId xmlns:a16="http://schemas.microsoft.com/office/drawing/2014/main" id="{47B6341B-73B2-4050-981F-B748BCC0EF29}"/>
              </a:ext>
            </a:extLst>
          </p:cNvPr>
          <p:cNvSpPr>
            <a:spLocks xmlns:a="http://schemas.openxmlformats.org/drawingml/2006/main" noGrp="1"/>
          </p:cNvSpPr>
          <p:nvPr/>
        </p:nvSpPr>
        <p:spPr>
          <a:xfrm xmlns:a="http://schemas.openxmlformats.org/drawingml/2006/main">
            <a:off x="5019675" y="3543300"/>
            <a:ext cx="64865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42A24"/>
                </a:solidFill>
                <a:latin typeface="Arial"/>
                <a:ea typeface="Arial"/>
                <a:cs typeface="Arial"/>
              </a:defRPr>
            </a:pPr>
            <a:r>
              <a:rPr sz="2025" b="0">
                <a:solidFill>
                  <a:srgbClr val="142A24"/>
                </a:solidFill>
                <a:latin typeface="Arial"/>
                <a:ea typeface="Arial"/>
                <a:cs typeface="Arial"/>
              </a:rPr>
              <a:t>merge corresponds to a SQL JOIN.</a:t>
            </a:r>
          </a:p>
          <a:p xmlns:a="http://schemas.openxmlformats.org/drawingml/2006/main">
            <a:pPr>
              <a:defRPr sz="2025" b="0">
                <a:solidFill>
                  <a:srgbClr val="142A24"/>
                </a:solidFill>
                <a:latin typeface="Arial"/>
                <a:ea typeface="Arial"/>
                <a:cs typeface="Arial"/>
              </a:defRPr>
            </a:pPr>
            <a:r>
              <a:rPr sz="2025" b="0">
                <a:solidFill>
                  <a:srgbClr val="142A24"/>
                </a:solidFill>
                <a:latin typeface="Arial"/>
                <a:ea typeface="Arial"/>
                <a:cs typeface="Arial"/>
              </a:rPr>
              <a:t>Here: many readings, one description per sensor.</a:t>
            </a:r>
          </a:p>
        </p:txBody>
      </p:sp>
      <p:sp>
        <p:nvSpPr>
          <p:cNvPr id="7" name="Code example">
            <a:extLst xmlns:a="http://schemas.openxmlformats.org/drawingml/2006/main">
              <a:ext uri="{FF2B5EF4-FFF2-40B4-BE49-F238E27FC236}">
                <a16:creationId xmlns:a16="http://schemas.microsoft.com/office/drawing/2014/main" id="{838835D2-8E79-4C7B-97FF-736E0257F2C9}"/>
              </a:ext>
            </a:extLst>
          </p:cNvPr>
          <p:cNvSpPr>
            <a:spLocks xmlns:a="http://schemas.openxmlformats.org/drawingml/2006/main" noGrp="1"/>
          </p:cNvSpPr>
          <p:nvPr/>
        </p:nvSpPr>
        <p:spPr>
          <a:xfrm xmlns:a="http://schemas.openxmlformats.org/drawingml/2006/main">
            <a:off x="685800" y="4648200"/>
            <a:ext cx="10820400" cy="1457325"/>
          </a:xfrm>
          <a:prstGeom xmlns:a="http://schemas.openxmlformats.org/drawingml/2006/main" prst="rect">
            <a:avLst/>
          </a:prstGeom>
          <a:solidFill xmlns:a="http://schemas.openxmlformats.org/drawingml/2006/main">
            <a:srgbClr val="F0F4F1"/>
          </a:solidFill>
          <a:ln xmlns:a="http://schemas.openxmlformats.org/drawingml/2006/main" w="0">
            <a:noFill/>
          </a:ln>
        </p:spPr>
        <p:txBody>
          <a:bodyPr xmlns:a="http://schemas.openxmlformats.org/drawingml/2006/main" wrap="none" lIns="152400" tIns="133350" rIns="152400" bIns="133350" anchor="t">
            <a:noAutofit/>
          </a:bodyPr>
          <a:lstStyle xmlns:a="http://schemas.openxmlformats.org/drawingml/2006/main"/>
          <a:p xmlns:a="http://schemas.openxmlformats.org/drawingml/2006/main">
            <a:pPr>
              <a:defRPr sz="2025" b="0">
                <a:solidFill>
                  <a:srgbClr val="142A24"/>
                </a:solidFill>
                <a:latin typeface="Menlo"/>
                <a:ea typeface="Menlo"/>
                <a:cs typeface="Menlo"/>
              </a:defRPr>
            </a:pPr>
            <a:r>
              <a:rPr sz="2025" b="0">
                <a:solidFill>
                  <a:srgbClr val="142A24"/>
                </a:solidFill>
                <a:latin typeface="Menlo"/>
                <a:ea typeface="Menlo"/>
                <a:cs typeface="Menlo"/>
              </a:rPr>
              <a:t>joined = converted.merge(</a:t>
            </a:r>
          </a:p>
          <a:p xmlns:a="http://schemas.openxmlformats.org/drawingml/2006/main">
            <a:pPr>
              <a:defRPr sz="2025" b="0">
                <a:solidFill>
                  <a:srgbClr val="142A24"/>
                </a:solidFill>
                <a:latin typeface="Menlo"/>
                <a:ea typeface="Menlo"/>
                <a:cs typeface="Menlo"/>
              </a:defRPr>
            </a:pPr>
            <a:r>
              <a:rPr sz="2025" b="0">
                <a:solidFill>
                  <a:srgbClr val="142A24"/>
                </a:solidFill>
                <a:latin typeface="Menlo"/>
                <a:ea typeface="Menlo"/>
                <a:cs typeface="Menlo"/>
              </a:rPr>
              <a:t>    sensors, on="sensor", how="left",</a:t>
            </a:r>
          </a:p>
          <a:p xmlns:a="http://schemas.openxmlformats.org/drawingml/2006/main">
            <a:pPr>
              <a:defRPr sz="2025" b="0">
                <a:solidFill>
                  <a:srgbClr val="142A24"/>
                </a:solidFill>
                <a:latin typeface="Menlo"/>
                <a:ea typeface="Menlo"/>
                <a:cs typeface="Menlo"/>
              </a:defRPr>
            </a:pPr>
            <a:r>
              <a:rPr sz="2025" b="0">
                <a:solidFill>
                  <a:srgbClr val="142A24"/>
                </a:solidFill>
                <a:latin typeface="Menlo"/>
                <a:ea typeface="Menlo"/>
                <a:cs typeface="Menlo"/>
              </a:rPr>
              <a:t>    validate="many_to_one", indicator=True</a:t>
            </a:r>
          </a:p>
          <a:p xmlns:a="http://schemas.openxmlformats.org/drawingml/2006/main">
            <a:pPr>
              <a:defRPr sz="2025" b="0">
                <a:solidFill>
                  <a:srgbClr val="142A24"/>
                </a:solidFill>
                <a:latin typeface="Menlo"/>
                <a:ea typeface="Menlo"/>
                <a:cs typeface="Menlo"/>
              </a:defRPr>
            </a:pPr>
            <a:r>
              <a:rPr sz="2025" b="0">
                <a:solidFill>
                  <a:srgbClr val="142A24"/>
                </a:solidFill>
                <a:latin typeface="Menlo"/>
                <a:ea typeface="Menlo"/>
                <a:cs typeface="Menlo"/>
              </a:rPr>
              <a:t>)</a:t>
            </a:r>
          </a:p>
        </p:txBody>
      </p:sp>
      <p:sp>
        <p:nvSpPr>
          <p:cNvPr id="8" name="Open course page">
            <a:extLst xmlns:a="http://schemas.openxmlformats.org/drawingml/2006/main">
              <a:ext uri="{FF2B5EF4-FFF2-40B4-BE49-F238E27FC236}">
                <a16:creationId xmlns:a16="http://schemas.microsoft.com/office/drawing/2014/main" id="{F96E4CAE-D92E-453D-9544-F8543B42C241}"/>
              </a:ext>
            </a:extLst>
          </p:cNvPr>
          <p:cNvSpPr>
            <a:spLocks xmlns:a="http://schemas.openxmlformats.org/drawingml/2006/main" noGrp="1"/>
          </p:cNvSpPr>
          <p:nvPr/>
        </p:nvSpPr>
        <p:spPr>
          <a:xfrm xmlns:a="http://schemas.openxmlformats.org/drawingml/2006/main">
            <a:off x="685800" y="6381750"/>
            <a:ext cx="571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55F46"/>
                </a:solidFill>
                <a:latin typeface="Arial"/>
                <a:ea typeface="Arial"/>
                <a:cs typeface="Arial"/>
              </a:defRPr>
            </a:pPr>
            <a:r>
              <a:rPr sz="1500" b="1">
                <a:solidFill>
                  <a:srgbClr val="155F46"/>
                </a:solidFill>
                <a:latin typeface="Arial"/>
                <a:ea typeface="Arial"/>
                <a:cs typeface="Arial"/>
                <a:hlinkClick xmlns:r="http://schemas.openxmlformats.org/officeDocument/2006/relationships" r:id="Rf8a9253851984053"/>
              </a:rPr>
              <a:t>Open course page</a:t>
            </a:r>
          </a:p>
        </p:txBody>
      </p:sp>
      <p:sp>
        <p:nvSpPr>
          <p:cNvPr id="9" name="46–53 min · 11 / 23">
            <a:extLst xmlns:a="http://schemas.openxmlformats.org/drawingml/2006/main">
              <a:ext uri="{FF2B5EF4-FFF2-40B4-BE49-F238E27FC236}">
                <a16:creationId xmlns:a16="http://schemas.microsoft.com/office/drawing/2014/main" id="{C335397B-F0B5-4170-9AF5-9F2730FAE151}"/>
              </a:ext>
            </a:extLst>
          </p:cNvPr>
          <p:cNvSpPr>
            <a:spLocks xmlns:a="http://schemas.openxmlformats.org/drawingml/2006/main" noGrp="1"/>
          </p:cNvSpPr>
          <p:nvPr/>
        </p:nvSpPr>
        <p:spPr>
          <a:xfrm xmlns:a="http://schemas.openxmlformats.org/drawingml/2006/main">
            <a:off x="8191500" y="6381750"/>
            <a:ext cx="3314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66C61"/>
                </a:solidFill>
                <a:latin typeface="Arial"/>
                <a:ea typeface="Arial"/>
                <a:cs typeface="Arial"/>
              </a:defRPr>
            </a:pPr>
            <a:r>
              <a:rPr sz="1500" b="0">
                <a:solidFill>
                  <a:srgbClr val="566C61"/>
                </a:solidFill>
                <a:latin typeface="Arial"/>
                <a:ea typeface="Arial"/>
                <a:cs typeface="Arial"/>
              </a:rPr>
              <a:t>46–53 min · 11 / 23</a:t>
            </a:r>
          </a:p>
        </p:txBody>
      </p:sp>
    </p:spTree>
    <p:extLst>
      <p:ext uri="{BB962C8B-B14F-4D97-AF65-F5344CB8AC3E}">
        <p14:creationId xmlns:p14="http://schemas.microsoft.com/office/powerpoint/2010/main" val="1359500877"/>
      </p:ext>
    </p:extLst>
  </p:cSld>
</p:sld>
</file>

<file path=ppt/slides/slide12.xml><?xml version="1.0" encoding="utf-8"?>
<p:sld xmlns:p="http://schemas.openxmlformats.org/presentationml/2006/main">
  <p:cSld>
    <p:bg>
      <p:bgPr>
        <a:solidFill xmlns:a="http://schemas.openxmlformats.org/drawingml/2006/main">
          <a:srgbClr val="FFFEF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49780B5-6DA7-4B82-866C-2FF07B61ECEB}"/>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5F46"/>
          </a:solidFill>
          <a:ln xmlns:a="http://schemas.openxmlformats.org/drawingml/2006/main" w="0">
            <a:noFill/>
          </a:ln>
        </p:spPr>
      </p:sp>
      <p:sp>
        <p:nvSpPr>
          <p:cNvPr id="2" name="2 · Pair discussion">
            <a:extLst xmlns:a="http://schemas.openxmlformats.org/drawingml/2006/main">
              <a:ext uri="{FF2B5EF4-FFF2-40B4-BE49-F238E27FC236}">
                <a16:creationId xmlns:a16="http://schemas.microsoft.com/office/drawing/2014/main" id="{1DCE1B3D-4195-4819-AB13-97B404BE7ED4}"/>
              </a:ext>
            </a:extLst>
          </p:cNvPr>
          <p:cNvSpPr>
            <a:spLocks xmlns:a="http://schemas.openxmlformats.org/drawingml/2006/main" noGrp="1"/>
          </p:cNvSpPr>
          <p:nvPr/>
        </p:nvSpPr>
        <p:spPr>
          <a:xfrm xmlns:a="http://schemas.openxmlformats.org/drawingml/2006/main">
            <a:off x="685800" y="323850"/>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1">
                <a:solidFill>
                  <a:srgbClr val="155F46"/>
                </a:solidFill>
                <a:latin typeface="Arial"/>
                <a:ea typeface="Arial"/>
                <a:cs typeface="Arial"/>
              </a:defRPr>
            </a:pPr>
            <a:r>
              <a:rPr sz="1575" b="1">
                <a:solidFill>
                  <a:srgbClr val="155F46"/>
                </a:solidFill>
                <a:latin typeface="Arial"/>
                <a:ea typeface="Arial"/>
                <a:cs typeface="Arial"/>
              </a:rPr>
              <a:t>2 · Pair discussion</a:t>
            </a:r>
          </a:p>
        </p:txBody>
      </p:sp>
      <p:sp>
        <p:nvSpPr>
          <p:cNvPr id="3" name="Predict two different join problems">
            <a:extLst xmlns:a="http://schemas.openxmlformats.org/drawingml/2006/main">
              <a:ext uri="{FF2B5EF4-FFF2-40B4-BE49-F238E27FC236}">
                <a16:creationId xmlns:a16="http://schemas.microsoft.com/office/drawing/2014/main" id="{36640ADD-DE96-4D06-925F-E3C501EA4940}"/>
              </a:ext>
            </a:extLst>
          </p:cNvPr>
          <p:cNvSpPr>
            <a:spLocks xmlns:a="http://schemas.openxmlformats.org/drawingml/2006/main" noGrp="1"/>
          </p:cNvSpPr>
          <p:nvPr/>
        </p:nvSpPr>
        <p:spPr>
          <a:xfrm xmlns:a="http://schemas.openxmlformats.org/drawingml/2006/main">
            <a:off x="685800" y="73342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142A24"/>
                </a:solidFill>
                <a:latin typeface="Arial"/>
                <a:ea typeface="Arial"/>
                <a:cs typeface="Arial"/>
              </a:defRPr>
            </a:pPr>
            <a:r>
              <a:rPr sz="3225" b="1">
                <a:solidFill>
                  <a:srgbClr val="142A24"/>
                </a:solidFill>
                <a:latin typeface="Arial"/>
                <a:ea typeface="Arial"/>
                <a:cs typeface="Arial"/>
              </a:rPr>
              <a:t>Predict two different join problems</a:t>
            </a:r>
          </a:p>
        </p:txBody>
      </p:sp>
      <p:graphicFrame>
        <p:nvGraphicFramePr>
          <p:cNvPr id="12" name=""/>
          <p:cNvGraphicFramePr/>
          <p:nvPr/>
        </p:nvGraphicFramePr>
        <p:xfrm>
          <a:off xmlns:a="http://schemas.openxmlformats.org/drawingml/2006/main" x="685800" y="1790700"/>
          <a:ext xmlns:a="http://schemas.openxmlformats.org/drawingml/2006/main" cx="10820400" cy="2000250"/>
        </p:xfrm>
        <a:graphic xmlns:a="http://schemas.openxmlformats.org/drawingml/2006/main">
          <a:graphicData uri="http://schemas.openxmlformats.org/drawingml/2006/table">
            <a:tbl>
              <a:tblPr firstRow="1" bandRow="0"/>
              <a:tblGrid>
                <a:gridCol w="4207933"/>
                <a:gridCol w="6612467"/>
              </a:tblGrid>
              <a:tr h="666750">
                <a:tc>
                  <a:txBody>
                    <a:bodyPr lIns="133350" tIns="85725" rIns="133350" bIns="85725">
                      <a:noAutofit/>
                    </a:bodyPr>
                    <a:lstStyle/>
                    <a:p>
                      <a:r>
                        <a:rPr sz="2025" b="1">
                          <a:solidFill>
                            <a:srgbClr val="FFFFFF"/>
                          </a:solidFill>
                          <a:latin typeface="Arial"/>
                          <a:ea typeface="Arial"/>
                          <a:cs typeface="Arial"/>
                        </a:rPr>
                        <a:t>Change in the sensor table</a:t>
                      </a:r>
                    </a:p>
                  </a:txBody>
                  <a:tcPr marL="91440" marR="91440" marT="45720" marB="45720" anchor="ctr">
                    <a:solidFill>
                      <a:srgbClr val="155F46"/>
                    </a:solidFill>
                  </a:tcPr>
                </a:tc>
                <a:tc>
                  <a:txBody>
                    <a:bodyPr lIns="133350" tIns="85725" rIns="133350" bIns="85725">
                      <a:noAutofit/>
                    </a:bodyPr>
                    <a:lstStyle/>
                    <a:p>
                      <a:r>
                        <a:rPr sz="2025" b="1">
                          <a:solidFill>
                            <a:srgbClr val="FFFFFF"/>
                          </a:solidFill>
                          <a:latin typeface="Arial"/>
                          <a:ea typeface="Arial"/>
                          <a:cs typeface="Arial"/>
                        </a:rPr>
                        <a:t>What happens?</a:t>
                      </a:r>
                    </a:p>
                  </a:txBody>
                  <a:tcPr marL="91440" marR="91440" marT="45720" marB="45720" anchor="ctr">
                    <a:solidFill>
                      <a:srgbClr val="155F46"/>
                    </a:solidFill>
                  </a:tcPr>
                </a:tc>
              </a:tr>
              <a:tr h="666750">
                <a:tc>
                  <a:txBody>
                    <a:bodyPr lIns="133350" tIns="85725" rIns="133350" bIns="85725">
                      <a:noAutofit/>
                    </a:bodyPr>
                    <a:lstStyle/>
                    <a:p>
                      <a:r>
                        <a:rPr sz="2025" b="0">
                          <a:solidFill>
                            <a:srgbClr val="142A24"/>
                          </a:solidFill>
                          <a:latin typeface="Arial"/>
                          <a:ea typeface="Arial"/>
                          <a:cs typeface="Arial"/>
                        </a:rPr>
                        <a:t>A appears twice</a:t>
                      </a:r>
                    </a:p>
                  </a:txBody>
                  <a:tcPr marL="91440" marR="91440" marT="45720" marB="45720" anchor="ctr">
                    <a:solidFill>
                      <a:srgbClr val="FFFEFB"/>
                    </a:solidFill>
                  </a:tcPr>
                </a:tc>
                <a:tc>
                  <a:txBody>
                    <a:bodyPr lIns="133350" tIns="85725" rIns="133350" bIns="85725">
                      <a:noAutofit/>
                    </a:bodyPr>
                    <a:lstStyle/>
                    <a:p>
                      <a:r>
                        <a:rPr sz="2025" b="0">
                          <a:solidFill>
                            <a:srgbClr val="142A24"/>
                          </a:solidFill>
                          <a:latin typeface="Arial"/>
                          <a:ea typeface="Arial"/>
                          <a:cs typeface="Arial"/>
                        </a:rPr>
                        <a:t>4 rows for A without validate</a:t>
                      </a:r>
                    </a:p>
                  </a:txBody>
                  <a:tcPr marL="91440" marR="91440" marT="45720" marB="45720" anchor="ctr">
                    <a:solidFill>
                      <a:srgbClr val="FFFEFB"/>
                    </a:solidFill>
                  </a:tcPr>
                </a:tc>
              </a:tr>
              <a:tr h="666750">
                <a:tc>
                  <a:txBody>
                    <a:bodyPr lIns="133350" tIns="85725" rIns="133350" bIns="85725">
                      <a:noAutofit/>
                    </a:bodyPr>
                    <a:lstStyle/>
                    <a:p>
                      <a:r>
                        <a:rPr sz="2025" b="0">
                          <a:solidFill>
                            <a:srgbClr val="142A24"/>
                          </a:solidFill>
                          <a:latin typeface="Arial"/>
                          <a:ea typeface="Arial"/>
                          <a:cs typeface="Arial"/>
                        </a:rPr>
                        <a:t>D has no description</a:t>
                      </a:r>
                    </a:p>
                  </a:txBody>
                  <a:tcPr marL="91440" marR="91440" marT="45720" marB="45720" anchor="ctr">
                    <a:solidFill>
                      <a:srgbClr val="F0F4F1"/>
                    </a:solidFill>
                  </a:tcPr>
                </a:tc>
                <a:tc>
                  <a:txBody>
                    <a:bodyPr lIns="133350" tIns="85725" rIns="133350" bIns="85725">
                      <a:noAutofit/>
                    </a:bodyPr>
                    <a:lstStyle/>
                    <a:p>
                      <a:r>
                        <a:rPr sz="2025" b="0">
                          <a:solidFill>
                            <a:srgbClr val="142A24"/>
                          </a:solidFill>
                          <a:latin typeface="Arial"/>
                          <a:ea typeface="Arial"/>
                          <a:cs typeface="Arial"/>
                        </a:rPr>
                        <a:t>Its 2 readings stay, with no position</a:t>
                      </a:r>
                    </a:p>
                  </a:txBody>
                  <a:tcPr marL="91440" marR="91440" marT="45720" marB="45720" anchor="ctr">
                    <a:solidFill>
                      <a:srgbClr val="F0F4F1"/>
                    </a:solidFill>
                  </a:tcPr>
                </a:tc>
              </a:tr>
            </a:tbl>
          </a:graphicData>
        </a:graphic>
      </p:graphicFrame>
      <p:sp>
        <p:nvSpPr>
          <p:cNvPr id="5" name="Code example">
            <a:extLst xmlns:a="http://schemas.openxmlformats.org/drawingml/2006/main">
              <a:ext uri="{FF2B5EF4-FFF2-40B4-BE49-F238E27FC236}">
                <a16:creationId xmlns:a16="http://schemas.microsoft.com/office/drawing/2014/main" id="{86ECF770-4BA9-411C-87FC-8D74FC6ABD7A}"/>
              </a:ext>
            </a:extLst>
          </p:cNvPr>
          <p:cNvSpPr>
            <a:spLocks xmlns:a="http://schemas.openxmlformats.org/drawingml/2006/main" noGrp="1"/>
          </p:cNvSpPr>
          <p:nvPr/>
        </p:nvSpPr>
        <p:spPr>
          <a:xfrm xmlns:a="http://schemas.openxmlformats.org/drawingml/2006/main">
            <a:off x="685800" y="4086225"/>
            <a:ext cx="10820400" cy="1314450"/>
          </a:xfrm>
          <a:prstGeom xmlns:a="http://schemas.openxmlformats.org/drawingml/2006/main" prst="rect">
            <a:avLst/>
          </a:prstGeom>
          <a:solidFill xmlns:a="http://schemas.openxmlformats.org/drawingml/2006/main">
            <a:srgbClr val="F0F4F1"/>
          </a:solidFill>
          <a:ln xmlns:a="http://schemas.openxmlformats.org/drawingml/2006/main" w="0">
            <a:noFill/>
          </a:ln>
        </p:spPr>
        <p:txBody>
          <a:bodyPr xmlns:a="http://schemas.openxmlformats.org/drawingml/2006/main" wrap="none" lIns="152400" tIns="133350" rIns="152400" bIns="133350" anchor="t">
            <a:noAutofit/>
          </a:bodyPr>
          <a:lstStyle xmlns:a="http://schemas.openxmlformats.org/drawingml/2006/main"/>
          <a:p xmlns:a="http://schemas.openxmlformats.org/drawingml/2006/main">
            <a:pPr>
              <a:defRPr sz="1950" b="0">
                <a:solidFill>
                  <a:srgbClr val="142A24"/>
                </a:solidFill>
                <a:latin typeface="Menlo"/>
                <a:ea typeface="Menlo"/>
                <a:cs typeface="Menlo"/>
              </a:defRPr>
            </a:pPr>
            <a:r>
              <a:rPr sz="1950" b="0">
                <a:solidFill>
                  <a:srgbClr val="142A24"/>
                </a:solidFill>
                <a:latin typeface="Menlo"/>
                <a:ea typeface="Menlo"/>
                <a:cs typeface="Menlo"/>
              </a:rPr>
              <a:t>assert len(joined) == len(converted)</a:t>
            </a:r>
          </a:p>
          <a:p xmlns:a="http://schemas.openxmlformats.org/drawingml/2006/main">
            <a:pPr>
              <a:defRPr sz="1950" b="0">
                <a:solidFill>
                  <a:srgbClr val="142A24"/>
                </a:solidFill>
                <a:latin typeface="Menlo"/>
                <a:ea typeface="Menlo"/>
                <a:cs typeface="Menlo"/>
              </a:defRPr>
            </a:pPr>
            <a:r>
              <a:rPr sz="1950" b="0">
                <a:solidFill>
                  <a:srgbClr val="142A24"/>
                </a:solidFill>
                <a:latin typeface="Menlo"/>
                <a:ea typeface="Menlo"/>
                <a:cs typeface="Menlo"/>
              </a:rPr>
              <a:t>assert joined["_merge"].eq("both").all()</a:t>
            </a:r>
          </a:p>
          <a:p xmlns:a="http://schemas.openxmlformats.org/drawingml/2006/main">
            <a:pPr>
              <a:defRPr sz="1950" b="0">
                <a:solidFill>
                  <a:srgbClr val="142A24"/>
                </a:solidFill>
                <a:latin typeface="Menlo"/>
                <a:ea typeface="Menlo"/>
                <a:cs typeface="Menlo"/>
              </a:defRPr>
            </a:pPr>
            <a:r>
              <a:rPr sz="1950" b="0">
                <a:solidFill>
                  <a:srgbClr val="142A24"/>
                </a:solidFill>
                <a:latin typeface="Menlo"/>
                <a:ea typeface="Menlo"/>
                <a:cs typeface="Menlo"/>
              </a:rPr>
              <a:t>assert not joined.duplicated(["sensor", "time_local"]).any()</a:t>
            </a:r>
          </a:p>
        </p:txBody>
      </p:sp>
      <p:sp>
        <p:nvSpPr>
          <p:cNvPr id="6" name="Unique descriptions and complete matches are separate checks">
            <a:extLst xmlns:a="http://schemas.openxmlformats.org/drawingml/2006/main">
              <a:ext uri="{FF2B5EF4-FFF2-40B4-BE49-F238E27FC236}">
                <a16:creationId xmlns:a16="http://schemas.microsoft.com/office/drawing/2014/main" id="{DFC16E85-5F4F-4E6C-8792-82DE60449309}"/>
              </a:ext>
            </a:extLst>
          </p:cNvPr>
          <p:cNvSpPr>
            <a:spLocks xmlns:a="http://schemas.openxmlformats.org/drawingml/2006/main" noGrp="1"/>
          </p:cNvSpPr>
          <p:nvPr/>
        </p:nvSpPr>
        <p:spPr>
          <a:xfrm xmlns:a="http://schemas.openxmlformats.org/drawingml/2006/main">
            <a:off x="685800" y="567690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155F46"/>
                </a:solidFill>
                <a:latin typeface="Arial"/>
                <a:ea typeface="Arial"/>
                <a:cs typeface="Arial"/>
              </a:defRPr>
            </a:pPr>
            <a:r>
              <a:rPr sz="2100" b="1">
                <a:solidFill>
                  <a:srgbClr val="155F46"/>
                </a:solidFill>
                <a:latin typeface="Arial"/>
                <a:ea typeface="Arial"/>
                <a:cs typeface="Arial"/>
              </a:rPr>
              <a:t>Unique descriptions and complete matches are separate checks.</a:t>
            </a:r>
          </a:p>
        </p:txBody>
      </p:sp>
      <p:sp>
        <p:nvSpPr>
          <p:cNvPr id="7" name="Open course page">
            <a:extLst xmlns:a="http://schemas.openxmlformats.org/drawingml/2006/main">
              <a:ext uri="{FF2B5EF4-FFF2-40B4-BE49-F238E27FC236}">
                <a16:creationId xmlns:a16="http://schemas.microsoft.com/office/drawing/2014/main" id="{8A4E5844-A7A8-468F-B109-D2477E5DE988}"/>
              </a:ext>
            </a:extLst>
          </p:cNvPr>
          <p:cNvSpPr>
            <a:spLocks xmlns:a="http://schemas.openxmlformats.org/drawingml/2006/main" noGrp="1"/>
          </p:cNvSpPr>
          <p:nvPr/>
        </p:nvSpPr>
        <p:spPr>
          <a:xfrm xmlns:a="http://schemas.openxmlformats.org/drawingml/2006/main">
            <a:off x="685800" y="6381750"/>
            <a:ext cx="571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55F46"/>
                </a:solidFill>
                <a:latin typeface="Arial"/>
                <a:ea typeface="Arial"/>
                <a:cs typeface="Arial"/>
              </a:defRPr>
            </a:pPr>
            <a:r>
              <a:rPr sz="1500" b="1">
                <a:solidFill>
                  <a:srgbClr val="155F46"/>
                </a:solidFill>
                <a:latin typeface="Arial"/>
                <a:ea typeface="Arial"/>
                <a:cs typeface="Arial"/>
                <a:hlinkClick xmlns:r="http://schemas.openxmlformats.org/officeDocument/2006/relationships" r:id="R5630adc4781a4d14"/>
              </a:rPr>
              <a:t>Open course page</a:t>
            </a:r>
          </a:p>
        </p:txBody>
      </p:sp>
      <p:sp>
        <p:nvSpPr>
          <p:cNvPr id="8" name="53–58 min · 12 / 23">
            <a:extLst xmlns:a="http://schemas.openxmlformats.org/drawingml/2006/main">
              <a:ext uri="{FF2B5EF4-FFF2-40B4-BE49-F238E27FC236}">
                <a16:creationId xmlns:a16="http://schemas.microsoft.com/office/drawing/2014/main" id="{DB401BAB-D477-4798-B777-739A6365E385}"/>
              </a:ext>
            </a:extLst>
          </p:cNvPr>
          <p:cNvSpPr>
            <a:spLocks xmlns:a="http://schemas.openxmlformats.org/drawingml/2006/main" noGrp="1"/>
          </p:cNvSpPr>
          <p:nvPr/>
        </p:nvSpPr>
        <p:spPr>
          <a:xfrm xmlns:a="http://schemas.openxmlformats.org/drawingml/2006/main">
            <a:off x="8191500" y="6381750"/>
            <a:ext cx="3314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66C61"/>
                </a:solidFill>
                <a:latin typeface="Arial"/>
                <a:ea typeface="Arial"/>
                <a:cs typeface="Arial"/>
              </a:defRPr>
            </a:pPr>
            <a:r>
              <a:rPr sz="1500" b="0">
                <a:solidFill>
                  <a:srgbClr val="566C61"/>
                </a:solidFill>
                <a:latin typeface="Arial"/>
                <a:ea typeface="Arial"/>
                <a:cs typeface="Arial"/>
              </a:rPr>
              <a:t>53–58 min · 12 / 23</a:t>
            </a:r>
          </a:p>
        </p:txBody>
      </p:sp>
    </p:spTree>
    <p:extLst>
      <p:ext uri="{BB962C8B-B14F-4D97-AF65-F5344CB8AC3E}">
        <p14:creationId xmlns:p14="http://schemas.microsoft.com/office/powerpoint/2010/main" val="1533997973"/>
      </p:ext>
    </p:extLst>
  </p:cSld>
</p:sld>
</file>

<file path=ppt/slides/slide13.xml><?xml version="1.0" encoding="utf-8"?>
<p:sld xmlns:p="http://schemas.openxmlformats.org/presentationml/2006/main">
  <p:cSld>
    <p:bg>
      <p:bgPr>
        <a:solidFill xmlns:a="http://schemas.openxmlformats.org/drawingml/2006/main">
          <a:srgbClr val="FFFEF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EDF0A0B-B596-447E-BA18-86D55FF5ACE8}"/>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5F46"/>
          </a:solidFill>
          <a:ln xmlns:a="http://schemas.openxmlformats.org/drawingml/2006/main" w="0">
            <a:noFill/>
          </a:ln>
        </p:spPr>
      </p:sp>
      <p:sp>
        <p:nvSpPr>
          <p:cNvPr id="2" name="2 · Connection with the database course">
            <a:extLst xmlns:a="http://schemas.openxmlformats.org/drawingml/2006/main">
              <a:ext uri="{FF2B5EF4-FFF2-40B4-BE49-F238E27FC236}">
                <a16:creationId xmlns:a16="http://schemas.microsoft.com/office/drawing/2014/main" id="{7D0261C7-D36D-4F14-8C05-D3DB76449307}"/>
              </a:ext>
            </a:extLst>
          </p:cNvPr>
          <p:cNvSpPr>
            <a:spLocks xmlns:a="http://schemas.openxmlformats.org/drawingml/2006/main" noGrp="1"/>
          </p:cNvSpPr>
          <p:nvPr/>
        </p:nvSpPr>
        <p:spPr>
          <a:xfrm xmlns:a="http://schemas.openxmlformats.org/drawingml/2006/main">
            <a:off x="685800" y="323850"/>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1">
                <a:solidFill>
                  <a:srgbClr val="155F46"/>
                </a:solidFill>
                <a:latin typeface="Arial"/>
                <a:ea typeface="Arial"/>
                <a:cs typeface="Arial"/>
              </a:defRPr>
            </a:pPr>
            <a:r>
              <a:rPr sz="1575" b="1">
                <a:solidFill>
                  <a:srgbClr val="155F46"/>
                </a:solidFill>
                <a:latin typeface="Arial"/>
                <a:ea typeface="Arial"/>
                <a:cs typeface="Arial"/>
              </a:rPr>
              <a:t>2 · Connection with the database course</a:t>
            </a:r>
          </a:p>
        </p:txBody>
      </p:sp>
      <p:sp>
        <p:nvSpPr>
          <p:cNvPr id="3" name="A database query supplies a pandas table">
            <a:extLst xmlns:a="http://schemas.openxmlformats.org/drawingml/2006/main">
              <a:ext uri="{FF2B5EF4-FFF2-40B4-BE49-F238E27FC236}">
                <a16:creationId xmlns:a16="http://schemas.microsoft.com/office/drawing/2014/main" id="{2B5A5E26-409D-4F52-A175-ABAFF57AED02}"/>
              </a:ext>
            </a:extLst>
          </p:cNvPr>
          <p:cNvSpPr>
            <a:spLocks xmlns:a="http://schemas.openxmlformats.org/drawingml/2006/main" noGrp="1"/>
          </p:cNvSpPr>
          <p:nvPr/>
        </p:nvSpPr>
        <p:spPr>
          <a:xfrm xmlns:a="http://schemas.openxmlformats.org/drawingml/2006/main">
            <a:off x="685800" y="73342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142A24"/>
                </a:solidFill>
                <a:latin typeface="Arial"/>
                <a:ea typeface="Arial"/>
                <a:cs typeface="Arial"/>
              </a:defRPr>
            </a:pPr>
            <a:r>
              <a:rPr sz="3225" b="1">
                <a:solidFill>
                  <a:srgbClr val="142A24"/>
                </a:solidFill>
                <a:latin typeface="Arial"/>
                <a:ea typeface="Arial"/>
                <a:cs typeface="Arial"/>
              </a:rPr>
              <a:t>A database query supplies a pandas table</a:t>
            </a:r>
          </a:p>
        </p:txBody>
      </p:sp>
      <p:sp>
        <p:nvSpPr>
          <p:cNvPr id="4" name="Code example">
            <a:extLst xmlns:a="http://schemas.openxmlformats.org/drawingml/2006/main">
              <a:ext uri="{FF2B5EF4-FFF2-40B4-BE49-F238E27FC236}">
                <a16:creationId xmlns:a16="http://schemas.microsoft.com/office/drawing/2014/main" id="{789AA54C-FA06-4C05-BB84-96423F8E58FC}"/>
              </a:ext>
            </a:extLst>
          </p:cNvPr>
          <p:cNvSpPr>
            <a:spLocks xmlns:a="http://schemas.openxmlformats.org/drawingml/2006/main" noGrp="1"/>
          </p:cNvSpPr>
          <p:nvPr/>
        </p:nvSpPr>
        <p:spPr>
          <a:xfrm xmlns:a="http://schemas.openxmlformats.org/drawingml/2006/main">
            <a:off x="685800" y="1695450"/>
            <a:ext cx="10820400" cy="2762250"/>
          </a:xfrm>
          <a:prstGeom xmlns:a="http://schemas.openxmlformats.org/drawingml/2006/main" prst="rect">
            <a:avLst/>
          </a:prstGeom>
          <a:solidFill xmlns:a="http://schemas.openxmlformats.org/drawingml/2006/main">
            <a:srgbClr val="F0F4F1"/>
          </a:solidFill>
          <a:ln xmlns:a="http://schemas.openxmlformats.org/drawingml/2006/main" w="0">
            <a:noFill/>
          </a:ln>
        </p:spPr>
        <p:txBody>
          <a:bodyPr xmlns:a="http://schemas.openxmlformats.org/drawingml/2006/main" wrap="none" lIns="152400" tIns="133350" rIns="152400" bIns="133350" anchor="t">
            <a:noAutofit/>
          </a:bodyPr>
          <a:lstStyle xmlns:a="http://schemas.openxmlformats.org/drawingml/2006/main"/>
          <a:p xmlns:a="http://schemas.openxmlformats.org/drawingml/2006/main">
            <a:pPr>
              <a:defRPr sz="1875" b="0">
                <a:solidFill>
                  <a:srgbClr val="142A24"/>
                </a:solidFill>
                <a:latin typeface="Menlo"/>
                <a:ea typeface="Menlo"/>
                <a:cs typeface="Menlo"/>
              </a:defRPr>
            </a:pPr>
            <a:r>
              <a:rPr sz="1875" b="0">
                <a:solidFill>
                  <a:srgbClr val="142A24"/>
                </a:solidFill>
                <a:latin typeface="Menlo"/>
                <a:ea typeface="Menlo"/>
                <a:cs typeface="Menlo"/>
              </a:rPr>
              <a:t>import sqlite3</a:t>
            </a:r>
          </a:p>
          <a:p xmlns:a="http://schemas.openxmlformats.org/drawingml/2006/main">
            <a:pPr>
              <a:defRPr sz="1875" b="0">
                <a:solidFill>
                  <a:srgbClr val="142A24"/>
                </a:solidFill>
                <a:latin typeface="Menlo"/>
                <a:ea typeface="Menlo"/>
                <a:cs typeface="Menlo"/>
              </a:defRPr>
            </a:pPr>
            <a:r>
              <a:rPr sz="1875" b="0">
                <a:solidFill>
                  <a:srgbClr val="142A24"/>
                </a:solidFill>
                <a:latin typeface="Menlo"/>
                <a:ea typeface="Menlo"/>
                <a:cs typeface="Menlo"/>
              </a:rPr>
              <a:t>connection = sqlite3.connect(":memory:")</a:t>
            </a:r>
          </a:p>
          <a:p xmlns:a="http://schemas.openxmlformats.org/drawingml/2006/main">
            <a:pPr>
              <a:defRPr sz="1875" b="0">
                <a:solidFill>
                  <a:srgbClr val="142A24"/>
                </a:solidFill>
                <a:latin typeface="Menlo"/>
                <a:ea typeface="Menlo"/>
                <a:cs typeface="Menlo"/>
              </a:defRPr>
            </a:pPr>
            <a:r>
              <a:rPr sz="1875" b="0">
                <a:solidFill>
                  <a:srgbClr val="142A24"/>
                </a:solidFill>
                <a:latin typeface="Menlo"/>
                <a:ea typeface="Menlo"/>
                <a:cs typeface="Menlo"/>
              </a:rPr>
              <a:t>converted.to_sql("readings", connection, index=False)</a:t>
            </a:r>
          </a:p>
          <a:p xmlns:a="http://schemas.openxmlformats.org/drawingml/2006/main">
            <a:pPr>
              <a:defRPr sz="1875" b="0">
                <a:solidFill>
                  <a:srgbClr val="142A24"/>
                </a:solidFill>
                <a:latin typeface="Menlo"/>
                <a:ea typeface="Menlo"/>
                <a:cs typeface="Menlo"/>
              </a:defRPr>
            </a:pPr>
            <a:r>
              <a:rPr sz="1875" b="0">
                <a:solidFill>
                  <a:srgbClr val="142A24"/>
                </a:solidFill>
                <a:latin typeface="Menlo"/>
                <a:ea typeface="Menlo"/>
                <a:cs typeface="Menlo"/>
              </a:rPr>
              <a:t>selected = pd.read_sql_query(</a:t>
            </a:r>
          </a:p>
          <a:p xmlns:a="http://schemas.openxmlformats.org/drawingml/2006/main">
            <a:pPr>
              <a:defRPr sz="1875" b="0">
                <a:solidFill>
                  <a:srgbClr val="142A24"/>
                </a:solidFill>
                <a:latin typeface="Menlo"/>
                <a:ea typeface="Menlo"/>
                <a:cs typeface="Menlo"/>
              </a:defRPr>
            </a:pPr>
            <a:r>
              <a:rPr sz="1875" b="0">
                <a:solidFill>
                  <a:srgbClr val="142A24"/>
                </a:solidFill>
                <a:latin typeface="Menlo"/>
                <a:ea typeface="Menlo"/>
                <a:cs typeface="Menlo"/>
              </a:rPr>
              <a:t>    "SELECT sensor, time_local, temperature_c FROM readings "</a:t>
            </a:r>
          </a:p>
          <a:p xmlns:a="http://schemas.openxmlformats.org/drawingml/2006/main">
            <a:pPr>
              <a:defRPr sz="1875" b="0">
                <a:solidFill>
                  <a:srgbClr val="142A24"/>
                </a:solidFill>
                <a:latin typeface="Menlo"/>
                <a:ea typeface="Menlo"/>
                <a:cs typeface="Menlo"/>
              </a:defRPr>
            </a:pPr>
            <a:r>
              <a:rPr sz="1875" b="0">
                <a:solidFill>
                  <a:srgbClr val="142A24"/>
                </a:solidFill>
                <a:latin typeface="Menlo"/>
                <a:ea typeface="Menlo"/>
                <a:cs typeface="Menlo"/>
              </a:rPr>
              <a:t>    "WHERE temperature_c &gt;= ? ORDER BY sensor, time_local",</a:t>
            </a:r>
          </a:p>
          <a:p xmlns:a="http://schemas.openxmlformats.org/drawingml/2006/main">
            <a:pPr>
              <a:defRPr sz="1875" b="0">
                <a:solidFill>
                  <a:srgbClr val="142A24"/>
                </a:solidFill>
                <a:latin typeface="Menlo"/>
                <a:ea typeface="Menlo"/>
                <a:cs typeface="Menlo"/>
              </a:defRPr>
            </a:pPr>
            <a:r>
              <a:rPr sz="1875" b="0">
                <a:solidFill>
                  <a:srgbClr val="142A24"/>
                </a:solidFill>
                <a:latin typeface="Menlo"/>
                <a:ea typeface="Menlo"/>
                <a:cs typeface="Menlo"/>
              </a:rPr>
              <a:t>    connection, params=(23.0,)</a:t>
            </a:r>
          </a:p>
          <a:p xmlns:a="http://schemas.openxmlformats.org/drawingml/2006/main">
            <a:pPr>
              <a:defRPr sz="1875" b="0">
                <a:solidFill>
                  <a:srgbClr val="142A24"/>
                </a:solidFill>
                <a:latin typeface="Menlo"/>
                <a:ea typeface="Menlo"/>
                <a:cs typeface="Menlo"/>
              </a:defRPr>
            </a:pPr>
            <a:r>
              <a:rPr sz="1875" b="0">
                <a:solidFill>
                  <a:srgbClr val="142A24"/>
                </a:solidFill>
                <a:latin typeface="Menlo"/>
                <a:ea typeface="Menlo"/>
                <a:cs typeface="Menlo"/>
              </a:rPr>
              <a:t>)</a:t>
            </a:r>
          </a:p>
        </p:txBody>
      </p:sp>
      <p:sp>
        <p:nvSpPr>
          <p:cNvPr id="5" name="SELECT chooses columns. WHERE selects rows.&#10;The parameter ? ">
            <a:extLst xmlns:a="http://schemas.openxmlformats.org/drawingml/2006/main">
              <a:ext uri="{FF2B5EF4-FFF2-40B4-BE49-F238E27FC236}">
                <a16:creationId xmlns:a16="http://schemas.microsoft.com/office/drawing/2014/main" id="{E571D38A-392F-4271-905D-33D43B45B081}"/>
              </a:ext>
            </a:extLst>
          </p:cNvPr>
          <p:cNvSpPr>
            <a:spLocks xmlns:a="http://schemas.openxmlformats.org/drawingml/2006/main" noGrp="1"/>
          </p:cNvSpPr>
          <p:nvPr/>
        </p:nvSpPr>
        <p:spPr>
          <a:xfrm xmlns:a="http://schemas.openxmlformats.org/drawingml/2006/main">
            <a:off x="685800" y="46863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42A24"/>
                </a:solidFill>
                <a:latin typeface="Arial"/>
                <a:ea typeface="Arial"/>
                <a:cs typeface="Arial"/>
              </a:defRPr>
            </a:pPr>
            <a:r>
              <a:rPr sz="2175" b="0">
                <a:solidFill>
                  <a:srgbClr val="142A24"/>
                </a:solidFill>
                <a:latin typeface="Arial"/>
                <a:ea typeface="Arial"/>
                <a:cs typeface="Arial"/>
              </a:rPr>
              <a:t>SELECT chooses columns. WHERE selects rows.</a:t>
            </a:r>
          </a:p>
          <a:p xmlns:a="http://schemas.openxmlformats.org/drawingml/2006/main">
            <a:pPr>
              <a:defRPr sz="2175" b="0">
                <a:solidFill>
                  <a:srgbClr val="142A24"/>
                </a:solidFill>
                <a:latin typeface="Arial"/>
                <a:ea typeface="Arial"/>
                <a:cs typeface="Arial"/>
              </a:defRPr>
            </a:pPr>
            <a:r>
              <a:rPr sz="2175" b="0">
                <a:solidFill>
                  <a:srgbClr val="142A24"/>
                </a:solidFill>
                <a:latin typeface="Arial"/>
                <a:ea typeface="Arial"/>
                <a:cs typeface="Arial"/>
              </a:rPr>
              <a:t>The parameter ? receives the threshold 23.0.</a:t>
            </a:r>
          </a:p>
        </p:txBody>
      </p:sp>
      <p:sp>
        <p:nvSpPr>
          <p:cNvPr id="6" name="Result: A at 11:00 and B at 11:00, both 24 °C.">
            <a:extLst xmlns:a="http://schemas.openxmlformats.org/drawingml/2006/main">
              <a:ext uri="{FF2B5EF4-FFF2-40B4-BE49-F238E27FC236}">
                <a16:creationId xmlns:a16="http://schemas.microsoft.com/office/drawing/2014/main" id="{D1CC98C3-061C-4C8B-8133-5D122E2512DD}"/>
              </a:ext>
            </a:extLst>
          </p:cNvPr>
          <p:cNvSpPr>
            <a:spLocks xmlns:a="http://schemas.openxmlformats.org/drawingml/2006/main" noGrp="1"/>
          </p:cNvSpPr>
          <p:nvPr/>
        </p:nvSpPr>
        <p:spPr>
          <a:xfrm xmlns:a="http://schemas.openxmlformats.org/drawingml/2006/main">
            <a:off x="685800" y="5648325"/>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155F46"/>
                </a:solidFill>
                <a:latin typeface="Arial"/>
                <a:ea typeface="Arial"/>
                <a:cs typeface="Arial"/>
              </a:defRPr>
            </a:pPr>
            <a:r>
              <a:rPr sz="2175" b="1">
                <a:solidFill>
                  <a:srgbClr val="155F46"/>
                </a:solidFill>
                <a:latin typeface="Arial"/>
                <a:ea typeface="Arial"/>
                <a:cs typeface="Arial"/>
              </a:rPr>
              <a:t>Result: A at 11:00 and B at 11:00, both 24 °C.</a:t>
            </a:r>
          </a:p>
        </p:txBody>
      </p:sp>
      <p:sp>
        <p:nvSpPr>
          <p:cNvPr id="7" name="Open course page">
            <a:extLst xmlns:a="http://schemas.openxmlformats.org/drawingml/2006/main">
              <a:ext uri="{FF2B5EF4-FFF2-40B4-BE49-F238E27FC236}">
                <a16:creationId xmlns:a16="http://schemas.microsoft.com/office/drawing/2014/main" id="{C450D6A3-995C-46B1-A572-8FAA848C2EA3}"/>
              </a:ext>
            </a:extLst>
          </p:cNvPr>
          <p:cNvSpPr>
            <a:spLocks xmlns:a="http://schemas.openxmlformats.org/drawingml/2006/main" noGrp="1"/>
          </p:cNvSpPr>
          <p:nvPr/>
        </p:nvSpPr>
        <p:spPr>
          <a:xfrm xmlns:a="http://schemas.openxmlformats.org/drawingml/2006/main">
            <a:off x="685800" y="6381750"/>
            <a:ext cx="571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55F46"/>
                </a:solidFill>
                <a:latin typeface="Arial"/>
                <a:ea typeface="Arial"/>
                <a:cs typeface="Arial"/>
              </a:defRPr>
            </a:pPr>
            <a:r>
              <a:rPr sz="1500" b="1">
                <a:solidFill>
                  <a:srgbClr val="155F46"/>
                </a:solidFill>
                <a:latin typeface="Arial"/>
                <a:ea typeface="Arial"/>
                <a:cs typeface="Arial"/>
                <a:hlinkClick xmlns:r="http://schemas.openxmlformats.org/officeDocument/2006/relationships" r:id="R3018928a4e564c33"/>
              </a:rPr>
              <a:t>Open course page</a:t>
            </a:r>
          </a:p>
        </p:txBody>
      </p:sp>
      <p:sp>
        <p:nvSpPr>
          <p:cNvPr id="8" name="58–65 min · 13 / 23">
            <a:extLst xmlns:a="http://schemas.openxmlformats.org/drawingml/2006/main">
              <a:ext uri="{FF2B5EF4-FFF2-40B4-BE49-F238E27FC236}">
                <a16:creationId xmlns:a16="http://schemas.microsoft.com/office/drawing/2014/main" id="{184E3127-0A4C-44D6-9CDC-AAFA0B637DDF}"/>
              </a:ext>
            </a:extLst>
          </p:cNvPr>
          <p:cNvSpPr>
            <a:spLocks xmlns:a="http://schemas.openxmlformats.org/drawingml/2006/main" noGrp="1"/>
          </p:cNvSpPr>
          <p:nvPr/>
        </p:nvSpPr>
        <p:spPr>
          <a:xfrm xmlns:a="http://schemas.openxmlformats.org/drawingml/2006/main">
            <a:off x="8191500" y="6381750"/>
            <a:ext cx="3314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66C61"/>
                </a:solidFill>
                <a:latin typeface="Arial"/>
                <a:ea typeface="Arial"/>
                <a:cs typeface="Arial"/>
              </a:defRPr>
            </a:pPr>
            <a:r>
              <a:rPr sz="1500" b="0">
                <a:solidFill>
                  <a:srgbClr val="566C61"/>
                </a:solidFill>
                <a:latin typeface="Arial"/>
                <a:ea typeface="Arial"/>
                <a:cs typeface="Arial"/>
              </a:rPr>
              <a:t>58–65 min · 13 / 23</a:t>
            </a:r>
          </a:p>
        </p:txBody>
      </p:sp>
    </p:spTree>
    <p:extLst>
      <p:ext uri="{BB962C8B-B14F-4D97-AF65-F5344CB8AC3E}">
        <p14:creationId xmlns:p14="http://schemas.microsoft.com/office/powerpoint/2010/main" val="1738141403"/>
      </p:ext>
    </p:extLst>
  </p:cSld>
</p:sld>
</file>

<file path=ppt/slides/slide14.xml><?xml version="1.0" encoding="utf-8"?>
<p:sld xmlns:p="http://schemas.openxmlformats.org/presentationml/2006/main">
  <p:cSld>
    <p:bg>
      <p:bgPr>
        <a:solidFill xmlns:a="http://schemas.openxmlformats.org/drawingml/2006/main">
          <a:srgbClr val="FFFEF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398E669-2629-44A3-BF5E-212D383723D8}"/>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5F46"/>
          </a:solidFill>
          <a:ln xmlns:a="http://schemas.openxmlformats.org/drawingml/2006/main" w="0">
            <a:noFill/>
          </a:ln>
        </p:spPr>
      </p:sp>
      <p:sp>
        <p:nvSpPr>
          <p:cNvPr id="2" name="10 minutes">
            <a:extLst xmlns:a="http://schemas.openxmlformats.org/drawingml/2006/main">
              <a:ext uri="{FF2B5EF4-FFF2-40B4-BE49-F238E27FC236}">
                <a16:creationId xmlns:a16="http://schemas.microsoft.com/office/drawing/2014/main" id="{DFDD83DA-7A81-43F9-88FC-BE1CBAE53886}"/>
              </a:ext>
            </a:extLst>
          </p:cNvPr>
          <p:cNvSpPr>
            <a:spLocks xmlns:a="http://schemas.openxmlformats.org/drawingml/2006/main" noGrp="1"/>
          </p:cNvSpPr>
          <p:nvPr/>
        </p:nvSpPr>
        <p:spPr>
          <a:xfrm xmlns:a="http://schemas.openxmlformats.org/drawingml/2006/main">
            <a:off x="685800" y="323850"/>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1">
                <a:solidFill>
                  <a:srgbClr val="155F46"/>
                </a:solidFill>
                <a:latin typeface="Arial"/>
                <a:ea typeface="Arial"/>
                <a:cs typeface="Arial"/>
              </a:defRPr>
            </a:pPr>
            <a:r>
              <a:rPr sz="1575" b="1">
                <a:solidFill>
                  <a:srgbClr val="155F46"/>
                </a:solidFill>
                <a:latin typeface="Arial"/>
                <a:ea typeface="Arial"/>
                <a:cs typeface="Arial"/>
              </a:rPr>
              <a:t>10 minutes</a:t>
            </a:r>
          </a:p>
        </p:txBody>
      </p:sp>
      <p:sp>
        <p:nvSpPr>
          <p:cNvPr id="3" name="Break">
            <a:extLst xmlns:a="http://schemas.openxmlformats.org/drawingml/2006/main">
              <a:ext uri="{FF2B5EF4-FFF2-40B4-BE49-F238E27FC236}">
                <a16:creationId xmlns:a16="http://schemas.microsoft.com/office/drawing/2014/main" id="{4683662B-90C7-4348-8642-7C1A77A27B97}"/>
              </a:ext>
            </a:extLst>
          </p:cNvPr>
          <p:cNvSpPr>
            <a:spLocks xmlns:a="http://schemas.openxmlformats.org/drawingml/2006/main" noGrp="1"/>
          </p:cNvSpPr>
          <p:nvPr/>
        </p:nvSpPr>
        <p:spPr>
          <a:xfrm xmlns:a="http://schemas.openxmlformats.org/drawingml/2006/main">
            <a:off x="685800" y="1285875"/>
            <a:ext cx="1082040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500" b="1">
                <a:solidFill>
                  <a:srgbClr val="142A24"/>
                </a:solidFill>
                <a:latin typeface="Arial"/>
                <a:ea typeface="Arial"/>
                <a:cs typeface="Arial"/>
              </a:defRPr>
            </a:pPr>
            <a:r>
              <a:rPr sz="4500" b="1">
                <a:solidFill>
                  <a:srgbClr val="142A24"/>
                </a:solidFill>
                <a:latin typeface="Arial"/>
                <a:ea typeface="Arial"/>
                <a:cs typeface="Arial"/>
              </a:rPr>
              <a:t>Break</a:t>
            </a:r>
          </a:p>
        </p:txBody>
      </p:sp>
      <p:sp>
        <p:nvSpPr>
          <p:cNvPr id="4" name="We can now manipulate tables.">
            <a:extLst xmlns:a="http://schemas.openxmlformats.org/drawingml/2006/main">
              <a:ext uri="{FF2B5EF4-FFF2-40B4-BE49-F238E27FC236}">
                <a16:creationId xmlns:a16="http://schemas.microsoft.com/office/drawing/2014/main" id="{D834A861-6438-49B1-8038-B3FA19AFE758}"/>
              </a:ext>
            </a:extLst>
          </p:cNvPr>
          <p:cNvSpPr>
            <a:spLocks xmlns:a="http://schemas.openxmlformats.org/drawingml/2006/main" noGrp="1"/>
          </p:cNvSpPr>
          <p:nvPr/>
        </p:nvSpPr>
        <p:spPr>
          <a:xfrm xmlns:a="http://schemas.openxmlformats.org/drawingml/2006/main">
            <a:off x="685800" y="278130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42A24"/>
                </a:solidFill>
                <a:latin typeface="Arial"/>
                <a:ea typeface="Arial"/>
                <a:cs typeface="Arial"/>
              </a:defRPr>
            </a:pPr>
            <a:r>
              <a:rPr sz="3300" b="0">
                <a:solidFill>
                  <a:srgbClr val="142A24"/>
                </a:solidFill>
                <a:latin typeface="Arial"/>
                <a:ea typeface="Arial"/>
                <a:cs typeface="Arial"/>
              </a:rPr>
              <a:t>We can now manipulate tables.</a:t>
            </a:r>
          </a:p>
        </p:txBody>
      </p:sp>
      <p:sp>
        <p:nvSpPr>
          <p:cNvPr id="5" name="Next: which question does a calculation answer?">
            <a:extLst xmlns:a="http://schemas.openxmlformats.org/drawingml/2006/main">
              <a:ext uri="{FF2B5EF4-FFF2-40B4-BE49-F238E27FC236}">
                <a16:creationId xmlns:a16="http://schemas.microsoft.com/office/drawing/2014/main" id="{065D1F35-6E71-4C1E-9AEC-F2E8A1CE7B93}"/>
              </a:ext>
            </a:extLst>
          </p:cNvPr>
          <p:cNvSpPr>
            <a:spLocks xmlns:a="http://schemas.openxmlformats.org/drawingml/2006/main" noGrp="1"/>
          </p:cNvSpPr>
          <p:nvPr/>
        </p:nvSpPr>
        <p:spPr>
          <a:xfrm xmlns:a="http://schemas.openxmlformats.org/drawingml/2006/main">
            <a:off x="685800" y="398145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155F46"/>
                </a:solidFill>
                <a:latin typeface="Arial"/>
                <a:ea typeface="Arial"/>
                <a:cs typeface="Arial"/>
              </a:defRPr>
            </a:pPr>
            <a:r>
              <a:rPr sz="3150" b="1">
                <a:solidFill>
                  <a:srgbClr val="155F46"/>
                </a:solidFill>
                <a:latin typeface="Arial"/>
                <a:ea typeface="Arial"/>
                <a:cs typeface="Arial"/>
              </a:rPr>
              <a:t>Next: which question does a calculation answer?</a:t>
            </a:r>
          </a:p>
        </p:txBody>
      </p:sp>
      <p:sp>
        <p:nvSpPr>
          <p:cNvPr id="6" name="Open course page">
            <a:extLst xmlns:a="http://schemas.openxmlformats.org/drawingml/2006/main">
              <a:ext uri="{FF2B5EF4-FFF2-40B4-BE49-F238E27FC236}">
                <a16:creationId xmlns:a16="http://schemas.microsoft.com/office/drawing/2014/main" id="{B6F3F7E0-18CE-4285-A7D6-B8FF6217C7D1}"/>
              </a:ext>
            </a:extLst>
          </p:cNvPr>
          <p:cNvSpPr>
            <a:spLocks xmlns:a="http://schemas.openxmlformats.org/drawingml/2006/main" noGrp="1"/>
          </p:cNvSpPr>
          <p:nvPr/>
        </p:nvSpPr>
        <p:spPr>
          <a:xfrm xmlns:a="http://schemas.openxmlformats.org/drawingml/2006/main">
            <a:off x="685800" y="6381750"/>
            <a:ext cx="571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55F46"/>
                </a:solidFill>
                <a:latin typeface="Arial"/>
                <a:ea typeface="Arial"/>
                <a:cs typeface="Arial"/>
              </a:defRPr>
            </a:pPr>
            <a:r>
              <a:rPr sz="1500" b="1">
                <a:solidFill>
                  <a:srgbClr val="155F46"/>
                </a:solidFill>
                <a:latin typeface="Arial"/>
                <a:ea typeface="Arial"/>
                <a:cs typeface="Arial"/>
                <a:hlinkClick xmlns:r="http://schemas.openxmlformats.org/officeDocument/2006/relationships" r:id="R579fe900c63c4304"/>
              </a:rPr>
              <a:t>Open course page</a:t>
            </a:r>
          </a:p>
        </p:txBody>
      </p:sp>
      <p:sp>
        <p:nvSpPr>
          <p:cNvPr id="7" name="65–75 min · 14 / 23">
            <a:extLst xmlns:a="http://schemas.openxmlformats.org/drawingml/2006/main">
              <a:ext uri="{FF2B5EF4-FFF2-40B4-BE49-F238E27FC236}">
                <a16:creationId xmlns:a16="http://schemas.microsoft.com/office/drawing/2014/main" id="{AC5E25B2-C312-478C-A220-5C9D5EA00BA5}"/>
              </a:ext>
            </a:extLst>
          </p:cNvPr>
          <p:cNvSpPr>
            <a:spLocks xmlns:a="http://schemas.openxmlformats.org/drawingml/2006/main" noGrp="1"/>
          </p:cNvSpPr>
          <p:nvPr/>
        </p:nvSpPr>
        <p:spPr>
          <a:xfrm xmlns:a="http://schemas.openxmlformats.org/drawingml/2006/main">
            <a:off x="8191500" y="6381750"/>
            <a:ext cx="3314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66C61"/>
                </a:solidFill>
                <a:latin typeface="Arial"/>
                <a:ea typeface="Arial"/>
                <a:cs typeface="Arial"/>
              </a:defRPr>
            </a:pPr>
            <a:r>
              <a:rPr sz="1500" b="0">
                <a:solidFill>
                  <a:srgbClr val="566C61"/>
                </a:solidFill>
                <a:latin typeface="Arial"/>
                <a:ea typeface="Arial"/>
                <a:cs typeface="Arial"/>
              </a:rPr>
              <a:t>65–75 min · 14 / 23</a:t>
            </a:r>
          </a:p>
        </p:txBody>
      </p:sp>
    </p:spTree>
    <p:extLst>
      <p:ext uri="{BB962C8B-B14F-4D97-AF65-F5344CB8AC3E}">
        <p14:creationId xmlns:p14="http://schemas.microsoft.com/office/powerpoint/2010/main" val="1690743471"/>
      </p:ext>
    </p:extLst>
  </p:cSld>
</p:sld>
</file>

<file path=ppt/slides/slide15.xml><?xml version="1.0" encoding="utf-8"?>
<p:sld xmlns:p="http://schemas.openxmlformats.org/presentationml/2006/main">
  <p:cSld>
    <p:bg>
      <p:bgPr>
        <a:solidFill xmlns:a="http://schemas.openxmlformats.org/drawingml/2006/main">
          <a:srgbClr val="FFFEF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75840E2-F692-4D3A-BD33-8936744865F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5F46"/>
          </a:solidFill>
          <a:ln xmlns:a="http://schemas.openxmlformats.org/drawingml/2006/main" w="0">
            <a:noFill/>
          </a:ln>
        </p:spPr>
      </p:sp>
      <p:sp>
        <p:nvSpPr>
          <p:cNvPr id="2" name="3 · Data lifecycle">
            <a:extLst xmlns:a="http://schemas.openxmlformats.org/drawingml/2006/main">
              <a:ext uri="{FF2B5EF4-FFF2-40B4-BE49-F238E27FC236}">
                <a16:creationId xmlns:a16="http://schemas.microsoft.com/office/drawing/2014/main" id="{B409860A-C373-4B24-A1E9-37E27550B653}"/>
              </a:ext>
            </a:extLst>
          </p:cNvPr>
          <p:cNvSpPr>
            <a:spLocks xmlns:a="http://schemas.openxmlformats.org/drawingml/2006/main" noGrp="1"/>
          </p:cNvSpPr>
          <p:nvPr/>
        </p:nvSpPr>
        <p:spPr>
          <a:xfrm xmlns:a="http://schemas.openxmlformats.org/drawingml/2006/main">
            <a:off x="685800" y="323850"/>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1">
                <a:solidFill>
                  <a:srgbClr val="155F46"/>
                </a:solidFill>
                <a:latin typeface="Arial"/>
                <a:ea typeface="Arial"/>
                <a:cs typeface="Arial"/>
              </a:defRPr>
            </a:pPr>
            <a:r>
              <a:rPr sz="1575" b="1">
                <a:solidFill>
                  <a:srgbClr val="155F46"/>
                </a:solidFill>
                <a:latin typeface="Arial"/>
                <a:ea typeface="Arial"/>
                <a:cs typeface="Arial"/>
              </a:rPr>
              <a:t>3 · Data lifecycle</a:t>
            </a:r>
          </a:p>
        </p:txBody>
      </p:sp>
      <p:sp>
        <p:nvSpPr>
          <p:cNvPr id="3" name="Start with a question, keep a trace of each step">
            <a:extLst xmlns:a="http://schemas.openxmlformats.org/drawingml/2006/main">
              <a:ext uri="{FF2B5EF4-FFF2-40B4-BE49-F238E27FC236}">
                <a16:creationId xmlns:a16="http://schemas.microsoft.com/office/drawing/2014/main" id="{34CCCB98-8E76-4428-B7E2-12D48FC11C6C}"/>
              </a:ext>
            </a:extLst>
          </p:cNvPr>
          <p:cNvSpPr>
            <a:spLocks xmlns:a="http://schemas.openxmlformats.org/drawingml/2006/main" noGrp="1"/>
          </p:cNvSpPr>
          <p:nvPr/>
        </p:nvSpPr>
        <p:spPr>
          <a:xfrm xmlns:a="http://schemas.openxmlformats.org/drawingml/2006/main">
            <a:off x="685800" y="73342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142A24"/>
                </a:solidFill>
                <a:latin typeface="Arial"/>
                <a:ea typeface="Arial"/>
                <a:cs typeface="Arial"/>
              </a:defRPr>
            </a:pPr>
            <a:r>
              <a:rPr sz="3225" b="1">
                <a:solidFill>
                  <a:srgbClr val="142A24"/>
                </a:solidFill>
                <a:latin typeface="Arial"/>
                <a:ea typeface="Arial"/>
                <a:cs typeface="Arial"/>
              </a:rPr>
              <a:t>Start with a question, keep a trace of each step</a:t>
            </a:r>
          </a:p>
        </p:txBody>
      </p:sp>
      <p:graphicFrame>
        <p:nvGraphicFramePr>
          <p:cNvPr id="11" name=""/>
          <p:cNvGraphicFramePr/>
          <p:nvPr/>
        </p:nvGraphicFramePr>
        <p:xfrm>
          <a:off xmlns:a="http://schemas.openxmlformats.org/drawingml/2006/main" x="685800" y="1752600"/>
          <a:ext xmlns:a="http://schemas.openxmlformats.org/drawingml/2006/main" cx="10820400" cy="3400425"/>
        </p:xfrm>
        <a:graphic xmlns:a="http://schemas.openxmlformats.org/drawingml/2006/main">
          <a:graphicData uri="http://schemas.openxmlformats.org/drawingml/2006/table">
            <a:tbl>
              <a:tblPr firstRow="1" bandRow="0"/>
              <a:tblGrid>
                <a:gridCol w="2576286"/>
                <a:gridCol w="8244114"/>
              </a:tblGrid>
              <a:tr h="566738">
                <a:tc>
                  <a:txBody>
                    <a:bodyPr lIns="133350" tIns="85725" rIns="133350" bIns="85725">
                      <a:noAutofit/>
                    </a:bodyPr>
                    <a:lstStyle/>
                    <a:p>
                      <a:r>
                        <a:rPr sz="1950" b="1">
                          <a:solidFill>
                            <a:srgbClr val="FFFFFF"/>
                          </a:solidFill>
                          <a:latin typeface="Arial"/>
                          <a:ea typeface="Arial"/>
                          <a:cs typeface="Arial"/>
                        </a:rPr>
                        <a:t>Step</a:t>
                      </a:r>
                    </a:p>
                  </a:txBody>
                  <a:tcPr marL="91440" marR="91440" marT="45720" marB="45720" anchor="ctr">
                    <a:solidFill>
                      <a:srgbClr val="155F46"/>
                    </a:solidFill>
                  </a:tcPr>
                </a:tc>
                <a:tc>
                  <a:txBody>
                    <a:bodyPr lIns="133350" tIns="85725" rIns="133350" bIns="85725">
                      <a:noAutofit/>
                    </a:bodyPr>
                    <a:lstStyle/>
                    <a:p>
                      <a:r>
                        <a:rPr sz="1950" b="1">
                          <a:solidFill>
                            <a:srgbClr val="FFFFFF"/>
                          </a:solidFill>
                          <a:latin typeface="Arial"/>
                          <a:ea typeface="Arial"/>
                          <a:cs typeface="Arial"/>
                        </a:rPr>
                        <a:t>What to write down</a:t>
                      </a:r>
                    </a:p>
                  </a:txBody>
                  <a:tcPr marL="91440" marR="91440" marT="45720" marB="45720" anchor="ctr">
                    <a:solidFill>
                      <a:srgbClr val="155F46"/>
                    </a:solidFill>
                  </a:tcPr>
                </a:tc>
              </a:tr>
              <a:tr h="566738">
                <a:tc>
                  <a:txBody>
                    <a:bodyPr lIns="133350" tIns="85725" rIns="133350" bIns="85725">
                      <a:noAutofit/>
                    </a:bodyPr>
                    <a:lstStyle/>
                    <a:p>
                      <a:r>
                        <a:rPr sz="1950" b="0">
                          <a:solidFill>
                            <a:srgbClr val="142A24"/>
                          </a:solidFill>
                          <a:latin typeface="Arial"/>
                          <a:ea typeface="Arial"/>
                          <a:cs typeface="Arial"/>
                        </a:rPr>
                        <a:t>Question</a:t>
                      </a:r>
                    </a:p>
                  </a:txBody>
                  <a:tcPr marL="91440" marR="91440" marT="45720" marB="45720" anchor="ctr">
                    <a:solidFill>
                      <a:srgbClr val="FFFEFB"/>
                    </a:solidFill>
                  </a:tcPr>
                </a:tc>
                <a:tc>
                  <a:txBody>
                    <a:bodyPr lIns="133350" tIns="85725" rIns="133350" bIns="85725">
                      <a:noAutofit/>
                    </a:bodyPr>
                    <a:lstStyle/>
                    <a:p>
                      <a:r>
                        <a:rPr sz="1950" b="0">
                          <a:solidFill>
                            <a:srgbClr val="142A24"/>
                          </a:solidFill>
                          <a:latin typeface="Arial"/>
                          <a:ea typeface="Arial"/>
                          <a:cs typeface="Arial"/>
                        </a:rPr>
                        <a:t>Population, variable and quantity to estimate</a:t>
                      </a:r>
                    </a:p>
                  </a:txBody>
                  <a:tcPr marL="91440" marR="91440" marT="45720" marB="45720" anchor="ctr">
                    <a:solidFill>
                      <a:srgbClr val="FFFEFB"/>
                    </a:solidFill>
                  </a:tcPr>
                </a:tc>
              </a:tr>
              <a:tr h="566738">
                <a:tc>
                  <a:txBody>
                    <a:bodyPr lIns="133350" tIns="85725" rIns="133350" bIns="85725">
                      <a:noAutofit/>
                    </a:bodyPr>
                    <a:lstStyle/>
                    <a:p>
                      <a:r>
                        <a:rPr sz="1950" b="0">
                          <a:solidFill>
                            <a:srgbClr val="142A24"/>
                          </a:solidFill>
                          <a:latin typeface="Arial"/>
                          <a:ea typeface="Arial"/>
                          <a:cs typeface="Arial"/>
                        </a:rPr>
                        <a:t>Source</a:t>
                      </a:r>
                    </a:p>
                  </a:txBody>
                  <a:tcPr marL="91440" marR="91440" marT="45720" marB="45720" anchor="ctr">
                    <a:solidFill>
                      <a:srgbClr val="F0F4F1"/>
                    </a:solidFill>
                  </a:tcPr>
                </a:tc>
                <a:tc>
                  <a:txBody>
                    <a:bodyPr lIns="133350" tIns="85725" rIns="133350" bIns="85725">
                      <a:noAutofit/>
                    </a:bodyPr>
                    <a:lstStyle/>
                    <a:p>
                      <a:r>
                        <a:rPr sz="1950" b="0">
                          <a:solidFill>
                            <a:srgbClr val="142A24"/>
                          </a:solidFill>
                          <a:latin typeface="Arial"/>
                          <a:ea typeface="Arial"/>
                          <a:cs typeface="Arial"/>
                        </a:rPr>
                        <a:t>Where the data came from, when, and under what licence</a:t>
                      </a:r>
                    </a:p>
                  </a:txBody>
                  <a:tcPr marL="91440" marR="91440" marT="45720" marB="45720" anchor="ctr">
                    <a:solidFill>
                      <a:srgbClr val="F0F4F1"/>
                    </a:solidFill>
                  </a:tcPr>
                </a:tc>
              </a:tr>
              <a:tr h="566738">
                <a:tc>
                  <a:txBody>
                    <a:bodyPr lIns="133350" tIns="85725" rIns="133350" bIns="85725">
                      <a:noAutofit/>
                    </a:bodyPr>
                    <a:lstStyle/>
                    <a:p>
                      <a:r>
                        <a:rPr sz="1950" b="0">
                          <a:solidFill>
                            <a:srgbClr val="142A24"/>
                          </a:solidFill>
                          <a:latin typeface="Arial"/>
                          <a:ea typeface="Arial"/>
                          <a:cs typeface="Arial"/>
                        </a:rPr>
                        <a:t>Checks</a:t>
                      </a:r>
                    </a:p>
                  </a:txBody>
                  <a:tcPr marL="91440" marR="91440" marT="45720" marB="45720" anchor="ctr">
                    <a:solidFill>
                      <a:srgbClr val="FFFEFB"/>
                    </a:solidFill>
                  </a:tcPr>
                </a:tc>
                <a:tc>
                  <a:txBody>
                    <a:bodyPr lIns="133350" tIns="85725" rIns="133350" bIns="85725">
                      <a:noAutofit/>
                    </a:bodyPr>
                    <a:lstStyle/>
                    <a:p>
                      <a:r>
                        <a:rPr sz="1950" b="0">
                          <a:solidFill>
                            <a:srgbClr val="142A24"/>
                          </a:solidFill>
                          <a:latin typeface="Arial"/>
                          <a:ea typeface="Arial"/>
                          <a:cs typeface="Arial"/>
                        </a:rPr>
                        <a:t>Row meaning, keys, units and missing values</a:t>
                      </a:r>
                    </a:p>
                  </a:txBody>
                  <a:tcPr marL="91440" marR="91440" marT="45720" marB="45720" anchor="ctr">
                    <a:solidFill>
                      <a:srgbClr val="FFFEFB"/>
                    </a:solidFill>
                  </a:tcPr>
                </a:tc>
              </a:tr>
              <a:tr h="566738">
                <a:tc>
                  <a:txBody>
                    <a:bodyPr lIns="133350" tIns="85725" rIns="133350" bIns="85725">
                      <a:noAutofit/>
                    </a:bodyPr>
                    <a:lstStyle/>
                    <a:p>
                      <a:r>
                        <a:rPr sz="1950" b="0">
                          <a:solidFill>
                            <a:srgbClr val="142A24"/>
                          </a:solidFill>
                          <a:latin typeface="Arial"/>
                          <a:ea typeface="Arial"/>
                          <a:cs typeface="Arial"/>
                        </a:rPr>
                        <a:t>Transformations</a:t>
                      </a:r>
                    </a:p>
                  </a:txBody>
                  <a:tcPr marL="91440" marR="91440" marT="45720" marB="45720" anchor="ctr">
                    <a:solidFill>
                      <a:srgbClr val="F0F4F1"/>
                    </a:solidFill>
                  </a:tcPr>
                </a:tc>
                <a:tc>
                  <a:txBody>
                    <a:bodyPr lIns="133350" tIns="85725" rIns="133350" bIns="85725">
                      <a:noAutofit/>
                    </a:bodyPr>
                    <a:lstStyle/>
                    <a:p>
                      <a:r>
                        <a:rPr sz="1950" b="0">
                          <a:solidFill>
                            <a:srgbClr val="142A24"/>
                          </a:solidFill>
                          <a:latin typeface="Arial"/>
                          <a:ea typeface="Arial"/>
                          <a:cs typeface="Arial"/>
                        </a:rPr>
                        <a:t>Conversions, selections, groups and joins</a:t>
                      </a:r>
                    </a:p>
                  </a:txBody>
                  <a:tcPr marL="91440" marR="91440" marT="45720" marB="45720" anchor="ctr">
                    <a:solidFill>
                      <a:srgbClr val="F0F4F1"/>
                    </a:solidFill>
                  </a:tcPr>
                </a:tc>
              </a:tr>
              <a:tr h="566738">
                <a:tc>
                  <a:txBody>
                    <a:bodyPr lIns="133350" tIns="85725" rIns="133350" bIns="85725">
                      <a:noAutofit/>
                    </a:bodyPr>
                    <a:lstStyle/>
                    <a:p>
                      <a:r>
                        <a:rPr sz="1950" b="0">
                          <a:solidFill>
                            <a:srgbClr val="142A24"/>
                          </a:solidFill>
                          <a:latin typeface="Arial"/>
                          <a:ea typeface="Arial"/>
                          <a:cs typeface="Arial"/>
                        </a:rPr>
                        <a:t>Result</a:t>
                      </a:r>
                    </a:p>
                  </a:txBody>
                  <a:tcPr marL="91440" marR="91440" marT="45720" marB="45720" anchor="ctr">
                    <a:solidFill>
                      <a:srgbClr val="FFFEFB"/>
                    </a:solidFill>
                  </a:tcPr>
                </a:tc>
                <a:tc>
                  <a:txBody>
                    <a:bodyPr lIns="133350" tIns="85725" rIns="133350" bIns="85725">
                      <a:noAutofit/>
                    </a:bodyPr>
                    <a:lstStyle/>
                    <a:p>
                      <a:r>
                        <a:rPr sz="1950" b="0">
                          <a:solidFill>
                            <a:srgbClr val="142A24"/>
                          </a:solidFill>
                          <a:latin typeface="Arial"/>
                          <a:ea typeface="Arial"/>
                          <a:cs typeface="Arial"/>
                        </a:rPr>
                        <a:t>A number with units, counts and limitations</a:t>
                      </a:r>
                    </a:p>
                  </a:txBody>
                  <a:tcPr marL="91440" marR="91440" marT="45720" marB="45720" anchor="ctr">
                    <a:solidFill>
                      <a:srgbClr val="FFFEFB"/>
                    </a:solidFill>
                  </a:tcPr>
                </a:tc>
              </a:tr>
            </a:tbl>
          </a:graphicData>
        </a:graphic>
      </p:graphicFrame>
      <p:sp>
        <p:nvSpPr>
          <p:cNvPr id="5" name="Keep the raw data and the code that produces the result.">
            <a:extLst xmlns:a="http://schemas.openxmlformats.org/drawingml/2006/main">
              <a:ext uri="{FF2B5EF4-FFF2-40B4-BE49-F238E27FC236}">
                <a16:creationId xmlns:a16="http://schemas.microsoft.com/office/drawing/2014/main" id="{5259E7CA-452A-4B88-A4F6-538DA1992109}"/>
              </a:ext>
            </a:extLst>
          </p:cNvPr>
          <p:cNvSpPr>
            <a:spLocks xmlns:a="http://schemas.openxmlformats.org/drawingml/2006/main" noGrp="1"/>
          </p:cNvSpPr>
          <p:nvPr/>
        </p:nvSpPr>
        <p:spPr>
          <a:xfrm xmlns:a="http://schemas.openxmlformats.org/drawingml/2006/main">
            <a:off x="685800" y="5534025"/>
            <a:ext cx="108204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155F46"/>
                </a:solidFill>
                <a:latin typeface="Arial"/>
                <a:ea typeface="Arial"/>
                <a:cs typeface="Arial"/>
              </a:defRPr>
            </a:pPr>
            <a:r>
              <a:rPr sz="2400" b="1">
                <a:solidFill>
                  <a:srgbClr val="155F46"/>
                </a:solidFill>
                <a:latin typeface="Arial"/>
                <a:ea typeface="Arial"/>
                <a:cs typeface="Arial"/>
              </a:rPr>
              <a:t>Keep the raw data and the code that produces the result.</a:t>
            </a:r>
          </a:p>
        </p:txBody>
      </p:sp>
      <p:sp>
        <p:nvSpPr>
          <p:cNvPr id="6" name="Open course page">
            <a:extLst xmlns:a="http://schemas.openxmlformats.org/drawingml/2006/main">
              <a:ext uri="{FF2B5EF4-FFF2-40B4-BE49-F238E27FC236}">
                <a16:creationId xmlns:a16="http://schemas.microsoft.com/office/drawing/2014/main" id="{9F463354-B0E9-4330-9B2D-DE986340E70D}"/>
              </a:ext>
            </a:extLst>
          </p:cNvPr>
          <p:cNvSpPr>
            <a:spLocks xmlns:a="http://schemas.openxmlformats.org/drawingml/2006/main" noGrp="1"/>
          </p:cNvSpPr>
          <p:nvPr/>
        </p:nvSpPr>
        <p:spPr>
          <a:xfrm xmlns:a="http://schemas.openxmlformats.org/drawingml/2006/main">
            <a:off x="685800" y="6381750"/>
            <a:ext cx="571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55F46"/>
                </a:solidFill>
                <a:latin typeface="Arial"/>
                <a:ea typeface="Arial"/>
                <a:cs typeface="Arial"/>
              </a:defRPr>
            </a:pPr>
            <a:r>
              <a:rPr sz="1500" b="1">
                <a:solidFill>
                  <a:srgbClr val="155F46"/>
                </a:solidFill>
                <a:latin typeface="Arial"/>
                <a:ea typeface="Arial"/>
                <a:cs typeface="Arial"/>
                <a:hlinkClick xmlns:r="http://schemas.openxmlformats.org/officeDocument/2006/relationships" r:id="R2ae0ce676689462c"/>
              </a:rPr>
              <a:t>Open course page</a:t>
            </a:r>
          </a:p>
        </p:txBody>
      </p:sp>
      <p:sp>
        <p:nvSpPr>
          <p:cNvPr id="7" name="75–80 min · 15 / 23">
            <a:extLst xmlns:a="http://schemas.openxmlformats.org/drawingml/2006/main">
              <a:ext uri="{FF2B5EF4-FFF2-40B4-BE49-F238E27FC236}">
                <a16:creationId xmlns:a16="http://schemas.microsoft.com/office/drawing/2014/main" id="{2C61F4AB-71FB-4D35-95B9-11F24FBA2571}"/>
              </a:ext>
            </a:extLst>
          </p:cNvPr>
          <p:cNvSpPr>
            <a:spLocks xmlns:a="http://schemas.openxmlformats.org/drawingml/2006/main" noGrp="1"/>
          </p:cNvSpPr>
          <p:nvPr/>
        </p:nvSpPr>
        <p:spPr>
          <a:xfrm xmlns:a="http://schemas.openxmlformats.org/drawingml/2006/main">
            <a:off x="8191500" y="6381750"/>
            <a:ext cx="3314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66C61"/>
                </a:solidFill>
                <a:latin typeface="Arial"/>
                <a:ea typeface="Arial"/>
                <a:cs typeface="Arial"/>
              </a:defRPr>
            </a:pPr>
            <a:r>
              <a:rPr sz="1500" b="0">
                <a:solidFill>
                  <a:srgbClr val="566C61"/>
                </a:solidFill>
                <a:latin typeface="Arial"/>
                <a:ea typeface="Arial"/>
                <a:cs typeface="Arial"/>
              </a:rPr>
              <a:t>75–80 min · 15 / 23</a:t>
            </a:r>
          </a:p>
        </p:txBody>
      </p:sp>
    </p:spTree>
    <p:extLst>
      <p:ext uri="{BB962C8B-B14F-4D97-AF65-F5344CB8AC3E}">
        <p14:creationId xmlns:p14="http://schemas.microsoft.com/office/powerpoint/2010/main" val="974087026"/>
      </p:ext>
    </p:extLst>
  </p:cSld>
</p:sld>
</file>

<file path=ppt/slides/slide16.xml><?xml version="1.0" encoding="utf-8"?>
<p:sld xmlns:p="http://schemas.openxmlformats.org/presentationml/2006/main">
  <p:cSld>
    <p:bg>
      <p:bgPr>
        <a:solidFill xmlns:a="http://schemas.openxmlformats.org/drawingml/2006/main">
          <a:srgbClr val="FFFEF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7186454-FC76-4BFE-ACFA-A8883D5B6169}"/>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5F46"/>
          </a:solidFill>
          <a:ln xmlns:a="http://schemas.openxmlformats.org/drawingml/2006/main" w="0">
            <a:noFill/>
          </a:ln>
        </p:spPr>
      </p:sp>
      <p:sp>
        <p:nvSpPr>
          <p:cNvPr id="2" name="3 · Data lifecycle">
            <a:extLst xmlns:a="http://schemas.openxmlformats.org/drawingml/2006/main">
              <a:ext uri="{FF2B5EF4-FFF2-40B4-BE49-F238E27FC236}">
                <a16:creationId xmlns:a16="http://schemas.microsoft.com/office/drawing/2014/main" id="{6CF80FAF-5D1A-48F1-AE10-BA24EC66F555}"/>
              </a:ext>
            </a:extLst>
          </p:cNvPr>
          <p:cNvSpPr>
            <a:spLocks xmlns:a="http://schemas.openxmlformats.org/drawingml/2006/main" noGrp="1"/>
          </p:cNvSpPr>
          <p:nvPr/>
        </p:nvSpPr>
        <p:spPr>
          <a:xfrm xmlns:a="http://schemas.openxmlformats.org/drawingml/2006/main">
            <a:off x="685800" y="323850"/>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1">
                <a:solidFill>
                  <a:srgbClr val="155F46"/>
                </a:solidFill>
                <a:latin typeface="Arial"/>
                <a:ea typeface="Arial"/>
                <a:cs typeface="Arial"/>
              </a:defRPr>
            </a:pPr>
            <a:r>
              <a:rPr sz="1575" b="1">
                <a:solidFill>
                  <a:srgbClr val="155F46"/>
                </a:solidFill>
                <a:latin typeface="Arial"/>
                <a:ea typeface="Arial"/>
                <a:cs typeface="Arial"/>
              </a:rPr>
              <a:t>3 · Data lifecycle</a:t>
            </a:r>
          </a:p>
        </p:txBody>
      </p:sp>
      <p:sp>
        <p:nvSpPr>
          <p:cNvPr id="3" name="One dataset can answer two different questions">
            <a:extLst xmlns:a="http://schemas.openxmlformats.org/drawingml/2006/main">
              <a:ext uri="{FF2B5EF4-FFF2-40B4-BE49-F238E27FC236}">
                <a16:creationId xmlns:a16="http://schemas.microsoft.com/office/drawing/2014/main" id="{9D2354C4-B0CC-4BD9-BFA2-ACB7C7CEC8B5}"/>
              </a:ext>
            </a:extLst>
          </p:cNvPr>
          <p:cNvSpPr>
            <a:spLocks xmlns:a="http://schemas.openxmlformats.org/drawingml/2006/main" noGrp="1"/>
          </p:cNvSpPr>
          <p:nvPr/>
        </p:nvSpPr>
        <p:spPr>
          <a:xfrm xmlns:a="http://schemas.openxmlformats.org/drawingml/2006/main">
            <a:off x="685800" y="73342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142A24"/>
                </a:solidFill>
                <a:latin typeface="Arial"/>
                <a:ea typeface="Arial"/>
                <a:cs typeface="Arial"/>
              </a:defRPr>
            </a:pPr>
            <a:r>
              <a:rPr sz="3225" b="1">
                <a:solidFill>
                  <a:srgbClr val="142A24"/>
                </a:solidFill>
                <a:latin typeface="Arial"/>
                <a:ea typeface="Arial"/>
                <a:cs typeface="Arial"/>
              </a:rPr>
              <a:t>One dataset can answer two different questions</a:t>
            </a:r>
          </a:p>
        </p:txBody>
      </p:sp>
      <p:sp>
        <p:nvSpPr>
          <p:cNvPr id="4" name="A small, deliberately uneven slice of the air-quality teachi">
            <a:extLst xmlns:a="http://schemas.openxmlformats.org/drawingml/2006/main">
              <a:ext uri="{FF2B5EF4-FFF2-40B4-BE49-F238E27FC236}">
                <a16:creationId xmlns:a16="http://schemas.microsoft.com/office/drawing/2014/main" id="{B49B7496-EF86-4E5F-9036-611C4ABF26AB}"/>
              </a:ext>
            </a:extLst>
          </p:cNvPr>
          <p:cNvSpPr>
            <a:spLocks xmlns:a="http://schemas.openxmlformats.org/drawingml/2006/main" noGrp="1"/>
          </p:cNvSpPr>
          <p:nvPr/>
        </p:nvSpPr>
        <p:spPr>
          <a:xfrm xmlns:a="http://schemas.openxmlformats.org/drawingml/2006/main">
            <a:off x="685800" y="1704975"/>
            <a:ext cx="108204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42A24"/>
                </a:solidFill>
                <a:latin typeface="Arial"/>
                <a:ea typeface="Arial"/>
                <a:cs typeface="Arial"/>
              </a:defRPr>
            </a:pPr>
            <a:r>
              <a:rPr sz="2100" b="0">
                <a:solidFill>
                  <a:srgbClr val="142A24"/>
                </a:solidFill>
                <a:latin typeface="Arial"/>
                <a:ea typeface="Arial"/>
                <a:cs typeface="Arial"/>
              </a:rPr>
              <a:t>A small, deliberately uneven slice of the air-quality teaching data:</a:t>
            </a:r>
          </a:p>
        </p:txBody>
      </p:sp>
      <p:graphicFrame>
        <p:nvGraphicFramePr>
          <p:cNvPr id="13" name=""/>
          <p:cNvGraphicFramePr/>
          <p:nvPr/>
        </p:nvGraphicFramePr>
        <p:xfrm>
          <a:off xmlns:a="http://schemas.openxmlformats.org/drawingml/2006/main" x="685800" y="2533650"/>
          <a:ext xmlns:a="http://schemas.openxmlformats.org/drawingml/2006/main" cx="10820400" cy="2228850"/>
        </p:xfrm>
        <a:graphic xmlns:a="http://schemas.openxmlformats.org/drawingml/2006/main">
          <a:graphicData uri="http://schemas.openxmlformats.org/drawingml/2006/table">
            <a:tbl>
              <a:tblPr firstRow="1" bandRow="0"/>
              <a:tblGrid>
                <a:gridCol w="3453319"/>
                <a:gridCol w="3107987"/>
                <a:gridCol w="4259094"/>
              </a:tblGrid>
              <a:tr h="557213">
                <a:tc>
                  <a:txBody>
                    <a:bodyPr lIns="133350" tIns="85725" rIns="133350" bIns="85725">
                      <a:noAutofit/>
                    </a:bodyPr>
                    <a:lstStyle/>
                    <a:p>
                      <a:r>
                        <a:rPr sz="2100" b="1">
                          <a:solidFill>
                            <a:srgbClr val="FFFFFF"/>
                          </a:solidFill>
                          <a:latin typeface="Arial"/>
                          <a:ea typeface="Arial"/>
                          <a:cs typeface="Arial"/>
                        </a:rPr>
                        <a:t>station</a:t>
                      </a:r>
                    </a:p>
                  </a:txBody>
                  <a:tcPr marL="91440" marR="91440" marT="45720" marB="45720" anchor="ctr">
                    <a:solidFill>
                      <a:srgbClr val="155F46"/>
                    </a:solidFill>
                  </a:tcPr>
                </a:tc>
                <a:tc>
                  <a:txBody>
                    <a:bodyPr lIns="133350" tIns="85725" rIns="133350" bIns="85725">
                      <a:noAutofit/>
                    </a:bodyPr>
                    <a:lstStyle/>
                    <a:p>
                      <a:r>
                        <a:rPr sz="2100" b="1">
                          <a:solidFill>
                            <a:srgbClr val="FFFFFF"/>
                          </a:solidFill>
                          <a:latin typeface="Arial"/>
                          <a:ea typeface="Arial"/>
                          <a:cs typeface="Arial"/>
                        </a:rPr>
                        <a:t>available readings</a:t>
                      </a:r>
                    </a:p>
                  </a:txBody>
                  <a:tcPr marL="91440" marR="91440" marT="45720" marB="45720" anchor="ctr">
                    <a:solidFill>
                      <a:srgbClr val="155F46"/>
                    </a:solidFill>
                  </a:tcPr>
                </a:tc>
                <a:tc>
                  <a:txBody>
                    <a:bodyPr lIns="133350" tIns="85725" rIns="133350" bIns="85725">
                      <a:noAutofit/>
                    </a:bodyPr>
                    <a:lstStyle/>
                    <a:p>
                      <a:r>
                        <a:rPr sz="2100" b="1">
                          <a:solidFill>
                            <a:srgbClr val="FFFFFF"/>
                          </a:solidFill>
                          <a:latin typeface="Arial"/>
                          <a:ea typeface="Arial"/>
                          <a:cs typeface="Arial"/>
                        </a:rPr>
                        <a:t>mean temperature °C</a:t>
                      </a:r>
                    </a:p>
                  </a:txBody>
                  <a:tcPr marL="91440" marR="91440" marT="45720" marB="45720" anchor="ctr">
                    <a:solidFill>
                      <a:srgbClr val="155F46"/>
                    </a:solidFill>
                  </a:tcPr>
                </a:tc>
              </a:tr>
              <a:tr h="557213">
                <a:tc>
                  <a:txBody>
                    <a:bodyPr lIns="133350" tIns="85725" rIns="133350" bIns="85725">
                      <a:noAutofit/>
                    </a:bodyPr>
                    <a:lstStyle/>
                    <a:p>
                      <a:r>
                        <a:rPr sz="2100" b="0">
                          <a:solidFill>
                            <a:srgbClr val="142A24"/>
                          </a:solidFill>
                          <a:latin typeface="Arial"/>
                          <a:ea typeface="Arial"/>
                          <a:cs typeface="Arial"/>
                        </a:rPr>
                        <a:t>Aotizhongxin</a:t>
                      </a:r>
                    </a:p>
                  </a:txBody>
                  <a:tcPr marL="91440" marR="91440" marT="45720" marB="45720" anchor="ctr">
                    <a:solidFill>
                      <a:srgbClr val="FFFEFB"/>
                    </a:solidFill>
                  </a:tcPr>
                </a:tc>
                <a:tc>
                  <a:txBody>
                    <a:bodyPr lIns="133350" tIns="85725" rIns="133350" bIns="85725">
                      <a:noAutofit/>
                    </a:bodyPr>
                    <a:lstStyle/>
                    <a:p>
                      <a:r>
                        <a:rPr sz="2100" b="0">
                          <a:solidFill>
                            <a:srgbClr val="142A24"/>
                          </a:solidFill>
                          <a:latin typeface="Arial"/>
                          <a:ea typeface="Arial"/>
                          <a:cs typeface="Arial"/>
                        </a:rPr>
                        <a:t>6</a:t>
                      </a:r>
                    </a:p>
                  </a:txBody>
                  <a:tcPr marL="91440" marR="91440" marT="45720" marB="45720" anchor="ctr">
                    <a:solidFill>
                      <a:srgbClr val="FFFEFB"/>
                    </a:solidFill>
                  </a:tcPr>
                </a:tc>
                <a:tc>
                  <a:txBody>
                    <a:bodyPr lIns="133350" tIns="85725" rIns="133350" bIns="85725">
                      <a:noAutofit/>
                    </a:bodyPr>
                    <a:lstStyle/>
                    <a:p>
                      <a:r>
                        <a:rPr sz="2100" b="0">
                          <a:solidFill>
                            <a:srgbClr val="142A24"/>
                          </a:solidFill>
                          <a:latin typeface="Arial"/>
                          <a:ea typeface="Arial"/>
                          <a:cs typeface="Arial"/>
                        </a:rPr>
                        <a:t>−1.4167</a:t>
                      </a:r>
                    </a:p>
                  </a:txBody>
                  <a:tcPr marL="91440" marR="91440" marT="45720" marB="45720" anchor="ctr">
                    <a:solidFill>
                      <a:srgbClr val="FFFEFB"/>
                    </a:solidFill>
                  </a:tcPr>
                </a:tc>
              </a:tr>
              <a:tr h="557213">
                <a:tc>
                  <a:txBody>
                    <a:bodyPr lIns="133350" tIns="85725" rIns="133350" bIns="85725">
                      <a:noAutofit/>
                    </a:bodyPr>
                    <a:lstStyle/>
                    <a:p>
                      <a:r>
                        <a:rPr sz="2100" b="0">
                          <a:solidFill>
                            <a:srgbClr val="142A24"/>
                          </a:solidFill>
                          <a:latin typeface="Arial"/>
                          <a:ea typeface="Arial"/>
                          <a:cs typeface="Arial"/>
                        </a:rPr>
                        <a:t>Changping</a:t>
                      </a:r>
                    </a:p>
                  </a:txBody>
                  <a:tcPr marL="91440" marR="91440" marT="45720" marB="45720" anchor="ctr">
                    <a:solidFill>
                      <a:srgbClr val="F0F4F1"/>
                    </a:solidFill>
                  </a:tcPr>
                </a:tc>
                <a:tc>
                  <a:txBody>
                    <a:bodyPr lIns="133350" tIns="85725" rIns="133350" bIns="85725">
                      <a:noAutofit/>
                    </a:bodyPr>
                    <a:lstStyle/>
                    <a:p>
                      <a:r>
                        <a:rPr sz="2100" b="0">
                          <a:solidFill>
                            <a:srgbClr val="142A24"/>
                          </a:solidFill>
                          <a:latin typeface="Arial"/>
                          <a:ea typeface="Arial"/>
                          <a:cs typeface="Arial"/>
                        </a:rPr>
                        <a:t>2</a:t>
                      </a:r>
                    </a:p>
                  </a:txBody>
                  <a:tcPr marL="91440" marR="91440" marT="45720" marB="45720" anchor="ctr">
                    <a:solidFill>
                      <a:srgbClr val="F0F4F1"/>
                    </a:solidFill>
                  </a:tcPr>
                </a:tc>
                <a:tc>
                  <a:txBody>
                    <a:bodyPr lIns="133350" tIns="85725" rIns="133350" bIns="85725">
                      <a:noAutofit/>
                    </a:bodyPr>
                    <a:lstStyle/>
                    <a:p>
                      <a:r>
                        <a:rPr sz="2100" b="0">
                          <a:solidFill>
                            <a:srgbClr val="142A24"/>
                          </a:solidFill>
                          <a:latin typeface="Arial"/>
                          <a:ea typeface="Arial"/>
                          <a:cs typeface="Arial"/>
                        </a:rPr>
                        <a:t>−2.4000</a:t>
                      </a:r>
                    </a:p>
                  </a:txBody>
                  <a:tcPr marL="91440" marR="91440" marT="45720" marB="45720" anchor="ctr">
                    <a:solidFill>
                      <a:srgbClr val="F0F4F1"/>
                    </a:solidFill>
                  </a:tcPr>
                </a:tc>
              </a:tr>
              <a:tr h="557213">
                <a:tc>
                  <a:txBody>
                    <a:bodyPr lIns="133350" tIns="85725" rIns="133350" bIns="85725">
                      <a:noAutofit/>
                    </a:bodyPr>
                    <a:lstStyle/>
                    <a:p>
                      <a:r>
                        <a:rPr sz="2100" b="0">
                          <a:solidFill>
                            <a:srgbClr val="142A24"/>
                          </a:solidFill>
                          <a:latin typeface="Arial"/>
                          <a:ea typeface="Arial"/>
                          <a:cs typeface="Arial"/>
                        </a:rPr>
                        <a:t>Dingling</a:t>
                      </a:r>
                    </a:p>
                  </a:txBody>
                  <a:tcPr marL="91440" marR="91440" marT="45720" marB="45720" anchor="ctr">
                    <a:solidFill>
                      <a:srgbClr val="FFFEFB"/>
                    </a:solidFill>
                  </a:tcPr>
                </a:tc>
                <a:tc>
                  <a:txBody>
                    <a:bodyPr lIns="133350" tIns="85725" rIns="133350" bIns="85725">
                      <a:noAutofit/>
                    </a:bodyPr>
                    <a:lstStyle/>
                    <a:p>
                      <a:r>
                        <a:rPr sz="2100" b="0">
                          <a:solidFill>
                            <a:srgbClr val="142A24"/>
                          </a:solidFill>
                          <a:latin typeface="Arial"/>
                          <a:ea typeface="Arial"/>
                          <a:cs typeface="Arial"/>
                        </a:rPr>
                        <a:t>2</a:t>
                      </a:r>
                    </a:p>
                  </a:txBody>
                  <a:tcPr marL="91440" marR="91440" marT="45720" marB="45720" anchor="ctr">
                    <a:solidFill>
                      <a:srgbClr val="FFFEFB"/>
                    </a:solidFill>
                  </a:tcPr>
                </a:tc>
                <a:tc>
                  <a:txBody>
                    <a:bodyPr lIns="133350" tIns="85725" rIns="133350" bIns="85725">
                      <a:noAutofit/>
                    </a:bodyPr>
                    <a:lstStyle/>
                    <a:p>
                      <a:r>
                        <a:rPr sz="2100" b="0">
                          <a:solidFill>
                            <a:srgbClr val="142A24"/>
                          </a:solidFill>
                          <a:latin typeface="Arial"/>
                          <a:ea typeface="Arial"/>
                          <a:cs typeface="Arial"/>
                        </a:rPr>
                        <a:t>−2.4000</a:t>
                      </a:r>
                    </a:p>
                  </a:txBody>
                  <a:tcPr marL="91440" marR="91440" marT="45720" marB="45720" anchor="ctr">
                    <a:solidFill>
                      <a:srgbClr val="FFFEFB"/>
                    </a:solidFill>
                  </a:tcPr>
                </a:tc>
              </a:tr>
            </a:tbl>
          </a:graphicData>
        </a:graphic>
      </p:graphicFrame>
      <p:sp>
        <p:nvSpPr>
          <p:cNvPr id="6" name="Equal weight per reading: −1.810 °C&#10;Equal weight per station">
            <a:extLst xmlns:a="http://schemas.openxmlformats.org/drawingml/2006/main">
              <a:ext uri="{FF2B5EF4-FFF2-40B4-BE49-F238E27FC236}">
                <a16:creationId xmlns:a16="http://schemas.microsoft.com/office/drawing/2014/main" id="{704B9E47-A528-4029-B935-16A9A5F92D1B}"/>
              </a:ext>
            </a:extLst>
          </p:cNvPr>
          <p:cNvSpPr>
            <a:spLocks xmlns:a="http://schemas.openxmlformats.org/drawingml/2006/main" noGrp="1"/>
          </p:cNvSpPr>
          <p:nvPr/>
        </p:nvSpPr>
        <p:spPr>
          <a:xfrm xmlns:a="http://schemas.openxmlformats.org/drawingml/2006/main">
            <a:off x="685800" y="5143500"/>
            <a:ext cx="108204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155F46"/>
                </a:solidFill>
                <a:latin typeface="Arial"/>
                <a:ea typeface="Arial"/>
                <a:cs typeface="Arial"/>
              </a:defRPr>
            </a:pPr>
            <a:r>
              <a:rPr sz="2550" b="1">
                <a:solidFill>
                  <a:srgbClr val="155F46"/>
                </a:solidFill>
                <a:latin typeface="Arial"/>
                <a:ea typeface="Arial"/>
                <a:cs typeface="Arial"/>
              </a:rPr>
              <a:t>Equal weight per reading: −1.810 °C</a:t>
            </a:r>
          </a:p>
          <a:p xmlns:a="http://schemas.openxmlformats.org/drawingml/2006/main">
            <a:pPr>
              <a:defRPr sz="2550" b="1">
                <a:solidFill>
                  <a:srgbClr val="155F46"/>
                </a:solidFill>
                <a:latin typeface="Arial"/>
                <a:ea typeface="Arial"/>
                <a:cs typeface="Arial"/>
              </a:defRPr>
            </a:pPr>
            <a:r>
              <a:rPr sz="2550" b="1">
                <a:solidFill>
                  <a:srgbClr val="155F46"/>
                </a:solidFill>
                <a:latin typeface="Arial"/>
                <a:ea typeface="Arial"/>
                <a:cs typeface="Arial"/>
              </a:rPr>
              <a:t>Equal weight per station:   −2.072 °C</a:t>
            </a:r>
          </a:p>
        </p:txBody>
      </p:sp>
      <p:sp>
        <p:nvSpPr>
          <p:cNvPr id="7" name="Open course page">
            <a:extLst xmlns:a="http://schemas.openxmlformats.org/drawingml/2006/main">
              <a:ext uri="{FF2B5EF4-FFF2-40B4-BE49-F238E27FC236}">
                <a16:creationId xmlns:a16="http://schemas.microsoft.com/office/drawing/2014/main" id="{232E7D72-EE3C-4AC5-8F77-BC93F35B1288}"/>
              </a:ext>
            </a:extLst>
          </p:cNvPr>
          <p:cNvSpPr>
            <a:spLocks xmlns:a="http://schemas.openxmlformats.org/drawingml/2006/main" noGrp="1"/>
          </p:cNvSpPr>
          <p:nvPr/>
        </p:nvSpPr>
        <p:spPr>
          <a:xfrm xmlns:a="http://schemas.openxmlformats.org/drawingml/2006/main">
            <a:off x="685800" y="6381750"/>
            <a:ext cx="571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55F46"/>
                </a:solidFill>
                <a:latin typeface="Arial"/>
                <a:ea typeface="Arial"/>
                <a:cs typeface="Arial"/>
              </a:defRPr>
            </a:pPr>
            <a:r>
              <a:rPr sz="1500" b="1">
                <a:solidFill>
                  <a:srgbClr val="155F46"/>
                </a:solidFill>
                <a:latin typeface="Arial"/>
                <a:ea typeface="Arial"/>
                <a:cs typeface="Arial"/>
                <a:hlinkClick xmlns:r="http://schemas.openxmlformats.org/officeDocument/2006/relationships" r:id="Rb1f6795ddf104207"/>
              </a:rPr>
              <a:t>Open course page</a:t>
            </a:r>
          </a:p>
        </p:txBody>
      </p:sp>
      <p:sp>
        <p:nvSpPr>
          <p:cNvPr id="8" name="80–86 min · 16 / 23">
            <a:extLst xmlns:a="http://schemas.openxmlformats.org/drawingml/2006/main">
              <a:ext uri="{FF2B5EF4-FFF2-40B4-BE49-F238E27FC236}">
                <a16:creationId xmlns:a16="http://schemas.microsoft.com/office/drawing/2014/main" id="{38D0DD5A-4599-4385-825A-8CA0BDE8C3E5}"/>
              </a:ext>
            </a:extLst>
          </p:cNvPr>
          <p:cNvSpPr>
            <a:spLocks xmlns:a="http://schemas.openxmlformats.org/drawingml/2006/main" noGrp="1"/>
          </p:cNvSpPr>
          <p:nvPr/>
        </p:nvSpPr>
        <p:spPr>
          <a:xfrm xmlns:a="http://schemas.openxmlformats.org/drawingml/2006/main">
            <a:off x="8191500" y="6381750"/>
            <a:ext cx="3314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66C61"/>
                </a:solidFill>
                <a:latin typeface="Arial"/>
                <a:ea typeface="Arial"/>
                <a:cs typeface="Arial"/>
              </a:defRPr>
            </a:pPr>
            <a:r>
              <a:rPr sz="1500" b="0">
                <a:solidFill>
                  <a:srgbClr val="566C61"/>
                </a:solidFill>
                <a:latin typeface="Arial"/>
                <a:ea typeface="Arial"/>
                <a:cs typeface="Arial"/>
              </a:rPr>
              <a:t>80–86 min · 16 / 23</a:t>
            </a:r>
          </a:p>
        </p:txBody>
      </p:sp>
    </p:spTree>
    <p:extLst>
      <p:ext uri="{BB962C8B-B14F-4D97-AF65-F5344CB8AC3E}">
        <p14:creationId xmlns:p14="http://schemas.microsoft.com/office/powerpoint/2010/main" val="2146948561"/>
      </p:ext>
    </p:extLst>
  </p:cSld>
</p:sld>
</file>

<file path=ppt/slides/slide17.xml><?xml version="1.0" encoding="utf-8"?>
<p:sld xmlns:p="http://schemas.openxmlformats.org/presentationml/2006/main">
  <p:cSld>
    <p:bg>
      <p:bgPr>
        <a:solidFill xmlns:a="http://schemas.openxmlformats.org/drawingml/2006/main">
          <a:srgbClr val="FFFEFB"/>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7A8E5F6-0C14-4B9C-A04F-BB99E34D7325}"/>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5F46"/>
          </a:solidFill>
          <a:ln xmlns:a="http://schemas.openxmlformats.org/drawingml/2006/main" w="0">
            <a:noFill/>
          </a:ln>
        </p:spPr>
      </p:sp>
      <p:sp>
        <p:nvSpPr>
          <p:cNvPr id="2" name="3 · Mathematical connection">
            <a:extLst xmlns:a="http://schemas.openxmlformats.org/drawingml/2006/main">
              <a:ext uri="{FF2B5EF4-FFF2-40B4-BE49-F238E27FC236}">
                <a16:creationId xmlns:a16="http://schemas.microsoft.com/office/drawing/2014/main" id="{87FA1264-F4BC-4894-BF80-2F366691DEBE}"/>
              </a:ext>
            </a:extLst>
          </p:cNvPr>
          <p:cNvSpPr>
            <a:spLocks xmlns:a="http://schemas.openxmlformats.org/drawingml/2006/main" noGrp="1"/>
          </p:cNvSpPr>
          <p:nvPr/>
        </p:nvSpPr>
        <p:spPr>
          <a:xfrm xmlns:a="http://schemas.openxmlformats.org/drawingml/2006/main">
            <a:off x="685800" y="323850"/>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1">
                <a:solidFill>
                  <a:srgbClr val="155F46"/>
                </a:solidFill>
                <a:latin typeface="Arial"/>
                <a:ea typeface="Arial"/>
                <a:cs typeface="Arial"/>
              </a:defRPr>
            </a:pPr>
            <a:r>
              <a:rPr sz="1575" b="1">
                <a:solidFill>
                  <a:srgbClr val="155F46"/>
                </a:solidFill>
                <a:latin typeface="Arial"/>
                <a:ea typeface="Arial"/>
                <a:cs typeface="Arial"/>
              </a:rPr>
              <a:t>3 · Mathematical connection</a:t>
            </a:r>
          </a:p>
        </p:txBody>
      </p:sp>
      <p:sp>
        <p:nvSpPr>
          <p:cNvPr id="3" name="The weights belong to the question">
            <a:extLst xmlns:a="http://schemas.openxmlformats.org/drawingml/2006/main">
              <a:ext uri="{FF2B5EF4-FFF2-40B4-BE49-F238E27FC236}">
                <a16:creationId xmlns:a16="http://schemas.microsoft.com/office/drawing/2014/main" id="{5815C7D8-D0C5-43AE-A175-D9FB574E2BA0}"/>
              </a:ext>
            </a:extLst>
          </p:cNvPr>
          <p:cNvSpPr>
            <a:spLocks xmlns:a="http://schemas.openxmlformats.org/drawingml/2006/main" noGrp="1"/>
          </p:cNvSpPr>
          <p:nvPr/>
        </p:nvSpPr>
        <p:spPr>
          <a:xfrm xmlns:a="http://schemas.openxmlformats.org/drawingml/2006/main">
            <a:off x="685800" y="73342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142A24"/>
                </a:solidFill>
                <a:latin typeface="Arial"/>
                <a:ea typeface="Arial"/>
                <a:cs typeface="Arial"/>
              </a:defRPr>
            </a:pPr>
            <a:r>
              <a:rPr sz="3225" b="1">
                <a:solidFill>
                  <a:srgbClr val="142A24"/>
                </a:solidFill>
                <a:latin typeface="Arial"/>
                <a:ea typeface="Arial"/>
                <a:cs typeface="Arial"/>
              </a:rPr>
              <a:t>The weights belong to the question</a:t>
            </a:r>
          </a:p>
        </p:txBody>
      </p:sp>
      <p:sp>
        <p:nvSpPr>
          <p:cNvPr id="4" name="Let nᵢ be the available count and μᵢ the mean for group i.">
            <a:extLst xmlns:a="http://schemas.openxmlformats.org/drawingml/2006/main">
              <a:ext uri="{FF2B5EF4-FFF2-40B4-BE49-F238E27FC236}">
                <a16:creationId xmlns:a16="http://schemas.microsoft.com/office/drawing/2014/main" id="{39E8B2D3-BBD6-4D73-BDC9-D4DDE3A5B8ED}"/>
              </a:ext>
            </a:extLst>
          </p:cNvPr>
          <p:cNvSpPr>
            <a:spLocks xmlns:a="http://schemas.openxmlformats.org/drawingml/2006/main" noGrp="1"/>
          </p:cNvSpPr>
          <p:nvPr/>
        </p:nvSpPr>
        <p:spPr>
          <a:xfrm xmlns:a="http://schemas.openxmlformats.org/drawingml/2006/main">
            <a:off x="685800" y="1762125"/>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42A24"/>
                </a:solidFill>
                <a:latin typeface="Arial"/>
                <a:ea typeface="Arial"/>
                <a:cs typeface="Arial"/>
              </a:defRPr>
            </a:pPr>
            <a:r>
              <a:rPr sz="2175" b="0">
                <a:solidFill>
                  <a:srgbClr val="142A24"/>
                </a:solidFill>
                <a:latin typeface="Arial"/>
                <a:ea typeface="Arial"/>
                <a:cs typeface="Arial"/>
              </a:rPr>
              <a:t>Let nᵢ be the available count and μᵢ the mean for group i.</a:t>
            </a:r>
          </a:p>
        </p:txBody>
      </p:sp>
      <p:sp>
        <p:nvSpPr>
          <p:cNvPr id="5" name="Equal weight per reading">
            <a:extLst xmlns:a="http://schemas.openxmlformats.org/drawingml/2006/main">
              <a:ext uri="{FF2B5EF4-FFF2-40B4-BE49-F238E27FC236}">
                <a16:creationId xmlns:a16="http://schemas.microsoft.com/office/drawing/2014/main" id="{0D311CBC-B2A4-45F1-993E-0D839255D0FE}"/>
              </a:ext>
            </a:extLst>
          </p:cNvPr>
          <p:cNvSpPr>
            <a:spLocks xmlns:a="http://schemas.openxmlformats.org/drawingml/2006/main" noGrp="1"/>
          </p:cNvSpPr>
          <p:nvPr/>
        </p:nvSpPr>
        <p:spPr>
          <a:xfrm xmlns:a="http://schemas.openxmlformats.org/drawingml/2006/main">
            <a:off x="685800" y="2752725"/>
            <a:ext cx="523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142A24"/>
                </a:solidFill>
                <a:latin typeface="Arial"/>
                <a:ea typeface="Arial"/>
                <a:cs typeface="Arial"/>
              </a:defRPr>
            </a:pPr>
            <a:r>
              <a:rPr sz="2325" b="1">
                <a:solidFill>
                  <a:srgbClr val="142A24"/>
                </a:solidFill>
                <a:latin typeface="Arial"/>
                <a:ea typeface="Arial"/>
                <a:cs typeface="Arial"/>
              </a:rPr>
              <a:t>Equal weight per reading</a:t>
            </a:r>
          </a:p>
        </p:txBody>
      </p:sp>
      <p:sp>
        <p:nvSpPr>
          <p:cNvPr id="6" name="Σ nᵢ μᵢ / Σ nᵢ">
            <a:extLst xmlns:a="http://schemas.openxmlformats.org/drawingml/2006/main">
              <a:ext uri="{FF2B5EF4-FFF2-40B4-BE49-F238E27FC236}">
                <a16:creationId xmlns:a16="http://schemas.microsoft.com/office/drawing/2014/main" id="{244D280C-7611-4580-B3BD-18B5A90C9A1B}"/>
              </a:ext>
            </a:extLst>
          </p:cNvPr>
          <p:cNvSpPr>
            <a:spLocks xmlns:a="http://schemas.openxmlformats.org/drawingml/2006/main" noGrp="1"/>
          </p:cNvSpPr>
          <p:nvPr/>
        </p:nvSpPr>
        <p:spPr>
          <a:xfrm xmlns:a="http://schemas.openxmlformats.org/drawingml/2006/main">
            <a:off x="685800" y="3552825"/>
            <a:ext cx="5238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0">
                <a:solidFill>
                  <a:srgbClr val="155F46"/>
                </a:solidFill>
                <a:latin typeface="Arial"/>
                <a:ea typeface="Arial"/>
                <a:cs typeface="Arial"/>
              </a:defRPr>
            </a:pPr>
            <a:r>
              <a:rPr sz="3150" b="0">
                <a:solidFill>
                  <a:srgbClr val="155F46"/>
                </a:solidFill>
                <a:latin typeface="Arial"/>
                <a:ea typeface="Arial"/>
                <a:cs typeface="Arial"/>
              </a:rPr>
              <a:t>Σ nᵢ μᵢ / Σ nᵢ</a:t>
            </a:r>
          </a:p>
        </p:txBody>
      </p:sp>
      <p:sp>
        <p:nvSpPr>
          <p:cNvPr id="7" name="Equal weight per group">
            <a:extLst xmlns:a="http://schemas.openxmlformats.org/drawingml/2006/main">
              <a:ext uri="{FF2B5EF4-FFF2-40B4-BE49-F238E27FC236}">
                <a16:creationId xmlns:a16="http://schemas.microsoft.com/office/drawing/2014/main" id="{65311706-82EE-4E14-9F82-1AB417898204}"/>
              </a:ext>
            </a:extLst>
          </p:cNvPr>
          <p:cNvSpPr>
            <a:spLocks xmlns:a="http://schemas.openxmlformats.org/drawingml/2006/main" noGrp="1"/>
          </p:cNvSpPr>
          <p:nvPr/>
        </p:nvSpPr>
        <p:spPr>
          <a:xfrm xmlns:a="http://schemas.openxmlformats.org/drawingml/2006/main">
            <a:off x="6572250" y="2752725"/>
            <a:ext cx="4953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142A24"/>
                </a:solidFill>
                <a:latin typeface="Arial"/>
                <a:ea typeface="Arial"/>
                <a:cs typeface="Arial"/>
              </a:defRPr>
            </a:pPr>
            <a:r>
              <a:rPr sz="2325" b="1">
                <a:solidFill>
                  <a:srgbClr val="142A24"/>
                </a:solidFill>
                <a:latin typeface="Arial"/>
                <a:ea typeface="Arial"/>
                <a:cs typeface="Arial"/>
              </a:rPr>
              <a:t>Equal weight per group</a:t>
            </a:r>
          </a:p>
        </p:txBody>
      </p:sp>
      <p:sp>
        <p:nvSpPr>
          <p:cNvPr id="8" name="(1 / G) Σ μᵢ">
            <a:extLst xmlns:a="http://schemas.openxmlformats.org/drawingml/2006/main">
              <a:ext uri="{FF2B5EF4-FFF2-40B4-BE49-F238E27FC236}">
                <a16:creationId xmlns:a16="http://schemas.microsoft.com/office/drawing/2014/main" id="{E1D807A7-46B7-4705-947E-FED2238F4A6F}"/>
              </a:ext>
            </a:extLst>
          </p:cNvPr>
          <p:cNvSpPr>
            <a:spLocks xmlns:a="http://schemas.openxmlformats.org/drawingml/2006/main" noGrp="1"/>
          </p:cNvSpPr>
          <p:nvPr/>
        </p:nvSpPr>
        <p:spPr>
          <a:xfrm xmlns:a="http://schemas.openxmlformats.org/drawingml/2006/main">
            <a:off x="6572250" y="3552825"/>
            <a:ext cx="4953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0">
                <a:solidFill>
                  <a:srgbClr val="155F46"/>
                </a:solidFill>
                <a:latin typeface="Arial"/>
                <a:ea typeface="Arial"/>
                <a:cs typeface="Arial"/>
              </a:defRPr>
            </a:pPr>
            <a:r>
              <a:rPr sz="3150" b="0">
                <a:solidFill>
                  <a:srgbClr val="155F46"/>
                </a:solidFill>
                <a:latin typeface="Arial"/>
                <a:ea typeface="Arial"/>
                <a:cs typeface="Arial"/>
              </a:rPr>
              <a:t>(1 / G) Σ μᵢ</a:t>
            </a:r>
          </a:p>
        </p:txBody>
      </p:sp>
      <p:sp>
        <p:nvSpPr>
          <p:cNvPr id="9" name="All sums run over G groups. Different weights can give diffe">
            <a:extLst xmlns:a="http://schemas.openxmlformats.org/drawingml/2006/main">
              <a:ext uri="{FF2B5EF4-FFF2-40B4-BE49-F238E27FC236}">
                <a16:creationId xmlns:a16="http://schemas.microsoft.com/office/drawing/2014/main" id="{14108D6E-B2B9-4617-9F43-5E6A7D7506AF}"/>
              </a:ext>
            </a:extLst>
          </p:cNvPr>
          <p:cNvSpPr>
            <a:spLocks xmlns:a="http://schemas.openxmlformats.org/drawingml/2006/main" noGrp="1"/>
          </p:cNvSpPr>
          <p:nvPr/>
        </p:nvSpPr>
        <p:spPr>
          <a:xfrm xmlns:a="http://schemas.openxmlformats.org/drawingml/2006/main">
            <a:off x="685800" y="480060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42A24"/>
                </a:solidFill>
                <a:latin typeface="Arial"/>
                <a:ea typeface="Arial"/>
                <a:cs typeface="Arial"/>
              </a:defRPr>
            </a:pPr>
            <a:r>
              <a:rPr sz="2100" b="0">
                <a:solidFill>
                  <a:srgbClr val="142A24"/>
                </a:solidFill>
                <a:latin typeface="Arial"/>
                <a:ea typeface="Arial"/>
                <a:cs typeface="Arial"/>
              </a:rPr>
              <a:t>All sums run over G groups. Different weights can give different answers.</a:t>
            </a:r>
          </a:p>
        </p:txBody>
      </p:sp>
      <p:sp>
        <p:nvSpPr>
          <p:cNvPr id="10" name="An estimand is the population quantity we want to estimate.">
            <a:extLst xmlns:a="http://schemas.openxmlformats.org/drawingml/2006/main">
              <a:ext uri="{FF2B5EF4-FFF2-40B4-BE49-F238E27FC236}">
                <a16:creationId xmlns:a16="http://schemas.microsoft.com/office/drawing/2014/main" id="{54C566AA-D525-4630-A7E2-DC8ACCBAFB8F}"/>
              </a:ext>
            </a:extLst>
          </p:cNvPr>
          <p:cNvSpPr>
            <a:spLocks xmlns:a="http://schemas.openxmlformats.org/drawingml/2006/main" noGrp="1"/>
          </p:cNvSpPr>
          <p:nvPr/>
        </p:nvSpPr>
        <p:spPr>
          <a:xfrm xmlns:a="http://schemas.openxmlformats.org/drawingml/2006/main">
            <a:off x="685800" y="5648325"/>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142A24"/>
                </a:solidFill>
                <a:latin typeface="Arial"/>
                <a:ea typeface="Arial"/>
                <a:cs typeface="Arial"/>
              </a:defRPr>
            </a:pPr>
            <a:r>
              <a:rPr sz="2175" b="1">
                <a:solidFill>
                  <a:srgbClr val="142A24"/>
                </a:solidFill>
                <a:latin typeface="Arial"/>
                <a:ea typeface="Arial"/>
                <a:cs typeface="Arial"/>
              </a:rPr>
              <a:t>An estimand is the population quantity we want to estimate.</a:t>
            </a:r>
          </a:p>
        </p:txBody>
      </p:sp>
      <p:sp>
        <p:nvSpPr>
          <p:cNvPr id="11" name="Open course page">
            <a:extLst xmlns:a="http://schemas.openxmlformats.org/drawingml/2006/main">
              <a:ext uri="{FF2B5EF4-FFF2-40B4-BE49-F238E27FC236}">
                <a16:creationId xmlns:a16="http://schemas.microsoft.com/office/drawing/2014/main" id="{A8A748C1-358C-468A-B35C-C8D02F7D9154}"/>
              </a:ext>
            </a:extLst>
          </p:cNvPr>
          <p:cNvSpPr>
            <a:spLocks xmlns:a="http://schemas.openxmlformats.org/drawingml/2006/main" noGrp="1"/>
          </p:cNvSpPr>
          <p:nvPr/>
        </p:nvSpPr>
        <p:spPr>
          <a:xfrm xmlns:a="http://schemas.openxmlformats.org/drawingml/2006/main">
            <a:off x="685800" y="6381750"/>
            <a:ext cx="571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55F46"/>
                </a:solidFill>
                <a:latin typeface="Arial"/>
                <a:ea typeface="Arial"/>
                <a:cs typeface="Arial"/>
              </a:defRPr>
            </a:pPr>
            <a:r>
              <a:rPr sz="1500" b="1">
                <a:solidFill>
                  <a:srgbClr val="155F46"/>
                </a:solidFill>
                <a:latin typeface="Arial"/>
                <a:ea typeface="Arial"/>
                <a:cs typeface="Arial"/>
                <a:hlinkClick xmlns:r="http://schemas.openxmlformats.org/officeDocument/2006/relationships" r:id="R85c3db80e6104c6f"/>
              </a:rPr>
              <a:t>Open course page</a:t>
            </a:r>
          </a:p>
        </p:txBody>
      </p:sp>
      <p:sp>
        <p:nvSpPr>
          <p:cNvPr id="12" name="86–90 min · 17 / 23">
            <a:extLst xmlns:a="http://schemas.openxmlformats.org/drawingml/2006/main">
              <a:ext uri="{FF2B5EF4-FFF2-40B4-BE49-F238E27FC236}">
                <a16:creationId xmlns:a16="http://schemas.microsoft.com/office/drawing/2014/main" id="{560DD887-98F3-4B07-87B1-F510804C3AD2}"/>
              </a:ext>
            </a:extLst>
          </p:cNvPr>
          <p:cNvSpPr>
            <a:spLocks xmlns:a="http://schemas.openxmlformats.org/drawingml/2006/main" noGrp="1"/>
          </p:cNvSpPr>
          <p:nvPr/>
        </p:nvSpPr>
        <p:spPr>
          <a:xfrm xmlns:a="http://schemas.openxmlformats.org/drawingml/2006/main">
            <a:off x="8191500" y="6381750"/>
            <a:ext cx="3314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66C61"/>
                </a:solidFill>
                <a:latin typeface="Arial"/>
                <a:ea typeface="Arial"/>
                <a:cs typeface="Arial"/>
              </a:defRPr>
            </a:pPr>
            <a:r>
              <a:rPr sz="1500" b="0">
                <a:solidFill>
                  <a:srgbClr val="566C61"/>
                </a:solidFill>
                <a:latin typeface="Arial"/>
                <a:ea typeface="Arial"/>
                <a:cs typeface="Arial"/>
              </a:rPr>
              <a:t>86–90 min · 17 / 23</a:t>
            </a:r>
          </a:p>
        </p:txBody>
      </p:sp>
    </p:spTree>
    <p:extLst>
      <p:ext uri="{BB962C8B-B14F-4D97-AF65-F5344CB8AC3E}">
        <p14:creationId xmlns:p14="http://schemas.microsoft.com/office/powerpoint/2010/main" val="48153658"/>
      </p:ext>
    </p:extLst>
  </p:cSld>
</p:sld>
</file>

<file path=ppt/slides/slide18.xml><?xml version="1.0" encoding="utf-8"?>
<p:sld xmlns:p="http://schemas.openxmlformats.org/presentationml/2006/main">
  <p:cSld>
    <p:bg>
      <p:bgPr>
        <a:solidFill xmlns:a="http://schemas.openxmlformats.org/drawingml/2006/main">
          <a:srgbClr val="FFFEF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0E913E6-DC6E-4D89-A7D0-E1D0FF61CF75}"/>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5F46"/>
          </a:solidFill>
          <a:ln xmlns:a="http://schemas.openxmlformats.org/drawingml/2006/main" w="0">
            <a:noFill/>
          </a:ln>
        </p:spPr>
      </p:sp>
      <p:sp>
        <p:nvSpPr>
          <p:cNvPr id="2" name="3 · Discussion and checks">
            <a:extLst xmlns:a="http://schemas.openxmlformats.org/drawingml/2006/main">
              <a:ext uri="{FF2B5EF4-FFF2-40B4-BE49-F238E27FC236}">
                <a16:creationId xmlns:a16="http://schemas.microsoft.com/office/drawing/2014/main" id="{595067D2-5557-47A8-82EA-3C48FD84E97E}"/>
              </a:ext>
            </a:extLst>
          </p:cNvPr>
          <p:cNvSpPr>
            <a:spLocks xmlns:a="http://schemas.openxmlformats.org/drawingml/2006/main" noGrp="1"/>
          </p:cNvSpPr>
          <p:nvPr/>
        </p:nvSpPr>
        <p:spPr>
          <a:xfrm xmlns:a="http://schemas.openxmlformats.org/drawingml/2006/main">
            <a:off x="685800" y="323850"/>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1">
                <a:solidFill>
                  <a:srgbClr val="155F46"/>
                </a:solidFill>
                <a:latin typeface="Arial"/>
                <a:ea typeface="Arial"/>
                <a:cs typeface="Arial"/>
              </a:defRPr>
            </a:pPr>
            <a:r>
              <a:rPr sz="1575" b="1">
                <a:solidFill>
                  <a:srgbClr val="155F46"/>
                </a:solidFill>
                <a:latin typeface="Arial"/>
                <a:ea typeface="Arial"/>
                <a:cs typeface="Arial"/>
              </a:rPr>
              <a:t>3 · Discussion and checks</a:t>
            </a:r>
          </a:p>
        </p:txBody>
      </p:sp>
      <p:sp>
        <p:nvSpPr>
          <p:cNvPr id="3" name="Detect a problem before deciding how to handle it">
            <a:extLst xmlns:a="http://schemas.openxmlformats.org/drawingml/2006/main">
              <a:ext uri="{FF2B5EF4-FFF2-40B4-BE49-F238E27FC236}">
                <a16:creationId xmlns:a16="http://schemas.microsoft.com/office/drawing/2014/main" id="{ECA31F75-CE6B-4119-BDB4-43707B7F2C6B}"/>
              </a:ext>
            </a:extLst>
          </p:cNvPr>
          <p:cNvSpPr>
            <a:spLocks xmlns:a="http://schemas.openxmlformats.org/drawingml/2006/main" noGrp="1"/>
          </p:cNvSpPr>
          <p:nvPr/>
        </p:nvSpPr>
        <p:spPr>
          <a:xfrm xmlns:a="http://schemas.openxmlformats.org/drawingml/2006/main">
            <a:off x="685800" y="73342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142A24"/>
                </a:solidFill>
                <a:latin typeface="Arial"/>
                <a:ea typeface="Arial"/>
                <a:cs typeface="Arial"/>
              </a:defRPr>
            </a:pPr>
            <a:r>
              <a:rPr sz="3225" b="1">
                <a:solidFill>
                  <a:srgbClr val="142A24"/>
                </a:solidFill>
                <a:latin typeface="Arial"/>
                <a:ea typeface="Arial"/>
                <a:cs typeface="Arial"/>
              </a:rPr>
              <a:t>Detect a problem before deciding how to handle it</a:t>
            </a:r>
          </a:p>
        </p:txBody>
      </p:sp>
      <p:graphicFrame>
        <p:nvGraphicFramePr>
          <p:cNvPr id="11" name=""/>
          <p:cNvGraphicFramePr/>
          <p:nvPr/>
        </p:nvGraphicFramePr>
        <p:xfrm>
          <a:off xmlns:a="http://schemas.openxmlformats.org/drawingml/2006/main" x="685800" y="1828800"/>
          <a:ext xmlns:a="http://schemas.openxmlformats.org/drawingml/2006/main" cx="10820400" cy="2876550"/>
        </p:xfrm>
        <a:graphic xmlns:a="http://schemas.openxmlformats.org/drawingml/2006/main">
          <a:graphicData uri="http://schemas.openxmlformats.org/drawingml/2006/table">
            <a:tbl>
              <a:tblPr firstRow="1" bandRow="0"/>
              <a:tblGrid>
                <a:gridCol w="3029712"/>
                <a:gridCol w="7790688"/>
              </a:tblGrid>
              <a:tr h="575310">
                <a:tc>
                  <a:txBody>
                    <a:bodyPr lIns="133350" tIns="85725" rIns="133350" bIns="85725">
                      <a:noAutofit/>
                    </a:bodyPr>
                    <a:lstStyle/>
                    <a:p>
                      <a:r>
                        <a:rPr sz="1950" b="1">
                          <a:solidFill>
                            <a:srgbClr val="FFFFFF"/>
                          </a:solidFill>
                          <a:latin typeface="Arial"/>
                          <a:ea typeface="Arial"/>
                          <a:cs typeface="Arial"/>
                        </a:rPr>
                        <a:t>Finding</a:t>
                      </a:r>
                    </a:p>
                  </a:txBody>
                  <a:tcPr marL="91440" marR="91440" marT="45720" marB="45720" anchor="ctr">
                    <a:solidFill>
                      <a:srgbClr val="155F46"/>
                    </a:solidFill>
                  </a:tcPr>
                </a:tc>
                <a:tc>
                  <a:txBody>
                    <a:bodyPr lIns="133350" tIns="85725" rIns="133350" bIns="85725">
                      <a:noAutofit/>
                    </a:bodyPr>
                    <a:lstStyle/>
                    <a:p>
                      <a:r>
                        <a:rPr sz="1950" b="1">
                          <a:solidFill>
                            <a:srgbClr val="FFFFFF"/>
                          </a:solidFill>
                          <a:latin typeface="Arial"/>
                          <a:ea typeface="Arial"/>
                          <a:cs typeface="Arial"/>
                        </a:rPr>
                        <a:t>Question before changing data</a:t>
                      </a:r>
                    </a:p>
                  </a:txBody>
                  <a:tcPr marL="91440" marR="91440" marT="45720" marB="45720" anchor="ctr">
                    <a:solidFill>
                      <a:srgbClr val="155F46"/>
                    </a:solidFill>
                  </a:tcPr>
                </a:tc>
              </a:tr>
              <a:tr h="575310">
                <a:tc>
                  <a:txBody>
                    <a:bodyPr lIns="133350" tIns="85725" rIns="133350" bIns="85725">
                      <a:noAutofit/>
                    </a:bodyPr>
                    <a:lstStyle/>
                    <a:p>
                      <a:r>
                        <a:rPr sz="1950" b="0">
                          <a:solidFill>
                            <a:srgbClr val="142A24"/>
                          </a:solidFill>
                          <a:latin typeface="Arial"/>
                          <a:ea typeface="Arial"/>
                          <a:cs typeface="Arial"/>
                        </a:rPr>
                        <a:t>Repeated observation key</a:t>
                      </a:r>
                    </a:p>
                  </a:txBody>
                  <a:tcPr marL="91440" marR="91440" marT="45720" marB="45720" anchor="ctr">
                    <a:solidFill>
                      <a:srgbClr val="FFFEFB"/>
                    </a:solidFill>
                  </a:tcPr>
                </a:tc>
                <a:tc>
                  <a:txBody>
                    <a:bodyPr lIns="133350" tIns="85725" rIns="133350" bIns="85725">
                      <a:noAutofit/>
                    </a:bodyPr>
                    <a:lstStyle/>
                    <a:p>
                      <a:r>
                        <a:rPr sz="1950" b="0">
                          <a:solidFill>
                            <a:srgbClr val="142A24"/>
                          </a:solidFill>
                          <a:latin typeface="Arial"/>
                          <a:ea typeface="Arial"/>
                          <a:cs typeface="Arial"/>
                        </a:rPr>
                        <a:t>Same reading copied twice, or distinct observations?</a:t>
                      </a:r>
                    </a:p>
                  </a:txBody>
                  <a:tcPr marL="91440" marR="91440" marT="45720" marB="45720" anchor="ctr">
                    <a:solidFill>
                      <a:srgbClr val="FFFEFB"/>
                    </a:solidFill>
                  </a:tcPr>
                </a:tc>
              </a:tr>
              <a:tr h="575310">
                <a:tc>
                  <a:txBody>
                    <a:bodyPr lIns="133350" tIns="85725" rIns="133350" bIns="85725">
                      <a:noAutofit/>
                    </a:bodyPr>
                    <a:lstStyle/>
                    <a:p>
                      <a:r>
                        <a:rPr sz="1950" b="0">
                          <a:solidFill>
                            <a:srgbClr val="142A24"/>
                          </a:solidFill>
                          <a:latin typeface="Arial"/>
                          <a:ea typeface="Arial"/>
                          <a:cs typeface="Arial"/>
                        </a:rPr>
                        <a:t>Missing temperature</a:t>
                      </a:r>
                    </a:p>
                  </a:txBody>
                  <a:tcPr marL="91440" marR="91440" marT="45720" marB="45720" anchor="ctr">
                    <a:solidFill>
                      <a:srgbClr val="F0F4F1"/>
                    </a:solidFill>
                  </a:tcPr>
                </a:tc>
                <a:tc>
                  <a:txBody>
                    <a:bodyPr lIns="133350" tIns="85725" rIns="133350" bIns="85725">
                      <a:noAutofit/>
                    </a:bodyPr>
                    <a:lstStyle/>
                    <a:p>
                      <a:r>
                        <a:rPr sz="1950" b="0">
                          <a:solidFill>
                            <a:srgbClr val="142A24"/>
                          </a:solidFill>
                          <a:latin typeface="Arial"/>
                          <a:ea typeface="Arial"/>
                          <a:cs typeface="Arial"/>
                        </a:rPr>
                        <a:t>Why is it absent? Does absence depend on conditions?</a:t>
                      </a:r>
                    </a:p>
                  </a:txBody>
                  <a:tcPr marL="91440" marR="91440" marT="45720" marB="45720" anchor="ctr">
                    <a:solidFill>
                      <a:srgbClr val="F0F4F1"/>
                    </a:solidFill>
                  </a:tcPr>
                </a:tc>
              </a:tr>
              <a:tr h="575310">
                <a:tc>
                  <a:txBody>
                    <a:bodyPr lIns="133350" tIns="85725" rIns="133350" bIns="85725">
                      <a:noAutofit/>
                    </a:bodyPr>
                    <a:lstStyle/>
                    <a:p>
                      <a:r>
                        <a:rPr sz="1950" b="0">
                          <a:solidFill>
                            <a:srgbClr val="142A24"/>
                          </a:solidFill>
                          <a:latin typeface="Arial"/>
                          <a:ea typeface="Arial"/>
                          <a:cs typeface="Arial"/>
                        </a:rPr>
                        <a:t>Mixed units</a:t>
                      </a:r>
                    </a:p>
                  </a:txBody>
                  <a:tcPr marL="91440" marR="91440" marT="45720" marB="45720" anchor="ctr">
                    <a:solidFill>
                      <a:srgbClr val="FFFEFB"/>
                    </a:solidFill>
                  </a:tcPr>
                </a:tc>
                <a:tc>
                  <a:txBody>
                    <a:bodyPr lIns="133350" tIns="85725" rIns="133350" bIns="85725">
                      <a:noAutofit/>
                    </a:bodyPr>
                    <a:lstStyle/>
                    <a:p>
                      <a:r>
                        <a:rPr sz="1950" b="0">
                          <a:solidFill>
                            <a:srgbClr val="142A24"/>
                          </a:solidFill>
                          <a:latin typeface="Arial"/>
                          <a:ea typeface="Arial"/>
                          <a:cs typeface="Arial"/>
                        </a:rPr>
                        <a:t>Can we convert them while retaining the original values?</a:t>
                      </a:r>
                    </a:p>
                  </a:txBody>
                  <a:tcPr marL="91440" marR="91440" marT="45720" marB="45720" anchor="ctr">
                    <a:solidFill>
                      <a:srgbClr val="FFFEFB"/>
                    </a:solidFill>
                  </a:tcPr>
                </a:tc>
              </a:tr>
              <a:tr h="575310">
                <a:tc>
                  <a:txBody>
                    <a:bodyPr lIns="133350" tIns="85725" rIns="133350" bIns="85725">
                      <a:noAutofit/>
                    </a:bodyPr>
                    <a:lstStyle/>
                    <a:p>
                      <a:r>
                        <a:rPr sz="1950" b="0">
                          <a:solidFill>
                            <a:srgbClr val="142A24"/>
                          </a:solidFill>
                          <a:latin typeface="Arial"/>
                          <a:ea typeface="Arial"/>
                          <a:cs typeface="Arial"/>
                        </a:rPr>
                        <a:t>Surprising value</a:t>
                      </a:r>
                    </a:p>
                  </a:txBody>
                  <a:tcPr marL="91440" marR="91440" marT="45720" marB="45720" anchor="ctr">
                    <a:solidFill>
                      <a:srgbClr val="F0F4F1"/>
                    </a:solidFill>
                  </a:tcPr>
                </a:tc>
                <a:tc>
                  <a:txBody>
                    <a:bodyPr lIns="133350" tIns="85725" rIns="133350" bIns="85725">
                      <a:noAutofit/>
                    </a:bodyPr>
                    <a:lstStyle/>
                    <a:p>
                      <a:r>
                        <a:rPr sz="1950" b="0">
                          <a:solidFill>
                            <a:srgbClr val="142A24"/>
                          </a:solidFill>
                          <a:latin typeface="Arial"/>
                          <a:ea typeface="Arial"/>
                          <a:cs typeface="Arial"/>
                        </a:rPr>
                        <a:t>Measurement error, or a real unusual event?</a:t>
                      </a:r>
                    </a:p>
                  </a:txBody>
                  <a:tcPr marL="91440" marR="91440" marT="45720" marB="45720" anchor="ctr">
                    <a:solidFill>
                      <a:srgbClr val="F0F4F1"/>
                    </a:solidFill>
                  </a:tcPr>
                </a:tc>
              </a:tr>
            </a:tbl>
          </a:graphicData>
        </a:graphic>
      </p:graphicFrame>
      <p:sp>
        <p:nvSpPr>
          <p:cNvPr id="5" name="Discuss: would deleting all incomplete rows answer the same ">
            <a:extLst xmlns:a="http://schemas.openxmlformats.org/drawingml/2006/main">
              <a:ext uri="{FF2B5EF4-FFF2-40B4-BE49-F238E27FC236}">
                <a16:creationId xmlns:a16="http://schemas.microsoft.com/office/drawing/2014/main" id="{6CA739CE-9D30-4F5A-AFBB-0ADF3A3A5832}"/>
              </a:ext>
            </a:extLst>
          </p:cNvPr>
          <p:cNvSpPr>
            <a:spLocks xmlns:a="http://schemas.openxmlformats.org/drawingml/2006/main" noGrp="1"/>
          </p:cNvSpPr>
          <p:nvPr/>
        </p:nvSpPr>
        <p:spPr>
          <a:xfrm xmlns:a="http://schemas.openxmlformats.org/drawingml/2006/main">
            <a:off x="685800" y="5095875"/>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155F46"/>
                </a:solidFill>
                <a:latin typeface="Arial"/>
                <a:ea typeface="Arial"/>
                <a:cs typeface="Arial"/>
              </a:defRPr>
            </a:pPr>
            <a:r>
              <a:rPr sz="2550" b="1">
                <a:solidFill>
                  <a:srgbClr val="155F46"/>
                </a:solidFill>
                <a:latin typeface="Arial"/>
                <a:ea typeface="Arial"/>
                <a:cs typeface="Arial"/>
              </a:rPr>
              <a:t>Discuss: would deleting all incomplete rows answer the same question?</a:t>
            </a:r>
          </a:p>
        </p:txBody>
      </p:sp>
      <p:sp>
        <p:nvSpPr>
          <p:cNvPr id="6" name="Open course page">
            <a:extLst xmlns:a="http://schemas.openxmlformats.org/drawingml/2006/main">
              <a:ext uri="{FF2B5EF4-FFF2-40B4-BE49-F238E27FC236}">
                <a16:creationId xmlns:a16="http://schemas.microsoft.com/office/drawing/2014/main" id="{04B9913D-13BE-4012-BA59-6C24F2367EF4}"/>
              </a:ext>
            </a:extLst>
          </p:cNvPr>
          <p:cNvSpPr>
            <a:spLocks xmlns:a="http://schemas.openxmlformats.org/drawingml/2006/main" noGrp="1"/>
          </p:cNvSpPr>
          <p:nvPr/>
        </p:nvSpPr>
        <p:spPr>
          <a:xfrm xmlns:a="http://schemas.openxmlformats.org/drawingml/2006/main">
            <a:off x="685800" y="6381750"/>
            <a:ext cx="571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55F46"/>
                </a:solidFill>
                <a:latin typeface="Arial"/>
                <a:ea typeface="Arial"/>
                <a:cs typeface="Arial"/>
              </a:defRPr>
            </a:pPr>
            <a:r>
              <a:rPr sz="1500" b="1">
                <a:solidFill>
                  <a:srgbClr val="155F46"/>
                </a:solidFill>
                <a:latin typeface="Arial"/>
                <a:ea typeface="Arial"/>
                <a:cs typeface="Arial"/>
                <a:hlinkClick xmlns:r="http://schemas.openxmlformats.org/officeDocument/2006/relationships" r:id="R6a66e3fd1fd84eca"/>
              </a:rPr>
              <a:t>Open course page</a:t>
            </a:r>
          </a:p>
        </p:txBody>
      </p:sp>
      <p:sp>
        <p:nvSpPr>
          <p:cNvPr id="7" name="90–95 min · 18 / 23">
            <a:extLst xmlns:a="http://schemas.openxmlformats.org/drawingml/2006/main">
              <a:ext uri="{FF2B5EF4-FFF2-40B4-BE49-F238E27FC236}">
                <a16:creationId xmlns:a16="http://schemas.microsoft.com/office/drawing/2014/main" id="{194D1A39-9A2C-4672-8755-EDF385AAA983}"/>
              </a:ext>
            </a:extLst>
          </p:cNvPr>
          <p:cNvSpPr>
            <a:spLocks xmlns:a="http://schemas.openxmlformats.org/drawingml/2006/main" noGrp="1"/>
          </p:cNvSpPr>
          <p:nvPr/>
        </p:nvSpPr>
        <p:spPr>
          <a:xfrm xmlns:a="http://schemas.openxmlformats.org/drawingml/2006/main">
            <a:off x="8191500" y="6381750"/>
            <a:ext cx="3314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66C61"/>
                </a:solidFill>
                <a:latin typeface="Arial"/>
                <a:ea typeface="Arial"/>
                <a:cs typeface="Arial"/>
              </a:defRPr>
            </a:pPr>
            <a:r>
              <a:rPr sz="1500" b="0">
                <a:solidFill>
                  <a:srgbClr val="566C61"/>
                </a:solidFill>
                <a:latin typeface="Arial"/>
                <a:ea typeface="Arial"/>
                <a:cs typeface="Arial"/>
              </a:rPr>
              <a:t>90–95 min · 18 / 23</a:t>
            </a:r>
          </a:p>
        </p:txBody>
      </p:sp>
    </p:spTree>
    <p:extLst>
      <p:ext uri="{BB962C8B-B14F-4D97-AF65-F5344CB8AC3E}">
        <p14:creationId xmlns:p14="http://schemas.microsoft.com/office/powerpoint/2010/main" val="1092924791"/>
      </p:ext>
    </p:extLst>
  </p:cSld>
</p:sld>
</file>

<file path=ppt/slides/slide19.xml><?xml version="1.0" encoding="utf-8"?>
<p:sld xmlns:p="http://schemas.openxmlformats.org/presentationml/2006/main">
  <p:cSld>
    <p:bg>
      <p:bgPr>
        <a:solidFill xmlns:a="http://schemas.openxmlformats.org/drawingml/2006/main">
          <a:srgbClr val="FFFEF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FAA8929-A663-4E94-B843-7AF571D37202}"/>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5F46"/>
          </a:solidFill>
          <a:ln xmlns:a="http://schemas.openxmlformats.org/drawingml/2006/main" w="0">
            <a:noFill/>
          </a:ln>
        </p:spPr>
      </p:sp>
      <p:sp>
        <p:nvSpPr>
          <p:cNvPr id="2" name="4 · Arrays, tables, and joins">
            <a:extLst xmlns:a="http://schemas.openxmlformats.org/drawingml/2006/main">
              <a:ext uri="{FF2B5EF4-FFF2-40B4-BE49-F238E27FC236}">
                <a16:creationId xmlns:a16="http://schemas.microsoft.com/office/drawing/2014/main" id="{B3F84302-2DD5-4138-AE18-A1A40A55E83F}"/>
              </a:ext>
            </a:extLst>
          </p:cNvPr>
          <p:cNvSpPr>
            <a:spLocks xmlns:a="http://schemas.openxmlformats.org/drawingml/2006/main" noGrp="1"/>
          </p:cNvSpPr>
          <p:nvPr/>
        </p:nvSpPr>
        <p:spPr>
          <a:xfrm xmlns:a="http://schemas.openxmlformats.org/drawingml/2006/main">
            <a:off x="685800" y="323850"/>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1">
                <a:solidFill>
                  <a:srgbClr val="155F46"/>
                </a:solidFill>
                <a:latin typeface="Arial"/>
                <a:ea typeface="Arial"/>
                <a:cs typeface="Arial"/>
              </a:defRPr>
            </a:pPr>
            <a:r>
              <a:rPr sz="1575" b="1">
                <a:solidFill>
                  <a:srgbClr val="155F46"/>
                </a:solidFill>
                <a:latin typeface="Arial"/>
                <a:ea typeface="Arial"/>
                <a:cs typeface="Arial"/>
              </a:rPr>
              <a:t>4 · Arrays, tables, and joins</a:t>
            </a:r>
          </a:p>
        </p:txBody>
      </p:sp>
      <p:sp>
        <p:nvSpPr>
          <p:cNvPr id="3" name="An array has a shape and columns have units">
            <a:extLst xmlns:a="http://schemas.openxmlformats.org/drawingml/2006/main">
              <a:ext uri="{FF2B5EF4-FFF2-40B4-BE49-F238E27FC236}">
                <a16:creationId xmlns:a16="http://schemas.microsoft.com/office/drawing/2014/main" id="{B9CCC320-818C-4DC7-B624-FB2D354A9491}"/>
              </a:ext>
            </a:extLst>
          </p:cNvPr>
          <p:cNvSpPr>
            <a:spLocks xmlns:a="http://schemas.openxmlformats.org/drawingml/2006/main" noGrp="1"/>
          </p:cNvSpPr>
          <p:nvPr/>
        </p:nvSpPr>
        <p:spPr>
          <a:xfrm xmlns:a="http://schemas.openxmlformats.org/drawingml/2006/main">
            <a:off x="685800" y="73342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142A24"/>
                </a:solidFill>
                <a:latin typeface="Arial"/>
                <a:ea typeface="Arial"/>
                <a:cs typeface="Arial"/>
              </a:defRPr>
            </a:pPr>
            <a:r>
              <a:rPr sz="3225" b="1">
                <a:solidFill>
                  <a:srgbClr val="142A24"/>
                </a:solidFill>
                <a:latin typeface="Arial"/>
                <a:ea typeface="Arial"/>
                <a:cs typeface="Arial"/>
              </a:rPr>
              <a:t>An array has a shape and columns have units</a:t>
            </a:r>
          </a:p>
        </p:txBody>
      </p:sp>
      <p:graphicFrame>
        <p:nvGraphicFramePr>
          <p:cNvPr id="12" name=""/>
          <p:cNvGraphicFramePr/>
          <p:nvPr/>
        </p:nvGraphicFramePr>
        <p:xfrm>
          <a:off xmlns:a="http://schemas.openxmlformats.org/drawingml/2006/main" x="685800" y="1790700"/>
          <a:ext xmlns:a="http://schemas.openxmlformats.org/drawingml/2006/main" cx="5886450" cy="2381250"/>
        </p:xfrm>
        <a:graphic xmlns:a="http://schemas.openxmlformats.org/drawingml/2006/main">
          <a:graphicData uri="http://schemas.openxmlformats.org/drawingml/2006/table">
            <a:tbl>
              <a:tblPr firstRow="1" bandRow="0"/>
              <a:tblGrid>
                <a:gridCol w="919758"/>
                <a:gridCol w="2759273"/>
                <a:gridCol w="2207419"/>
              </a:tblGrid>
              <a:tr h="595313">
                <a:tc>
                  <a:txBody>
                    <a:bodyPr lIns="133350" tIns="85725" rIns="133350" bIns="85725">
                      <a:noAutofit/>
                    </a:bodyPr>
                    <a:lstStyle/>
                    <a:p>
                      <a:r>
                        <a:rPr sz="2100" b="1">
                          <a:solidFill>
                            <a:srgbClr val="FFFFFF"/>
                          </a:solidFill>
                          <a:latin typeface="Arial"/>
                          <a:ea typeface="Arial"/>
                          <a:cs typeface="Arial"/>
                        </a:rPr>
                        <a:t>row</a:t>
                      </a:r>
                    </a:p>
                  </a:txBody>
                  <a:tcPr marL="91440" marR="91440" marT="45720" marB="45720" anchor="ctr">
                    <a:solidFill>
                      <a:srgbClr val="155F46"/>
                    </a:solidFill>
                  </a:tcPr>
                </a:tc>
                <a:tc>
                  <a:txBody>
                    <a:bodyPr lIns="133350" tIns="85725" rIns="133350" bIns="85725">
                      <a:noAutofit/>
                    </a:bodyPr>
                    <a:lstStyle/>
                    <a:p>
                      <a:r>
                        <a:rPr sz="2100" b="1">
                          <a:solidFill>
                            <a:srgbClr val="FFFFFF"/>
                          </a:solidFill>
                          <a:latin typeface="Arial"/>
                          <a:ea typeface="Arial"/>
                          <a:cs typeface="Arial"/>
                        </a:rPr>
                        <a:t>temperature °C</a:t>
                      </a:r>
                    </a:p>
                  </a:txBody>
                  <a:tcPr marL="91440" marR="91440" marT="45720" marB="45720" anchor="ctr">
                    <a:solidFill>
                      <a:srgbClr val="155F46"/>
                    </a:solidFill>
                  </a:tcPr>
                </a:tc>
                <a:tc>
                  <a:txBody>
                    <a:bodyPr lIns="133350" tIns="85725" rIns="133350" bIns="85725">
                      <a:noAutofit/>
                    </a:bodyPr>
                    <a:lstStyle/>
                    <a:p>
                      <a:r>
                        <a:rPr sz="2100" b="1">
                          <a:solidFill>
                            <a:srgbClr val="FFFFFF"/>
                          </a:solidFill>
                          <a:latin typeface="Arial"/>
                          <a:ea typeface="Arial"/>
                          <a:cs typeface="Arial"/>
                        </a:rPr>
                        <a:t>humidity %</a:t>
                      </a:r>
                    </a:p>
                  </a:txBody>
                  <a:tcPr marL="91440" marR="91440" marT="45720" marB="45720" anchor="ctr">
                    <a:solidFill>
                      <a:srgbClr val="155F46"/>
                    </a:solidFill>
                  </a:tcPr>
                </a:tc>
              </a:tr>
              <a:tr h="595313">
                <a:tc>
                  <a:txBody>
                    <a:bodyPr lIns="133350" tIns="85725" rIns="133350" bIns="85725">
                      <a:noAutofit/>
                    </a:bodyPr>
                    <a:lstStyle/>
                    <a:p>
                      <a:r>
                        <a:rPr sz="2100" b="0">
                          <a:solidFill>
                            <a:srgbClr val="142A24"/>
                          </a:solidFill>
                          <a:latin typeface="Arial"/>
                          <a:ea typeface="Arial"/>
                          <a:cs typeface="Arial"/>
                        </a:rPr>
                        <a:t>0</a:t>
                      </a:r>
                    </a:p>
                  </a:txBody>
                  <a:tcPr marL="91440" marR="91440" marT="45720" marB="45720" anchor="ctr">
                    <a:solidFill>
                      <a:srgbClr val="FFFEFB"/>
                    </a:solidFill>
                  </a:tcPr>
                </a:tc>
                <a:tc>
                  <a:txBody>
                    <a:bodyPr lIns="133350" tIns="85725" rIns="133350" bIns="85725">
                      <a:noAutofit/>
                    </a:bodyPr>
                    <a:lstStyle/>
                    <a:p>
                      <a:r>
                        <a:rPr sz="2100" b="0">
                          <a:solidFill>
                            <a:srgbClr val="142A24"/>
                          </a:solidFill>
                          <a:latin typeface="Arial"/>
                          <a:ea typeface="Arial"/>
                          <a:cs typeface="Arial"/>
                        </a:rPr>
                        <a:t>20</a:t>
                      </a:r>
                    </a:p>
                  </a:txBody>
                  <a:tcPr marL="91440" marR="91440" marT="45720" marB="45720" anchor="ctr">
                    <a:solidFill>
                      <a:srgbClr val="FFFEFB"/>
                    </a:solidFill>
                  </a:tcPr>
                </a:tc>
                <a:tc>
                  <a:txBody>
                    <a:bodyPr lIns="133350" tIns="85725" rIns="133350" bIns="85725">
                      <a:noAutofit/>
                    </a:bodyPr>
                    <a:lstStyle/>
                    <a:p>
                      <a:r>
                        <a:rPr sz="2100" b="0">
                          <a:solidFill>
                            <a:srgbClr val="142A24"/>
                          </a:solidFill>
                          <a:latin typeface="Arial"/>
                          <a:ea typeface="Arial"/>
                          <a:cs typeface="Arial"/>
                        </a:rPr>
                        <a:t>50</a:t>
                      </a:r>
                    </a:p>
                  </a:txBody>
                  <a:tcPr marL="91440" marR="91440" marT="45720" marB="45720" anchor="ctr">
                    <a:solidFill>
                      <a:srgbClr val="FFFEFB"/>
                    </a:solidFill>
                  </a:tcPr>
                </a:tc>
              </a:tr>
              <a:tr h="595313">
                <a:tc>
                  <a:txBody>
                    <a:bodyPr lIns="133350" tIns="85725" rIns="133350" bIns="85725">
                      <a:noAutofit/>
                    </a:bodyPr>
                    <a:lstStyle/>
                    <a:p>
                      <a:r>
                        <a:rPr sz="2100" b="0">
                          <a:solidFill>
                            <a:srgbClr val="142A24"/>
                          </a:solidFill>
                          <a:latin typeface="Arial"/>
                          <a:ea typeface="Arial"/>
                          <a:cs typeface="Arial"/>
                        </a:rPr>
                        <a:t>1</a:t>
                      </a:r>
                    </a:p>
                  </a:txBody>
                  <a:tcPr marL="91440" marR="91440" marT="45720" marB="45720" anchor="ctr">
                    <a:solidFill>
                      <a:srgbClr val="F0F4F1"/>
                    </a:solidFill>
                  </a:tcPr>
                </a:tc>
                <a:tc>
                  <a:txBody>
                    <a:bodyPr lIns="133350" tIns="85725" rIns="133350" bIns="85725">
                      <a:noAutofit/>
                    </a:bodyPr>
                    <a:lstStyle/>
                    <a:p>
                      <a:r>
                        <a:rPr sz="2100" b="0">
                          <a:solidFill>
                            <a:srgbClr val="142A24"/>
                          </a:solidFill>
                          <a:latin typeface="Arial"/>
                          <a:ea typeface="Arial"/>
                          <a:cs typeface="Arial"/>
                        </a:rPr>
                        <a:t>22</a:t>
                      </a:r>
                    </a:p>
                  </a:txBody>
                  <a:tcPr marL="91440" marR="91440" marT="45720" marB="45720" anchor="ctr">
                    <a:solidFill>
                      <a:srgbClr val="F0F4F1"/>
                    </a:solidFill>
                  </a:tcPr>
                </a:tc>
                <a:tc>
                  <a:txBody>
                    <a:bodyPr lIns="133350" tIns="85725" rIns="133350" bIns="85725">
                      <a:noAutofit/>
                    </a:bodyPr>
                    <a:lstStyle/>
                    <a:p>
                      <a:r>
                        <a:rPr sz="2100" b="0">
                          <a:solidFill>
                            <a:srgbClr val="142A24"/>
                          </a:solidFill>
                          <a:latin typeface="Arial"/>
                          <a:ea typeface="Arial"/>
                          <a:cs typeface="Arial"/>
                        </a:rPr>
                        <a:t>60</a:t>
                      </a:r>
                    </a:p>
                  </a:txBody>
                  <a:tcPr marL="91440" marR="91440" marT="45720" marB="45720" anchor="ctr">
                    <a:solidFill>
                      <a:srgbClr val="F0F4F1"/>
                    </a:solidFill>
                  </a:tcPr>
                </a:tc>
              </a:tr>
              <a:tr h="595313">
                <a:tc>
                  <a:txBody>
                    <a:bodyPr lIns="133350" tIns="85725" rIns="133350" bIns="85725">
                      <a:noAutofit/>
                    </a:bodyPr>
                    <a:lstStyle/>
                    <a:p>
                      <a:r>
                        <a:rPr sz="2100" b="0">
                          <a:solidFill>
                            <a:srgbClr val="142A24"/>
                          </a:solidFill>
                          <a:latin typeface="Arial"/>
                          <a:ea typeface="Arial"/>
                          <a:cs typeface="Arial"/>
                        </a:rPr>
                        <a:t>2</a:t>
                      </a:r>
                    </a:p>
                  </a:txBody>
                  <a:tcPr marL="91440" marR="91440" marT="45720" marB="45720" anchor="ctr">
                    <a:solidFill>
                      <a:srgbClr val="FFFEFB"/>
                    </a:solidFill>
                  </a:tcPr>
                </a:tc>
                <a:tc>
                  <a:txBody>
                    <a:bodyPr lIns="133350" tIns="85725" rIns="133350" bIns="85725">
                      <a:noAutofit/>
                    </a:bodyPr>
                    <a:lstStyle/>
                    <a:p>
                      <a:r>
                        <a:rPr sz="2100" b="0">
                          <a:solidFill>
                            <a:srgbClr val="142A24"/>
                          </a:solidFill>
                          <a:latin typeface="Arial"/>
                          <a:ea typeface="Arial"/>
                          <a:cs typeface="Arial"/>
                        </a:rPr>
                        <a:t>24</a:t>
                      </a:r>
                    </a:p>
                  </a:txBody>
                  <a:tcPr marL="91440" marR="91440" marT="45720" marB="45720" anchor="ctr">
                    <a:solidFill>
                      <a:srgbClr val="FFFEFB"/>
                    </a:solidFill>
                  </a:tcPr>
                </a:tc>
                <a:tc>
                  <a:txBody>
                    <a:bodyPr lIns="133350" tIns="85725" rIns="133350" bIns="85725">
                      <a:noAutofit/>
                    </a:bodyPr>
                    <a:lstStyle/>
                    <a:p>
                      <a:r>
                        <a:rPr sz="2100" b="0">
                          <a:solidFill>
                            <a:srgbClr val="142A24"/>
                          </a:solidFill>
                          <a:latin typeface="Arial"/>
                          <a:ea typeface="Arial"/>
                          <a:cs typeface="Arial"/>
                        </a:rPr>
                        <a:t>70</a:t>
                      </a:r>
                    </a:p>
                  </a:txBody>
                  <a:tcPr marL="91440" marR="91440" marT="45720" marB="45720" anchor="ctr">
                    <a:solidFill>
                      <a:srgbClr val="FFFEFB"/>
                    </a:solidFill>
                  </a:tcPr>
                </a:tc>
              </a:tr>
            </a:tbl>
          </a:graphicData>
        </a:graphic>
      </p:graphicFrame>
      <p:sp>
        <p:nvSpPr>
          <p:cNvPr id="5" name="X has shape (3, 2).&#10;&#10;axis=0 reduces over rows:&#10;one result pe">
            <a:extLst xmlns:a="http://schemas.openxmlformats.org/drawingml/2006/main">
              <a:ext uri="{FF2B5EF4-FFF2-40B4-BE49-F238E27FC236}">
                <a16:creationId xmlns:a16="http://schemas.microsoft.com/office/drawing/2014/main" id="{35DF0DF2-BF81-4CAA-AE3D-8DEF6579BE4E}"/>
              </a:ext>
            </a:extLst>
          </p:cNvPr>
          <p:cNvSpPr>
            <a:spLocks xmlns:a="http://schemas.openxmlformats.org/drawingml/2006/main" noGrp="1"/>
          </p:cNvSpPr>
          <p:nvPr/>
        </p:nvSpPr>
        <p:spPr>
          <a:xfrm xmlns:a="http://schemas.openxmlformats.org/drawingml/2006/main">
            <a:off x="7162800" y="1943100"/>
            <a:ext cx="4314825" cy="213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42A24"/>
                </a:solidFill>
                <a:latin typeface="Arial"/>
                <a:ea typeface="Arial"/>
                <a:cs typeface="Arial"/>
              </a:defRPr>
            </a:pPr>
            <a:r>
              <a:rPr sz="2250" b="0">
                <a:solidFill>
                  <a:srgbClr val="142A24"/>
                </a:solidFill>
                <a:latin typeface="Arial"/>
                <a:ea typeface="Arial"/>
                <a:cs typeface="Arial"/>
              </a:rPr>
              <a:t>X has shape (3, 2).</a:t>
            </a:r>
          </a:p>
          <a:p xmlns:a="http://schemas.openxmlformats.org/drawingml/2006/main">
            <a:r>
              <a:t/>
            </a:r>
          </a:p>
          <a:p xmlns:a="http://schemas.openxmlformats.org/drawingml/2006/main">
            <a:pPr>
              <a:defRPr sz="2250" b="0">
                <a:solidFill>
                  <a:srgbClr val="142A24"/>
                </a:solidFill>
                <a:latin typeface="Arial"/>
                <a:ea typeface="Arial"/>
                <a:cs typeface="Arial"/>
              </a:defRPr>
            </a:pPr>
            <a:r>
              <a:rPr sz="2250" b="0">
                <a:solidFill>
                  <a:srgbClr val="142A24"/>
                </a:solidFill>
                <a:latin typeface="Arial"/>
                <a:ea typeface="Arial"/>
                <a:cs typeface="Arial"/>
              </a:rPr>
              <a:t>axis=0 reduces over rows:</a:t>
            </a:r>
          </a:p>
          <a:p xmlns:a="http://schemas.openxmlformats.org/drawingml/2006/main">
            <a:pPr>
              <a:defRPr sz="2250" b="0">
                <a:solidFill>
                  <a:srgbClr val="142A24"/>
                </a:solidFill>
                <a:latin typeface="Arial"/>
                <a:ea typeface="Arial"/>
                <a:cs typeface="Arial"/>
              </a:defRPr>
            </a:pPr>
            <a:r>
              <a:rPr sz="2250" b="0">
                <a:solidFill>
                  <a:srgbClr val="142A24"/>
                </a:solidFill>
                <a:latin typeface="Arial"/>
                <a:ea typeface="Arial"/>
                <a:cs typeface="Arial"/>
              </a:rPr>
              <a:t>one result per column.</a:t>
            </a:r>
          </a:p>
        </p:txBody>
      </p:sp>
      <p:sp>
        <p:nvSpPr>
          <p:cNvPr id="6" name="Code example">
            <a:extLst xmlns:a="http://schemas.openxmlformats.org/drawingml/2006/main">
              <a:ext uri="{FF2B5EF4-FFF2-40B4-BE49-F238E27FC236}">
                <a16:creationId xmlns:a16="http://schemas.microsoft.com/office/drawing/2014/main" id="{BD8A3784-DD64-4DD3-9C58-3D5D006BBC8F}"/>
              </a:ext>
            </a:extLst>
          </p:cNvPr>
          <p:cNvSpPr>
            <a:spLocks xmlns:a="http://schemas.openxmlformats.org/drawingml/2006/main" noGrp="1"/>
          </p:cNvSpPr>
          <p:nvPr/>
        </p:nvSpPr>
        <p:spPr>
          <a:xfrm xmlns:a="http://schemas.openxmlformats.org/drawingml/2006/main">
            <a:off x="685800" y="4686300"/>
            <a:ext cx="10820400" cy="1104900"/>
          </a:xfrm>
          <a:prstGeom xmlns:a="http://schemas.openxmlformats.org/drawingml/2006/main" prst="rect">
            <a:avLst/>
          </a:prstGeom>
          <a:solidFill xmlns:a="http://schemas.openxmlformats.org/drawingml/2006/main">
            <a:srgbClr val="F0F4F1"/>
          </a:solidFill>
          <a:ln xmlns:a="http://schemas.openxmlformats.org/drawingml/2006/main" w="0">
            <a:noFill/>
          </a:ln>
        </p:spPr>
        <p:txBody>
          <a:bodyPr xmlns:a="http://schemas.openxmlformats.org/drawingml/2006/main" wrap="none" lIns="152400" tIns="133350" rIns="152400" bIns="133350" anchor="t">
            <a:noAutofit/>
          </a:bodyPr>
          <a:lstStyle xmlns:a="http://schemas.openxmlformats.org/drawingml/2006/main"/>
          <a:p xmlns:a="http://schemas.openxmlformats.org/drawingml/2006/main">
            <a:pPr>
              <a:defRPr sz="2025" b="0">
                <a:solidFill>
                  <a:srgbClr val="142A24"/>
                </a:solidFill>
                <a:latin typeface="Menlo"/>
                <a:ea typeface="Menlo"/>
                <a:cs typeface="Menlo"/>
              </a:defRPr>
            </a:pPr>
            <a:r>
              <a:rPr sz="2025" b="0">
                <a:solidFill>
                  <a:srgbClr val="142A24"/>
                </a:solidFill>
                <a:latin typeface="Menlo"/>
                <a:ea typeface="Menlo"/>
                <a:cs typeface="Menlo"/>
              </a:rPr>
              <a:t>values = np.array([[20., 50.], [22., 60.], [24., 70.]])</a:t>
            </a:r>
          </a:p>
          <a:p xmlns:a="http://schemas.openxmlformats.org/drawingml/2006/main">
            <a:pPr>
              <a:defRPr sz="2025" b="0">
                <a:solidFill>
                  <a:srgbClr val="142A24"/>
                </a:solidFill>
                <a:latin typeface="Menlo"/>
                <a:ea typeface="Menlo"/>
                <a:cs typeface="Menlo"/>
              </a:defRPr>
            </a:pPr>
            <a:r>
              <a:rPr sz="2025" b="0">
                <a:solidFill>
                  <a:srgbClr val="142A24"/>
                </a:solidFill>
                <a:latin typeface="Menlo"/>
                <a:ea typeface="Menlo"/>
                <a:cs typeface="Menlo"/>
              </a:rPr>
              <a:t>values.mean(axis=0)  # array([22., 60.])</a:t>
            </a:r>
          </a:p>
        </p:txBody>
      </p:sp>
      <p:sp>
        <p:nvSpPr>
          <p:cNvPr id="7" name="Open course page">
            <a:extLst xmlns:a="http://schemas.openxmlformats.org/drawingml/2006/main">
              <a:ext uri="{FF2B5EF4-FFF2-40B4-BE49-F238E27FC236}">
                <a16:creationId xmlns:a16="http://schemas.microsoft.com/office/drawing/2014/main" id="{245E9C74-7429-45D8-BE8D-B19B69CE536A}"/>
              </a:ext>
            </a:extLst>
          </p:cNvPr>
          <p:cNvSpPr>
            <a:spLocks xmlns:a="http://schemas.openxmlformats.org/drawingml/2006/main" noGrp="1"/>
          </p:cNvSpPr>
          <p:nvPr/>
        </p:nvSpPr>
        <p:spPr>
          <a:xfrm xmlns:a="http://schemas.openxmlformats.org/drawingml/2006/main">
            <a:off x="685800" y="6381750"/>
            <a:ext cx="571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55F46"/>
                </a:solidFill>
                <a:latin typeface="Arial"/>
                <a:ea typeface="Arial"/>
                <a:cs typeface="Arial"/>
              </a:defRPr>
            </a:pPr>
            <a:r>
              <a:rPr sz="1500" b="1">
                <a:solidFill>
                  <a:srgbClr val="155F46"/>
                </a:solidFill>
                <a:latin typeface="Arial"/>
                <a:ea typeface="Arial"/>
                <a:cs typeface="Arial"/>
                <a:hlinkClick xmlns:r="http://schemas.openxmlformats.org/officeDocument/2006/relationships" r:id="R7bdcd2fdf6934b0a"/>
              </a:rPr>
              <a:t>Open course page</a:t>
            </a:r>
          </a:p>
        </p:txBody>
      </p:sp>
      <p:sp>
        <p:nvSpPr>
          <p:cNvPr id="8" name="95–100 min · 19 / 23">
            <a:extLst xmlns:a="http://schemas.openxmlformats.org/drawingml/2006/main">
              <a:ext uri="{FF2B5EF4-FFF2-40B4-BE49-F238E27FC236}">
                <a16:creationId xmlns:a16="http://schemas.microsoft.com/office/drawing/2014/main" id="{B3DE6CCB-B4A8-4EF7-9C1E-6D13515F25F8}"/>
              </a:ext>
            </a:extLst>
          </p:cNvPr>
          <p:cNvSpPr>
            <a:spLocks xmlns:a="http://schemas.openxmlformats.org/drawingml/2006/main" noGrp="1"/>
          </p:cNvSpPr>
          <p:nvPr/>
        </p:nvSpPr>
        <p:spPr>
          <a:xfrm xmlns:a="http://schemas.openxmlformats.org/drawingml/2006/main">
            <a:off x="8191500" y="6381750"/>
            <a:ext cx="3314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66C61"/>
                </a:solidFill>
                <a:latin typeface="Arial"/>
                <a:ea typeface="Arial"/>
                <a:cs typeface="Arial"/>
              </a:defRPr>
            </a:pPr>
            <a:r>
              <a:rPr sz="1500" b="0">
                <a:solidFill>
                  <a:srgbClr val="566C61"/>
                </a:solidFill>
                <a:latin typeface="Arial"/>
                <a:ea typeface="Arial"/>
                <a:cs typeface="Arial"/>
              </a:rPr>
              <a:t>95–100 min · 19 / 23</a:t>
            </a:r>
          </a:p>
        </p:txBody>
      </p:sp>
    </p:spTree>
    <p:extLst>
      <p:ext uri="{BB962C8B-B14F-4D97-AF65-F5344CB8AC3E}">
        <p14:creationId xmlns:p14="http://schemas.microsoft.com/office/powerpoint/2010/main" val="1758088277"/>
      </p:ext>
    </p:extLst>
  </p:cSld>
</p:sld>
</file>

<file path=ppt/slides/slide20.xml><?xml version="1.0" encoding="utf-8"?>
<p:sld xmlns:p="http://schemas.openxmlformats.org/presentationml/2006/main">
  <p:cSld>
    <p:bg>
      <p:bgPr>
        <a:solidFill xmlns:a="http://schemas.openxmlformats.org/drawingml/2006/main">
          <a:srgbClr val="FFFEF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2BC00C4-D140-4931-87B5-6FED2C69C892}"/>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5F46"/>
          </a:solidFill>
          <a:ln xmlns:a="http://schemas.openxmlformats.org/drawingml/2006/main" w="0">
            <a:noFill/>
          </a:ln>
        </p:spPr>
      </p:sp>
      <p:sp>
        <p:nvSpPr>
          <p:cNvPr id="2" name="4 · Arrays, tables, and joins">
            <a:extLst xmlns:a="http://schemas.openxmlformats.org/drawingml/2006/main">
              <a:ext uri="{FF2B5EF4-FFF2-40B4-BE49-F238E27FC236}">
                <a16:creationId xmlns:a16="http://schemas.microsoft.com/office/drawing/2014/main" id="{8EC72ABD-BAC2-4F8B-8F3E-A77C723DAAAE}"/>
              </a:ext>
            </a:extLst>
          </p:cNvPr>
          <p:cNvSpPr>
            <a:spLocks xmlns:a="http://schemas.openxmlformats.org/drawingml/2006/main" noGrp="1"/>
          </p:cNvSpPr>
          <p:nvPr/>
        </p:nvSpPr>
        <p:spPr>
          <a:xfrm xmlns:a="http://schemas.openxmlformats.org/drawingml/2006/main">
            <a:off x="685800" y="323850"/>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1">
                <a:solidFill>
                  <a:srgbClr val="155F46"/>
                </a:solidFill>
                <a:latin typeface="Arial"/>
                <a:ea typeface="Arial"/>
                <a:cs typeface="Arial"/>
              </a:defRPr>
            </a:pPr>
            <a:r>
              <a:rPr sz="1575" b="1">
                <a:solidFill>
                  <a:srgbClr val="155F46"/>
                </a:solidFill>
                <a:latin typeface="Arial"/>
                <a:ea typeface="Arial"/>
                <a:cs typeface="Arial"/>
              </a:rPr>
              <a:t>4 · Arrays, tables, and joins</a:t>
            </a:r>
          </a:p>
        </p:txBody>
      </p:sp>
      <p:sp>
        <p:nvSpPr>
          <p:cNvPr id="3" name="Broadcasting repeats one operation across rows">
            <a:extLst xmlns:a="http://schemas.openxmlformats.org/drawingml/2006/main">
              <a:ext uri="{FF2B5EF4-FFF2-40B4-BE49-F238E27FC236}">
                <a16:creationId xmlns:a16="http://schemas.microsoft.com/office/drawing/2014/main" id="{32F51AF8-E99B-4DAC-9292-CBC945A97106}"/>
              </a:ext>
            </a:extLst>
          </p:cNvPr>
          <p:cNvSpPr>
            <a:spLocks xmlns:a="http://schemas.openxmlformats.org/drawingml/2006/main" noGrp="1"/>
          </p:cNvSpPr>
          <p:nvPr/>
        </p:nvSpPr>
        <p:spPr>
          <a:xfrm xmlns:a="http://schemas.openxmlformats.org/drawingml/2006/main">
            <a:off x="685800" y="73342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142A24"/>
                </a:solidFill>
                <a:latin typeface="Arial"/>
                <a:ea typeface="Arial"/>
                <a:cs typeface="Arial"/>
              </a:defRPr>
            </a:pPr>
            <a:r>
              <a:rPr sz="3225" b="1">
                <a:solidFill>
                  <a:srgbClr val="142A24"/>
                </a:solidFill>
                <a:latin typeface="Arial"/>
                <a:ea typeface="Arial"/>
                <a:cs typeface="Arial"/>
              </a:rPr>
              <a:t>Broadcasting repeats one operation across rows</a:t>
            </a:r>
          </a:p>
        </p:txBody>
      </p:sp>
      <p:sp>
        <p:nvSpPr>
          <p:cNvPr id="4" name="Code example">
            <a:extLst xmlns:a="http://schemas.openxmlformats.org/drawingml/2006/main">
              <a:ext uri="{FF2B5EF4-FFF2-40B4-BE49-F238E27FC236}">
                <a16:creationId xmlns:a16="http://schemas.microsoft.com/office/drawing/2014/main" id="{8D5B83A6-8DB6-4BA7-9E63-E7EAA16F2CC0}"/>
              </a:ext>
            </a:extLst>
          </p:cNvPr>
          <p:cNvSpPr>
            <a:spLocks xmlns:a="http://schemas.openxmlformats.org/drawingml/2006/main" noGrp="1"/>
          </p:cNvSpPr>
          <p:nvPr/>
        </p:nvSpPr>
        <p:spPr>
          <a:xfrm xmlns:a="http://schemas.openxmlformats.org/drawingml/2006/main">
            <a:off x="685800" y="1790700"/>
            <a:ext cx="10820400" cy="1438275"/>
          </a:xfrm>
          <a:prstGeom xmlns:a="http://schemas.openxmlformats.org/drawingml/2006/main" prst="rect">
            <a:avLst/>
          </a:prstGeom>
          <a:solidFill xmlns:a="http://schemas.openxmlformats.org/drawingml/2006/main">
            <a:srgbClr val="F0F4F1"/>
          </a:solidFill>
          <a:ln xmlns:a="http://schemas.openxmlformats.org/drawingml/2006/main" w="0">
            <a:noFill/>
          </a:ln>
        </p:spPr>
        <p:txBody>
          <a:bodyPr xmlns:a="http://schemas.openxmlformats.org/drawingml/2006/main" wrap="none" lIns="152400" tIns="133350" rIns="152400" bIns="133350" anchor="t">
            <a:noAutofit/>
          </a:bodyPr>
          <a:lstStyle xmlns:a="http://schemas.openxmlformats.org/drawingml/2006/main"/>
          <a:p xmlns:a="http://schemas.openxmlformats.org/drawingml/2006/main">
            <a:pPr>
              <a:defRPr sz="2100" b="0">
                <a:solidFill>
                  <a:srgbClr val="142A24"/>
                </a:solidFill>
                <a:latin typeface="Menlo"/>
                <a:ea typeface="Menlo"/>
                <a:cs typeface="Menlo"/>
              </a:defRPr>
            </a:pPr>
            <a:r>
              <a:rPr sz="2100" b="0">
                <a:solidFill>
                  <a:srgbClr val="142A24"/>
                </a:solidFill>
                <a:latin typeface="Menlo"/>
                <a:ea typeface="Menlo"/>
                <a:cs typeface="Menlo"/>
              </a:rPr>
              <a:t>column_means = values.mean(axis=0)</a:t>
            </a:r>
          </a:p>
          <a:p xmlns:a="http://schemas.openxmlformats.org/drawingml/2006/main">
            <a:pPr>
              <a:defRPr sz="2100" b="0">
                <a:solidFill>
                  <a:srgbClr val="142A24"/>
                </a:solidFill>
                <a:latin typeface="Menlo"/>
                <a:ea typeface="Menlo"/>
                <a:cs typeface="Menlo"/>
              </a:defRPr>
            </a:pPr>
            <a:r>
              <a:rPr sz="2100" b="0">
                <a:solidFill>
                  <a:srgbClr val="142A24"/>
                </a:solidFill>
                <a:latin typeface="Menlo"/>
                <a:ea typeface="Menlo"/>
                <a:cs typeface="Menlo"/>
              </a:rPr>
              <a:t>centred = values - column_means</a:t>
            </a:r>
          </a:p>
          <a:p xmlns:a="http://schemas.openxmlformats.org/drawingml/2006/main">
            <a:pPr>
              <a:defRPr sz="2100" b="0">
                <a:solidFill>
                  <a:srgbClr val="142A24"/>
                </a:solidFill>
                <a:latin typeface="Menlo"/>
                <a:ea typeface="Menlo"/>
                <a:cs typeface="Menlo"/>
              </a:defRPr>
            </a:pPr>
            <a:r>
              <a:rPr sz="2100" b="0">
                <a:solidFill>
                  <a:srgbClr val="142A24"/>
                </a:solidFill>
                <a:latin typeface="Menlo"/>
                <a:ea typeface="Menlo"/>
                <a:cs typeface="Menlo"/>
              </a:rPr>
              <a:t>warm_rows = values[values[:, 0] &gt;= 22.0]</a:t>
            </a:r>
          </a:p>
        </p:txBody>
      </p:sp>
      <p:graphicFrame>
        <p:nvGraphicFramePr>
          <p:cNvPr id="13" name=""/>
          <p:cNvGraphicFramePr/>
          <p:nvPr/>
        </p:nvGraphicFramePr>
        <p:xfrm>
          <a:off xmlns:a="http://schemas.openxmlformats.org/drawingml/2006/main" x="685800" y="3600450"/>
          <a:ext xmlns:a="http://schemas.openxmlformats.org/drawingml/2006/main" cx="6810375" cy="2247900"/>
        </p:xfrm>
        <a:graphic xmlns:a="http://schemas.openxmlformats.org/drawingml/2006/main">
          <a:graphicData uri="http://schemas.openxmlformats.org/drawingml/2006/table">
            <a:tbl>
              <a:tblPr firstRow="1" bandRow="0"/>
              <a:tblGrid>
                <a:gridCol w="851297"/>
                <a:gridCol w="3121422"/>
                <a:gridCol w="2837656"/>
              </a:tblGrid>
              <a:tr h="561975">
                <a:tc>
                  <a:txBody>
                    <a:bodyPr lIns="133350" tIns="85725" rIns="133350" bIns="85725">
                      <a:noAutofit/>
                    </a:bodyPr>
                    <a:lstStyle/>
                    <a:p>
                      <a:r>
                        <a:rPr sz="2025" b="1">
                          <a:solidFill>
                            <a:srgbClr val="FFFFFF"/>
                          </a:solidFill>
                          <a:latin typeface="Arial"/>
                          <a:ea typeface="Arial"/>
                          <a:cs typeface="Arial"/>
                        </a:rPr>
                        <a:t>row</a:t>
                      </a:r>
                    </a:p>
                  </a:txBody>
                  <a:tcPr marL="91440" marR="91440" marT="45720" marB="45720" anchor="ctr">
                    <a:solidFill>
                      <a:srgbClr val="155F46"/>
                    </a:solidFill>
                  </a:tcPr>
                </a:tc>
                <a:tc>
                  <a:txBody>
                    <a:bodyPr lIns="133350" tIns="85725" rIns="133350" bIns="85725">
                      <a:noAutofit/>
                    </a:bodyPr>
                    <a:lstStyle/>
                    <a:p>
                      <a:r>
                        <a:rPr sz="2025" b="1">
                          <a:solidFill>
                            <a:srgbClr val="FFFFFF"/>
                          </a:solidFill>
                          <a:latin typeface="Arial"/>
                          <a:ea typeface="Arial"/>
                          <a:cs typeface="Arial"/>
                        </a:rPr>
                        <a:t>centred temperature</a:t>
                      </a:r>
                    </a:p>
                  </a:txBody>
                  <a:tcPr marL="91440" marR="91440" marT="45720" marB="45720" anchor="ctr">
                    <a:solidFill>
                      <a:srgbClr val="155F46"/>
                    </a:solidFill>
                  </a:tcPr>
                </a:tc>
                <a:tc>
                  <a:txBody>
                    <a:bodyPr lIns="133350" tIns="85725" rIns="133350" bIns="85725">
                      <a:noAutofit/>
                    </a:bodyPr>
                    <a:lstStyle/>
                    <a:p>
                      <a:r>
                        <a:rPr sz="2025" b="1">
                          <a:solidFill>
                            <a:srgbClr val="FFFFFF"/>
                          </a:solidFill>
                          <a:latin typeface="Arial"/>
                          <a:ea typeface="Arial"/>
                          <a:cs typeface="Arial"/>
                        </a:rPr>
                        <a:t>centred humidity</a:t>
                      </a:r>
                    </a:p>
                  </a:txBody>
                  <a:tcPr marL="91440" marR="91440" marT="45720" marB="45720" anchor="ctr">
                    <a:solidFill>
                      <a:srgbClr val="155F46"/>
                    </a:solidFill>
                  </a:tcPr>
                </a:tc>
              </a:tr>
              <a:tr h="561975">
                <a:tc>
                  <a:txBody>
                    <a:bodyPr lIns="133350" tIns="85725" rIns="133350" bIns="85725">
                      <a:noAutofit/>
                    </a:bodyPr>
                    <a:lstStyle/>
                    <a:p>
                      <a:r>
                        <a:rPr sz="2025" b="0">
                          <a:solidFill>
                            <a:srgbClr val="142A24"/>
                          </a:solidFill>
                          <a:latin typeface="Arial"/>
                          <a:ea typeface="Arial"/>
                          <a:cs typeface="Arial"/>
                        </a:rPr>
                        <a:t>0</a:t>
                      </a:r>
                    </a:p>
                  </a:txBody>
                  <a:tcPr marL="91440" marR="91440" marT="45720" marB="45720" anchor="ctr">
                    <a:solidFill>
                      <a:srgbClr val="FFFEFB"/>
                    </a:solidFill>
                  </a:tcPr>
                </a:tc>
                <a:tc>
                  <a:txBody>
                    <a:bodyPr lIns="133350" tIns="85725" rIns="133350" bIns="85725">
                      <a:noAutofit/>
                    </a:bodyPr>
                    <a:lstStyle/>
                    <a:p>
                      <a:r>
                        <a:rPr sz="2025" b="0">
                          <a:solidFill>
                            <a:srgbClr val="142A24"/>
                          </a:solidFill>
                          <a:latin typeface="Arial"/>
                          <a:ea typeface="Arial"/>
                          <a:cs typeface="Arial"/>
                        </a:rPr>
                        <a:t>−2</a:t>
                      </a:r>
                    </a:p>
                  </a:txBody>
                  <a:tcPr marL="91440" marR="91440" marT="45720" marB="45720" anchor="ctr">
                    <a:solidFill>
                      <a:srgbClr val="FFFEFB"/>
                    </a:solidFill>
                  </a:tcPr>
                </a:tc>
                <a:tc>
                  <a:txBody>
                    <a:bodyPr lIns="133350" tIns="85725" rIns="133350" bIns="85725">
                      <a:noAutofit/>
                    </a:bodyPr>
                    <a:lstStyle/>
                    <a:p>
                      <a:r>
                        <a:rPr sz="2025" b="0">
                          <a:solidFill>
                            <a:srgbClr val="142A24"/>
                          </a:solidFill>
                          <a:latin typeface="Arial"/>
                          <a:ea typeface="Arial"/>
                          <a:cs typeface="Arial"/>
                        </a:rPr>
                        <a:t>−10</a:t>
                      </a:r>
                    </a:p>
                  </a:txBody>
                  <a:tcPr marL="91440" marR="91440" marT="45720" marB="45720" anchor="ctr">
                    <a:solidFill>
                      <a:srgbClr val="FFFEFB"/>
                    </a:solidFill>
                  </a:tcPr>
                </a:tc>
              </a:tr>
              <a:tr h="561975">
                <a:tc>
                  <a:txBody>
                    <a:bodyPr lIns="133350" tIns="85725" rIns="133350" bIns="85725">
                      <a:noAutofit/>
                    </a:bodyPr>
                    <a:lstStyle/>
                    <a:p>
                      <a:r>
                        <a:rPr sz="2025" b="0">
                          <a:solidFill>
                            <a:srgbClr val="142A24"/>
                          </a:solidFill>
                          <a:latin typeface="Arial"/>
                          <a:ea typeface="Arial"/>
                          <a:cs typeface="Arial"/>
                        </a:rPr>
                        <a:t>1</a:t>
                      </a:r>
                    </a:p>
                  </a:txBody>
                  <a:tcPr marL="91440" marR="91440" marT="45720" marB="45720" anchor="ctr">
                    <a:solidFill>
                      <a:srgbClr val="F0F4F1"/>
                    </a:solidFill>
                  </a:tcPr>
                </a:tc>
                <a:tc>
                  <a:txBody>
                    <a:bodyPr lIns="133350" tIns="85725" rIns="133350" bIns="85725">
                      <a:noAutofit/>
                    </a:bodyPr>
                    <a:lstStyle/>
                    <a:p>
                      <a:r>
                        <a:rPr sz="2025" b="0">
                          <a:solidFill>
                            <a:srgbClr val="142A24"/>
                          </a:solidFill>
                          <a:latin typeface="Arial"/>
                          <a:ea typeface="Arial"/>
                          <a:cs typeface="Arial"/>
                        </a:rPr>
                        <a:t>0</a:t>
                      </a:r>
                    </a:p>
                  </a:txBody>
                  <a:tcPr marL="91440" marR="91440" marT="45720" marB="45720" anchor="ctr">
                    <a:solidFill>
                      <a:srgbClr val="F0F4F1"/>
                    </a:solidFill>
                  </a:tcPr>
                </a:tc>
                <a:tc>
                  <a:txBody>
                    <a:bodyPr lIns="133350" tIns="85725" rIns="133350" bIns="85725">
                      <a:noAutofit/>
                    </a:bodyPr>
                    <a:lstStyle/>
                    <a:p>
                      <a:r>
                        <a:rPr sz="2025" b="0">
                          <a:solidFill>
                            <a:srgbClr val="142A24"/>
                          </a:solidFill>
                          <a:latin typeface="Arial"/>
                          <a:ea typeface="Arial"/>
                          <a:cs typeface="Arial"/>
                        </a:rPr>
                        <a:t>0</a:t>
                      </a:r>
                    </a:p>
                  </a:txBody>
                  <a:tcPr marL="91440" marR="91440" marT="45720" marB="45720" anchor="ctr">
                    <a:solidFill>
                      <a:srgbClr val="F0F4F1"/>
                    </a:solidFill>
                  </a:tcPr>
                </a:tc>
              </a:tr>
              <a:tr h="561975">
                <a:tc>
                  <a:txBody>
                    <a:bodyPr lIns="133350" tIns="85725" rIns="133350" bIns="85725">
                      <a:noAutofit/>
                    </a:bodyPr>
                    <a:lstStyle/>
                    <a:p>
                      <a:r>
                        <a:rPr sz="2025" b="0">
                          <a:solidFill>
                            <a:srgbClr val="142A24"/>
                          </a:solidFill>
                          <a:latin typeface="Arial"/>
                          <a:ea typeface="Arial"/>
                          <a:cs typeface="Arial"/>
                        </a:rPr>
                        <a:t>2</a:t>
                      </a:r>
                    </a:p>
                  </a:txBody>
                  <a:tcPr marL="91440" marR="91440" marT="45720" marB="45720" anchor="ctr">
                    <a:solidFill>
                      <a:srgbClr val="FFFEFB"/>
                    </a:solidFill>
                  </a:tcPr>
                </a:tc>
                <a:tc>
                  <a:txBody>
                    <a:bodyPr lIns="133350" tIns="85725" rIns="133350" bIns="85725">
                      <a:noAutofit/>
                    </a:bodyPr>
                    <a:lstStyle/>
                    <a:p>
                      <a:r>
                        <a:rPr sz="2025" b="0">
                          <a:solidFill>
                            <a:srgbClr val="142A24"/>
                          </a:solidFill>
                          <a:latin typeface="Arial"/>
                          <a:ea typeface="Arial"/>
                          <a:cs typeface="Arial"/>
                        </a:rPr>
                        <a:t>2</a:t>
                      </a:r>
                    </a:p>
                  </a:txBody>
                  <a:tcPr marL="91440" marR="91440" marT="45720" marB="45720" anchor="ctr">
                    <a:solidFill>
                      <a:srgbClr val="FFFEFB"/>
                    </a:solidFill>
                  </a:tcPr>
                </a:tc>
                <a:tc>
                  <a:txBody>
                    <a:bodyPr lIns="133350" tIns="85725" rIns="133350" bIns="85725">
                      <a:noAutofit/>
                    </a:bodyPr>
                    <a:lstStyle/>
                    <a:p>
                      <a:r>
                        <a:rPr sz="2025" b="0">
                          <a:solidFill>
                            <a:srgbClr val="142A24"/>
                          </a:solidFill>
                          <a:latin typeface="Arial"/>
                          <a:ea typeface="Arial"/>
                          <a:cs typeface="Arial"/>
                        </a:rPr>
                        <a:t>10</a:t>
                      </a:r>
                    </a:p>
                  </a:txBody>
                  <a:tcPr marL="91440" marR="91440" marT="45720" marB="45720" anchor="ctr">
                    <a:solidFill>
                      <a:srgbClr val="FFFEFB"/>
                    </a:solidFill>
                  </a:tcPr>
                </a:tc>
              </a:tr>
            </a:tbl>
          </a:graphicData>
        </a:graphic>
      </p:graphicFrame>
      <p:sp>
        <p:nvSpPr>
          <p:cNvPr id="6" name="(3, 2) − (2,)&#10;produces (3, 2).&#10;&#10;Predict the shape&#10;of warm_ro">
            <a:extLst xmlns:a="http://schemas.openxmlformats.org/drawingml/2006/main">
              <a:ext uri="{FF2B5EF4-FFF2-40B4-BE49-F238E27FC236}">
                <a16:creationId xmlns:a16="http://schemas.microsoft.com/office/drawing/2014/main" id="{46CC688D-AB6A-4BCF-92B0-0B517C32F934}"/>
              </a:ext>
            </a:extLst>
          </p:cNvPr>
          <p:cNvSpPr>
            <a:spLocks xmlns:a="http://schemas.openxmlformats.org/drawingml/2006/main" noGrp="1"/>
          </p:cNvSpPr>
          <p:nvPr/>
        </p:nvSpPr>
        <p:spPr>
          <a:xfrm xmlns:a="http://schemas.openxmlformats.org/drawingml/2006/main">
            <a:off x="8029575" y="3752850"/>
            <a:ext cx="3486150" cy="1990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42A24"/>
                </a:solidFill>
                <a:latin typeface="Arial"/>
                <a:ea typeface="Arial"/>
                <a:cs typeface="Arial"/>
              </a:defRPr>
            </a:pPr>
            <a:r>
              <a:rPr sz="2175" b="0">
                <a:solidFill>
                  <a:srgbClr val="142A24"/>
                </a:solidFill>
                <a:latin typeface="Arial"/>
                <a:ea typeface="Arial"/>
                <a:cs typeface="Arial"/>
              </a:rPr>
              <a:t>(3, 2) − (2,)</a:t>
            </a:r>
          </a:p>
          <a:p xmlns:a="http://schemas.openxmlformats.org/drawingml/2006/main">
            <a:pPr>
              <a:defRPr sz="2175" b="0">
                <a:solidFill>
                  <a:srgbClr val="142A24"/>
                </a:solidFill>
                <a:latin typeface="Arial"/>
                <a:ea typeface="Arial"/>
                <a:cs typeface="Arial"/>
              </a:defRPr>
            </a:pPr>
            <a:r>
              <a:rPr sz="2175" b="0">
                <a:solidFill>
                  <a:srgbClr val="142A24"/>
                </a:solidFill>
                <a:latin typeface="Arial"/>
                <a:ea typeface="Arial"/>
                <a:cs typeface="Arial"/>
              </a:rPr>
              <a:t>produces (3, 2).</a:t>
            </a:r>
          </a:p>
          <a:p xmlns:a="http://schemas.openxmlformats.org/drawingml/2006/main">
            <a:r>
              <a:t/>
            </a:r>
          </a:p>
          <a:p xmlns:a="http://schemas.openxmlformats.org/drawingml/2006/main">
            <a:pPr>
              <a:defRPr sz="2175" b="0">
                <a:solidFill>
                  <a:srgbClr val="142A24"/>
                </a:solidFill>
                <a:latin typeface="Arial"/>
                <a:ea typeface="Arial"/>
                <a:cs typeface="Arial"/>
              </a:defRPr>
            </a:pPr>
            <a:r>
              <a:rPr sz="2175" b="0">
                <a:solidFill>
                  <a:srgbClr val="142A24"/>
                </a:solidFill>
                <a:latin typeface="Arial"/>
                <a:ea typeface="Arial"/>
                <a:cs typeface="Arial"/>
              </a:rPr>
              <a:t>Predict the shape</a:t>
            </a:r>
          </a:p>
          <a:p xmlns:a="http://schemas.openxmlformats.org/drawingml/2006/main">
            <a:pPr>
              <a:defRPr sz="2175" b="0">
                <a:solidFill>
                  <a:srgbClr val="142A24"/>
                </a:solidFill>
                <a:latin typeface="Arial"/>
                <a:ea typeface="Arial"/>
                <a:cs typeface="Arial"/>
              </a:defRPr>
            </a:pPr>
            <a:r>
              <a:rPr sz="2175" b="0">
                <a:solidFill>
                  <a:srgbClr val="142A24"/>
                </a:solidFill>
                <a:latin typeface="Arial"/>
                <a:ea typeface="Arial"/>
                <a:cs typeface="Arial"/>
              </a:rPr>
              <a:t>of warm_rows.</a:t>
            </a:r>
          </a:p>
        </p:txBody>
      </p:sp>
      <p:sp>
        <p:nvSpPr>
          <p:cNvPr id="7" name="Open course page">
            <a:extLst xmlns:a="http://schemas.openxmlformats.org/drawingml/2006/main">
              <a:ext uri="{FF2B5EF4-FFF2-40B4-BE49-F238E27FC236}">
                <a16:creationId xmlns:a16="http://schemas.microsoft.com/office/drawing/2014/main" id="{7FE605ED-000F-460D-BE7E-5A3B1F04AADA}"/>
              </a:ext>
            </a:extLst>
          </p:cNvPr>
          <p:cNvSpPr>
            <a:spLocks xmlns:a="http://schemas.openxmlformats.org/drawingml/2006/main" noGrp="1"/>
          </p:cNvSpPr>
          <p:nvPr/>
        </p:nvSpPr>
        <p:spPr>
          <a:xfrm xmlns:a="http://schemas.openxmlformats.org/drawingml/2006/main">
            <a:off x="685800" y="6381750"/>
            <a:ext cx="571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55F46"/>
                </a:solidFill>
                <a:latin typeface="Arial"/>
                <a:ea typeface="Arial"/>
                <a:cs typeface="Arial"/>
              </a:defRPr>
            </a:pPr>
            <a:r>
              <a:rPr sz="1500" b="1">
                <a:solidFill>
                  <a:srgbClr val="155F46"/>
                </a:solidFill>
                <a:latin typeface="Arial"/>
                <a:ea typeface="Arial"/>
                <a:cs typeface="Arial"/>
                <a:hlinkClick xmlns:r="http://schemas.openxmlformats.org/officeDocument/2006/relationships" r:id="R3b3c60ff5af241d0"/>
              </a:rPr>
              <a:t>Open course page</a:t>
            </a:r>
          </a:p>
        </p:txBody>
      </p:sp>
      <p:sp>
        <p:nvSpPr>
          <p:cNvPr id="8" name="100–104 min · 20 / 23">
            <a:extLst xmlns:a="http://schemas.openxmlformats.org/drawingml/2006/main">
              <a:ext uri="{FF2B5EF4-FFF2-40B4-BE49-F238E27FC236}">
                <a16:creationId xmlns:a16="http://schemas.microsoft.com/office/drawing/2014/main" id="{121A3CCE-1166-4B71-ADE9-06FEAE1360F7}"/>
              </a:ext>
            </a:extLst>
          </p:cNvPr>
          <p:cNvSpPr>
            <a:spLocks xmlns:a="http://schemas.openxmlformats.org/drawingml/2006/main" noGrp="1"/>
          </p:cNvSpPr>
          <p:nvPr/>
        </p:nvSpPr>
        <p:spPr>
          <a:xfrm xmlns:a="http://schemas.openxmlformats.org/drawingml/2006/main">
            <a:off x="8191500" y="6381750"/>
            <a:ext cx="3314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66C61"/>
                </a:solidFill>
                <a:latin typeface="Arial"/>
                <a:ea typeface="Arial"/>
                <a:cs typeface="Arial"/>
              </a:defRPr>
            </a:pPr>
            <a:r>
              <a:rPr sz="1500" b="0">
                <a:solidFill>
                  <a:srgbClr val="566C61"/>
                </a:solidFill>
                <a:latin typeface="Arial"/>
                <a:ea typeface="Arial"/>
                <a:cs typeface="Arial"/>
              </a:rPr>
              <a:t>100–104 min · 20 / 23</a:t>
            </a:r>
          </a:p>
        </p:txBody>
      </p:sp>
    </p:spTree>
    <p:extLst>
      <p:ext uri="{BB962C8B-B14F-4D97-AF65-F5344CB8AC3E}">
        <p14:creationId xmlns:p14="http://schemas.microsoft.com/office/powerpoint/2010/main" val="336720507"/>
      </p:ext>
    </p:extLst>
  </p:cSld>
</p:sld>
</file>

<file path=ppt/slides/slide21.xml><?xml version="1.0" encoding="utf-8"?>
<p:sld xmlns:p="http://schemas.openxmlformats.org/presentationml/2006/main">
  <p:cSld>
    <p:bg>
      <p:bgPr>
        <a:solidFill xmlns:a="http://schemas.openxmlformats.org/drawingml/2006/main">
          <a:srgbClr val="FFFEFB"/>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0222CFD-210A-4CF2-A88C-4DF7E01CD6FB}"/>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5F46"/>
          </a:solidFill>
          <a:ln xmlns:a="http://schemas.openxmlformats.org/drawingml/2006/main" w="0">
            <a:noFill/>
          </a:ln>
        </p:spPr>
      </p:sp>
      <p:sp>
        <p:nvSpPr>
          <p:cNvPr id="2" name="4 · Change the layout">
            <a:extLst xmlns:a="http://schemas.openxmlformats.org/drawingml/2006/main">
              <a:ext uri="{FF2B5EF4-FFF2-40B4-BE49-F238E27FC236}">
                <a16:creationId xmlns:a16="http://schemas.microsoft.com/office/drawing/2014/main" id="{FE39BD88-358A-4F5F-A25B-F49B3C95F57A}"/>
              </a:ext>
            </a:extLst>
          </p:cNvPr>
          <p:cNvSpPr>
            <a:spLocks xmlns:a="http://schemas.openxmlformats.org/drawingml/2006/main" noGrp="1"/>
          </p:cNvSpPr>
          <p:nvPr/>
        </p:nvSpPr>
        <p:spPr>
          <a:xfrm xmlns:a="http://schemas.openxmlformats.org/drawingml/2006/main">
            <a:off x="685800" y="323850"/>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1">
                <a:solidFill>
                  <a:srgbClr val="155F46"/>
                </a:solidFill>
                <a:latin typeface="Arial"/>
                <a:ea typeface="Arial"/>
                <a:cs typeface="Arial"/>
              </a:defRPr>
            </a:pPr>
            <a:r>
              <a:rPr sz="1575" b="1">
                <a:solidFill>
                  <a:srgbClr val="155F46"/>
                </a:solidFill>
                <a:latin typeface="Arial"/>
                <a:ea typeface="Arial"/>
                <a:cs typeface="Arial"/>
              </a:rPr>
              <a:t>4 · Change the layout</a:t>
            </a:r>
          </a:p>
        </p:txBody>
      </p:sp>
      <p:sp>
        <p:nvSpPr>
          <p:cNvPr id="3" name="Wide and long tables store the same measurements">
            <a:extLst xmlns:a="http://schemas.openxmlformats.org/drawingml/2006/main">
              <a:ext uri="{FF2B5EF4-FFF2-40B4-BE49-F238E27FC236}">
                <a16:creationId xmlns:a16="http://schemas.microsoft.com/office/drawing/2014/main" id="{88BB57D4-43C1-4BBC-AE07-6B458CC0D3BE}"/>
              </a:ext>
            </a:extLst>
          </p:cNvPr>
          <p:cNvSpPr>
            <a:spLocks xmlns:a="http://schemas.openxmlformats.org/drawingml/2006/main" noGrp="1"/>
          </p:cNvSpPr>
          <p:nvPr/>
        </p:nvSpPr>
        <p:spPr>
          <a:xfrm xmlns:a="http://schemas.openxmlformats.org/drawingml/2006/main">
            <a:off x="685800" y="73342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142A24"/>
                </a:solidFill>
                <a:latin typeface="Arial"/>
                <a:ea typeface="Arial"/>
                <a:cs typeface="Arial"/>
              </a:defRPr>
            </a:pPr>
            <a:r>
              <a:rPr sz="3225" b="1">
                <a:solidFill>
                  <a:srgbClr val="142A24"/>
                </a:solidFill>
                <a:latin typeface="Arial"/>
                <a:ea typeface="Arial"/>
                <a:cs typeface="Arial"/>
              </a:rPr>
              <a:t>Wide and long tables store the same measurements</a:t>
            </a:r>
          </a:p>
        </p:txBody>
      </p:sp>
      <p:graphicFrame>
        <p:nvGraphicFramePr>
          <p:cNvPr id="13" name=""/>
          <p:cNvGraphicFramePr/>
          <p:nvPr/>
        </p:nvGraphicFramePr>
        <p:xfrm>
          <a:off xmlns:a="http://schemas.openxmlformats.org/drawingml/2006/main" x="685800" y="1790700"/>
          <a:ext xmlns:a="http://schemas.openxmlformats.org/drawingml/2006/main" cx="3952875" cy="1743075"/>
        </p:xfrm>
        <a:graphic xmlns:a="http://schemas.openxmlformats.org/drawingml/2006/main">
          <a:graphicData uri="http://schemas.openxmlformats.org/drawingml/2006/table">
            <a:tbl>
              <a:tblPr firstRow="1" bandRow="0"/>
              <a:tblGrid>
                <a:gridCol w="2167706"/>
                <a:gridCol w="892585"/>
                <a:gridCol w="892585"/>
              </a:tblGrid>
              <a:tr h="581025">
                <a:tc>
                  <a:txBody>
                    <a:bodyPr lIns="133350" tIns="85725" rIns="133350" bIns="85725">
                      <a:noAutofit/>
                    </a:bodyPr>
                    <a:lstStyle/>
                    <a:p>
                      <a:r>
                        <a:rPr sz="2100" b="1">
                          <a:solidFill>
                            <a:srgbClr val="FFFFFF"/>
                          </a:solidFill>
                          <a:latin typeface="Arial"/>
                          <a:ea typeface="Arial"/>
                          <a:cs typeface="Arial"/>
                        </a:rPr>
                        <a:t>time_utc</a:t>
                      </a:r>
                    </a:p>
                  </a:txBody>
                  <a:tcPr marL="91440" marR="91440" marT="45720" marB="45720" anchor="ctr">
                    <a:solidFill>
                      <a:srgbClr val="155F46"/>
                    </a:solidFill>
                  </a:tcPr>
                </a:tc>
                <a:tc>
                  <a:txBody>
                    <a:bodyPr lIns="133350" tIns="85725" rIns="133350" bIns="85725">
                      <a:noAutofit/>
                    </a:bodyPr>
                    <a:lstStyle/>
                    <a:p>
                      <a:r>
                        <a:rPr sz="2100" b="1">
                          <a:solidFill>
                            <a:srgbClr val="FFFFFF"/>
                          </a:solidFill>
                          <a:latin typeface="Arial"/>
                          <a:ea typeface="Arial"/>
                          <a:cs typeface="Arial"/>
                        </a:rPr>
                        <a:t>A</a:t>
                      </a:r>
                    </a:p>
                  </a:txBody>
                  <a:tcPr marL="91440" marR="91440" marT="45720" marB="45720" anchor="ctr">
                    <a:solidFill>
                      <a:srgbClr val="155F46"/>
                    </a:solidFill>
                  </a:tcPr>
                </a:tc>
                <a:tc>
                  <a:txBody>
                    <a:bodyPr lIns="133350" tIns="85725" rIns="133350" bIns="85725">
                      <a:noAutofit/>
                    </a:bodyPr>
                    <a:lstStyle/>
                    <a:p>
                      <a:r>
                        <a:rPr sz="2100" b="1">
                          <a:solidFill>
                            <a:srgbClr val="FFFFFF"/>
                          </a:solidFill>
                          <a:latin typeface="Arial"/>
                          <a:ea typeface="Arial"/>
                          <a:cs typeface="Arial"/>
                        </a:rPr>
                        <a:t>B</a:t>
                      </a:r>
                    </a:p>
                  </a:txBody>
                  <a:tcPr marL="91440" marR="91440" marT="45720" marB="45720" anchor="ctr">
                    <a:solidFill>
                      <a:srgbClr val="155F46"/>
                    </a:solidFill>
                  </a:tcPr>
                </a:tc>
              </a:tr>
              <a:tr h="581025">
                <a:tc>
                  <a:txBody>
                    <a:bodyPr lIns="133350" tIns="85725" rIns="133350" bIns="85725">
                      <a:noAutofit/>
                    </a:bodyPr>
                    <a:lstStyle/>
                    <a:p>
                      <a:r>
                        <a:rPr sz="2100" b="0">
                          <a:solidFill>
                            <a:srgbClr val="142A24"/>
                          </a:solidFill>
                          <a:latin typeface="Arial"/>
                          <a:ea typeface="Arial"/>
                          <a:cs typeface="Arial"/>
                        </a:rPr>
                        <a:t>08:00</a:t>
                      </a:r>
                    </a:p>
                  </a:txBody>
                  <a:tcPr marL="91440" marR="91440" marT="45720" marB="45720" anchor="ctr">
                    <a:solidFill>
                      <a:srgbClr val="FFFEFB"/>
                    </a:solidFill>
                  </a:tcPr>
                </a:tc>
                <a:tc>
                  <a:txBody>
                    <a:bodyPr lIns="133350" tIns="85725" rIns="133350" bIns="85725">
                      <a:noAutofit/>
                    </a:bodyPr>
                    <a:lstStyle/>
                    <a:p>
                      <a:r>
                        <a:rPr sz="2100" b="0">
                          <a:solidFill>
                            <a:srgbClr val="142A24"/>
                          </a:solidFill>
                          <a:latin typeface="Arial"/>
                          <a:ea typeface="Arial"/>
                          <a:cs typeface="Arial"/>
                        </a:rPr>
                        <a:t>20</a:t>
                      </a:r>
                    </a:p>
                  </a:txBody>
                  <a:tcPr marL="91440" marR="91440" marT="45720" marB="45720" anchor="ctr">
                    <a:solidFill>
                      <a:srgbClr val="FFFEFB"/>
                    </a:solidFill>
                  </a:tcPr>
                </a:tc>
                <a:tc>
                  <a:txBody>
                    <a:bodyPr lIns="133350" tIns="85725" rIns="133350" bIns="85725">
                      <a:noAutofit/>
                    </a:bodyPr>
                    <a:lstStyle/>
                    <a:p>
                      <a:r>
                        <a:rPr sz="2100" b="0">
                          <a:solidFill>
                            <a:srgbClr val="142A24"/>
                          </a:solidFill>
                          <a:latin typeface="Arial"/>
                          <a:ea typeface="Arial"/>
                          <a:cs typeface="Arial"/>
                        </a:rPr>
                        <a:t>18</a:t>
                      </a:r>
                    </a:p>
                  </a:txBody>
                  <a:tcPr marL="91440" marR="91440" marT="45720" marB="45720" anchor="ctr">
                    <a:solidFill>
                      <a:srgbClr val="FFFEFB"/>
                    </a:solidFill>
                  </a:tcPr>
                </a:tc>
              </a:tr>
              <a:tr h="581025">
                <a:tc>
                  <a:txBody>
                    <a:bodyPr lIns="133350" tIns="85725" rIns="133350" bIns="85725">
                      <a:noAutofit/>
                    </a:bodyPr>
                    <a:lstStyle/>
                    <a:p>
                      <a:r>
                        <a:rPr sz="2100" b="0">
                          <a:solidFill>
                            <a:srgbClr val="142A24"/>
                          </a:solidFill>
                          <a:latin typeface="Arial"/>
                          <a:ea typeface="Arial"/>
                          <a:cs typeface="Arial"/>
                        </a:rPr>
                        <a:t>09:00</a:t>
                      </a:r>
                    </a:p>
                  </a:txBody>
                  <a:tcPr marL="91440" marR="91440" marT="45720" marB="45720" anchor="ctr">
                    <a:solidFill>
                      <a:srgbClr val="F0F4F1"/>
                    </a:solidFill>
                  </a:tcPr>
                </a:tc>
                <a:tc>
                  <a:txBody>
                    <a:bodyPr lIns="133350" tIns="85725" rIns="133350" bIns="85725">
                      <a:noAutofit/>
                    </a:bodyPr>
                    <a:lstStyle/>
                    <a:p>
                      <a:r>
                        <a:rPr sz="2100" b="0">
                          <a:solidFill>
                            <a:srgbClr val="142A24"/>
                          </a:solidFill>
                          <a:latin typeface="Arial"/>
                          <a:ea typeface="Arial"/>
                          <a:cs typeface="Arial"/>
                        </a:rPr>
                        <a:t>22</a:t>
                      </a:r>
                    </a:p>
                  </a:txBody>
                  <a:tcPr marL="91440" marR="91440" marT="45720" marB="45720" anchor="ctr">
                    <a:solidFill>
                      <a:srgbClr val="F0F4F1"/>
                    </a:solidFill>
                  </a:tcPr>
                </a:tc>
                <a:tc>
                  <a:txBody>
                    <a:bodyPr lIns="133350" tIns="85725" rIns="133350" bIns="85725">
                      <a:noAutofit/>
                    </a:bodyPr>
                    <a:lstStyle/>
                    <a:p>
                      <a:r>
                        <a:rPr sz="2100" b="0">
                          <a:solidFill>
                            <a:srgbClr val="142A24"/>
                          </a:solidFill>
                          <a:latin typeface="Arial"/>
                          <a:ea typeface="Arial"/>
                          <a:cs typeface="Arial"/>
                        </a:rPr>
                        <a:t>20</a:t>
                      </a:r>
                    </a:p>
                  </a:txBody>
                  <a:tcPr marL="91440" marR="91440" marT="45720" marB="45720" anchor="ctr">
                    <a:solidFill>
                      <a:srgbClr val="F0F4F1"/>
                    </a:solidFill>
                  </a:tcPr>
                </a:tc>
              </a:tr>
            </a:tbl>
          </a:graphicData>
        </a:graphic>
      </p:graphicFrame>
      <p:graphicFrame>
        <p:nvGraphicFramePr>
          <p:cNvPr id="14" name=""/>
          <p:cNvGraphicFramePr/>
          <p:nvPr/>
        </p:nvGraphicFramePr>
        <p:xfrm>
          <a:off xmlns:a="http://schemas.openxmlformats.org/drawingml/2006/main" x="5381625" y="1790700"/>
          <a:ext xmlns:a="http://schemas.openxmlformats.org/drawingml/2006/main" cx="6124575" cy="2705100"/>
        </p:xfrm>
        <a:graphic xmlns:a="http://schemas.openxmlformats.org/drawingml/2006/main">
          <a:graphicData uri="http://schemas.openxmlformats.org/drawingml/2006/table">
            <a:tbl>
              <a:tblPr firstRow="1" bandRow="0"/>
              <a:tblGrid>
                <a:gridCol w="1871398"/>
                <a:gridCol w="1361017"/>
                <a:gridCol w="2892160"/>
              </a:tblGrid>
              <a:tr h="541020">
                <a:tc>
                  <a:txBody>
                    <a:bodyPr lIns="133350" tIns="85725" rIns="133350" bIns="85725">
                      <a:noAutofit/>
                    </a:bodyPr>
                    <a:lstStyle/>
                    <a:p>
                      <a:r>
                        <a:rPr sz="1950" b="1">
                          <a:solidFill>
                            <a:srgbClr val="FFFFFF"/>
                          </a:solidFill>
                          <a:latin typeface="Arial"/>
                          <a:ea typeface="Arial"/>
                          <a:cs typeface="Arial"/>
                        </a:rPr>
                        <a:t>time_utc</a:t>
                      </a:r>
                    </a:p>
                  </a:txBody>
                  <a:tcPr marL="91440" marR="91440" marT="45720" marB="45720" anchor="ctr">
                    <a:solidFill>
                      <a:srgbClr val="155F46"/>
                    </a:solidFill>
                  </a:tcPr>
                </a:tc>
                <a:tc>
                  <a:txBody>
                    <a:bodyPr lIns="133350" tIns="85725" rIns="133350" bIns="85725">
                      <a:noAutofit/>
                    </a:bodyPr>
                    <a:lstStyle/>
                    <a:p>
                      <a:r>
                        <a:rPr sz="1950" b="1">
                          <a:solidFill>
                            <a:srgbClr val="FFFFFF"/>
                          </a:solidFill>
                          <a:latin typeface="Arial"/>
                          <a:ea typeface="Arial"/>
                          <a:cs typeface="Arial"/>
                        </a:rPr>
                        <a:t>station</a:t>
                      </a:r>
                    </a:p>
                  </a:txBody>
                  <a:tcPr marL="91440" marR="91440" marT="45720" marB="45720" anchor="ctr">
                    <a:solidFill>
                      <a:srgbClr val="155F46"/>
                    </a:solidFill>
                  </a:tcPr>
                </a:tc>
                <a:tc>
                  <a:txBody>
                    <a:bodyPr lIns="133350" tIns="85725" rIns="133350" bIns="85725">
                      <a:noAutofit/>
                    </a:bodyPr>
                    <a:lstStyle/>
                    <a:p>
                      <a:r>
                        <a:rPr sz="1950" b="1">
                          <a:solidFill>
                            <a:srgbClr val="FFFFFF"/>
                          </a:solidFill>
                          <a:latin typeface="Arial"/>
                          <a:ea typeface="Arial"/>
                          <a:cs typeface="Arial"/>
                        </a:rPr>
                        <a:t>temperature_c</a:t>
                      </a:r>
                    </a:p>
                  </a:txBody>
                  <a:tcPr marL="91440" marR="91440" marT="45720" marB="45720" anchor="ctr">
                    <a:solidFill>
                      <a:srgbClr val="155F46"/>
                    </a:solidFill>
                  </a:tcPr>
                </a:tc>
              </a:tr>
              <a:tr h="541020">
                <a:tc>
                  <a:txBody>
                    <a:bodyPr lIns="133350" tIns="85725" rIns="133350" bIns="85725">
                      <a:noAutofit/>
                    </a:bodyPr>
                    <a:lstStyle/>
                    <a:p>
                      <a:r>
                        <a:rPr sz="1950" b="0">
                          <a:solidFill>
                            <a:srgbClr val="142A24"/>
                          </a:solidFill>
                          <a:latin typeface="Arial"/>
                          <a:ea typeface="Arial"/>
                          <a:cs typeface="Arial"/>
                        </a:rPr>
                        <a:t>08:00</a:t>
                      </a:r>
                    </a:p>
                  </a:txBody>
                  <a:tcPr marL="91440" marR="91440" marT="45720" marB="45720" anchor="ctr">
                    <a:solidFill>
                      <a:srgbClr val="FFFEFB"/>
                    </a:solidFill>
                  </a:tcPr>
                </a:tc>
                <a:tc>
                  <a:txBody>
                    <a:bodyPr lIns="133350" tIns="85725" rIns="133350" bIns="85725">
                      <a:noAutofit/>
                    </a:bodyPr>
                    <a:lstStyle/>
                    <a:p>
                      <a:r>
                        <a:rPr sz="1950" b="0">
                          <a:solidFill>
                            <a:srgbClr val="142A24"/>
                          </a:solidFill>
                          <a:latin typeface="Arial"/>
                          <a:ea typeface="Arial"/>
                          <a:cs typeface="Arial"/>
                        </a:rPr>
                        <a:t>A</a:t>
                      </a:r>
                    </a:p>
                  </a:txBody>
                  <a:tcPr marL="91440" marR="91440" marT="45720" marB="45720" anchor="ctr">
                    <a:solidFill>
                      <a:srgbClr val="FFFEFB"/>
                    </a:solidFill>
                  </a:tcPr>
                </a:tc>
                <a:tc>
                  <a:txBody>
                    <a:bodyPr lIns="133350" tIns="85725" rIns="133350" bIns="85725">
                      <a:noAutofit/>
                    </a:bodyPr>
                    <a:lstStyle/>
                    <a:p>
                      <a:r>
                        <a:rPr sz="1950" b="0">
                          <a:solidFill>
                            <a:srgbClr val="142A24"/>
                          </a:solidFill>
                          <a:latin typeface="Arial"/>
                          <a:ea typeface="Arial"/>
                          <a:cs typeface="Arial"/>
                        </a:rPr>
                        <a:t>20</a:t>
                      </a:r>
                    </a:p>
                  </a:txBody>
                  <a:tcPr marL="91440" marR="91440" marT="45720" marB="45720" anchor="ctr">
                    <a:solidFill>
                      <a:srgbClr val="FFFEFB"/>
                    </a:solidFill>
                  </a:tcPr>
                </a:tc>
              </a:tr>
              <a:tr h="541020">
                <a:tc>
                  <a:txBody>
                    <a:bodyPr lIns="133350" tIns="85725" rIns="133350" bIns="85725">
                      <a:noAutofit/>
                    </a:bodyPr>
                    <a:lstStyle/>
                    <a:p>
                      <a:r>
                        <a:rPr sz="1950" b="0">
                          <a:solidFill>
                            <a:srgbClr val="142A24"/>
                          </a:solidFill>
                          <a:latin typeface="Arial"/>
                          <a:ea typeface="Arial"/>
                          <a:cs typeface="Arial"/>
                        </a:rPr>
                        <a:t>09:00</a:t>
                      </a:r>
                    </a:p>
                  </a:txBody>
                  <a:tcPr marL="91440" marR="91440" marT="45720" marB="45720" anchor="ctr">
                    <a:solidFill>
                      <a:srgbClr val="F0F4F1"/>
                    </a:solidFill>
                  </a:tcPr>
                </a:tc>
                <a:tc>
                  <a:txBody>
                    <a:bodyPr lIns="133350" tIns="85725" rIns="133350" bIns="85725">
                      <a:noAutofit/>
                    </a:bodyPr>
                    <a:lstStyle/>
                    <a:p>
                      <a:r>
                        <a:rPr sz="1950" b="0">
                          <a:solidFill>
                            <a:srgbClr val="142A24"/>
                          </a:solidFill>
                          <a:latin typeface="Arial"/>
                          <a:ea typeface="Arial"/>
                          <a:cs typeface="Arial"/>
                        </a:rPr>
                        <a:t>A</a:t>
                      </a:r>
                    </a:p>
                  </a:txBody>
                  <a:tcPr marL="91440" marR="91440" marT="45720" marB="45720" anchor="ctr">
                    <a:solidFill>
                      <a:srgbClr val="F0F4F1"/>
                    </a:solidFill>
                  </a:tcPr>
                </a:tc>
                <a:tc>
                  <a:txBody>
                    <a:bodyPr lIns="133350" tIns="85725" rIns="133350" bIns="85725">
                      <a:noAutofit/>
                    </a:bodyPr>
                    <a:lstStyle/>
                    <a:p>
                      <a:r>
                        <a:rPr sz="1950" b="0">
                          <a:solidFill>
                            <a:srgbClr val="142A24"/>
                          </a:solidFill>
                          <a:latin typeface="Arial"/>
                          <a:ea typeface="Arial"/>
                          <a:cs typeface="Arial"/>
                        </a:rPr>
                        <a:t>22</a:t>
                      </a:r>
                    </a:p>
                  </a:txBody>
                  <a:tcPr marL="91440" marR="91440" marT="45720" marB="45720" anchor="ctr">
                    <a:solidFill>
                      <a:srgbClr val="F0F4F1"/>
                    </a:solidFill>
                  </a:tcPr>
                </a:tc>
              </a:tr>
              <a:tr h="541020">
                <a:tc>
                  <a:txBody>
                    <a:bodyPr lIns="133350" tIns="85725" rIns="133350" bIns="85725">
                      <a:noAutofit/>
                    </a:bodyPr>
                    <a:lstStyle/>
                    <a:p>
                      <a:r>
                        <a:rPr sz="1950" b="0">
                          <a:solidFill>
                            <a:srgbClr val="142A24"/>
                          </a:solidFill>
                          <a:latin typeface="Arial"/>
                          <a:ea typeface="Arial"/>
                          <a:cs typeface="Arial"/>
                        </a:rPr>
                        <a:t>08:00</a:t>
                      </a:r>
                    </a:p>
                  </a:txBody>
                  <a:tcPr marL="91440" marR="91440" marT="45720" marB="45720" anchor="ctr">
                    <a:solidFill>
                      <a:srgbClr val="FFFEFB"/>
                    </a:solidFill>
                  </a:tcPr>
                </a:tc>
                <a:tc>
                  <a:txBody>
                    <a:bodyPr lIns="133350" tIns="85725" rIns="133350" bIns="85725">
                      <a:noAutofit/>
                    </a:bodyPr>
                    <a:lstStyle/>
                    <a:p>
                      <a:r>
                        <a:rPr sz="1950" b="0">
                          <a:solidFill>
                            <a:srgbClr val="142A24"/>
                          </a:solidFill>
                          <a:latin typeface="Arial"/>
                          <a:ea typeface="Arial"/>
                          <a:cs typeface="Arial"/>
                        </a:rPr>
                        <a:t>B</a:t>
                      </a:r>
                    </a:p>
                  </a:txBody>
                  <a:tcPr marL="91440" marR="91440" marT="45720" marB="45720" anchor="ctr">
                    <a:solidFill>
                      <a:srgbClr val="FFFEFB"/>
                    </a:solidFill>
                  </a:tcPr>
                </a:tc>
                <a:tc>
                  <a:txBody>
                    <a:bodyPr lIns="133350" tIns="85725" rIns="133350" bIns="85725">
                      <a:noAutofit/>
                    </a:bodyPr>
                    <a:lstStyle/>
                    <a:p>
                      <a:r>
                        <a:rPr sz="1950" b="0">
                          <a:solidFill>
                            <a:srgbClr val="142A24"/>
                          </a:solidFill>
                          <a:latin typeface="Arial"/>
                          <a:ea typeface="Arial"/>
                          <a:cs typeface="Arial"/>
                        </a:rPr>
                        <a:t>18</a:t>
                      </a:r>
                    </a:p>
                  </a:txBody>
                  <a:tcPr marL="91440" marR="91440" marT="45720" marB="45720" anchor="ctr">
                    <a:solidFill>
                      <a:srgbClr val="FFFEFB"/>
                    </a:solidFill>
                  </a:tcPr>
                </a:tc>
              </a:tr>
              <a:tr h="541020">
                <a:tc>
                  <a:txBody>
                    <a:bodyPr lIns="133350" tIns="85725" rIns="133350" bIns="85725">
                      <a:noAutofit/>
                    </a:bodyPr>
                    <a:lstStyle/>
                    <a:p>
                      <a:r>
                        <a:rPr sz="1950" b="0">
                          <a:solidFill>
                            <a:srgbClr val="142A24"/>
                          </a:solidFill>
                          <a:latin typeface="Arial"/>
                          <a:ea typeface="Arial"/>
                          <a:cs typeface="Arial"/>
                        </a:rPr>
                        <a:t>09:00</a:t>
                      </a:r>
                    </a:p>
                  </a:txBody>
                  <a:tcPr marL="91440" marR="91440" marT="45720" marB="45720" anchor="ctr">
                    <a:solidFill>
                      <a:srgbClr val="F0F4F1"/>
                    </a:solidFill>
                  </a:tcPr>
                </a:tc>
                <a:tc>
                  <a:txBody>
                    <a:bodyPr lIns="133350" tIns="85725" rIns="133350" bIns="85725">
                      <a:noAutofit/>
                    </a:bodyPr>
                    <a:lstStyle/>
                    <a:p>
                      <a:r>
                        <a:rPr sz="1950" b="0">
                          <a:solidFill>
                            <a:srgbClr val="142A24"/>
                          </a:solidFill>
                          <a:latin typeface="Arial"/>
                          <a:ea typeface="Arial"/>
                          <a:cs typeface="Arial"/>
                        </a:rPr>
                        <a:t>B</a:t>
                      </a:r>
                    </a:p>
                  </a:txBody>
                  <a:tcPr marL="91440" marR="91440" marT="45720" marB="45720" anchor="ctr">
                    <a:solidFill>
                      <a:srgbClr val="F0F4F1"/>
                    </a:solidFill>
                  </a:tcPr>
                </a:tc>
                <a:tc>
                  <a:txBody>
                    <a:bodyPr lIns="133350" tIns="85725" rIns="133350" bIns="85725">
                      <a:noAutofit/>
                    </a:bodyPr>
                    <a:lstStyle/>
                    <a:p>
                      <a:r>
                        <a:rPr sz="1950" b="0">
                          <a:solidFill>
                            <a:srgbClr val="142A24"/>
                          </a:solidFill>
                          <a:latin typeface="Arial"/>
                          <a:ea typeface="Arial"/>
                          <a:cs typeface="Arial"/>
                        </a:rPr>
                        <a:t>20</a:t>
                      </a:r>
                    </a:p>
                  </a:txBody>
                  <a:tcPr marL="91440" marR="91440" marT="45720" marB="45720" anchor="ctr">
                    <a:solidFill>
                      <a:srgbClr val="F0F4F1"/>
                    </a:solidFill>
                  </a:tcPr>
                </a:tc>
              </a:tr>
            </a:tbl>
          </a:graphicData>
        </a:graphic>
      </p:graphicFrame>
      <p:sp>
        <p:nvSpPr>
          <p:cNvPr id="6" name="2 time rows × 2 stations&#10;= 4 station-time rows.">
            <a:extLst xmlns:a="http://schemas.openxmlformats.org/drawingml/2006/main">
              <a:ext uri="{FF2B5EF4-FFF2-40B4-BE49-F238E27FC236}">
                <a16:creationId xmlns:a16="http://schemas.microsoft.com/office/drawing/2014/main" id="{08738632-F731-4B80-9E69-9A192EAD8AFB}"/>
              </a:ext>
            </a:extLst>
          </p:cNvPr>
          <p:cNvSpPr>
            <a:spLocks xmlns:a="http://schemas.openxmlformats.org/drawingml/2006/main" noGrp="1"/>
          </p:cNvSpPr>
          <p:nvPr/>
        </p:nvSpPr>
        <p:spPr>
          <a:xfrm xmlns:a="http://schemas.openxmlformats.org/drawingml/2006/main">
            <a:off x="685800" y="4010025"/>
            <a:ext cx="416242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55F46"/>
                </a:solidFill>
                <a:latin typeface="Arial"/>
                <a:ea typeface="Arial"/>
                <a:cs typeface="Arial"/>
              </a:defRPr>
            </a:pPr>
            <a:r>
              <a:rPr sz="2250" b="1">
                <a:solidFill>
                  <a:srgbClr val="155F46"/>
                </a:solidFill>
                <a:latin typeface="Arial"/>
                <a:ea typeface="Arial"/>
                <a:cs typeface="Arial"/>
              </a:rPr>
              <a:t>2 time rows × 2 stations</a:t>
            </a:r>
          </a:p>
          <a:p xmlns:a="http://schemas.openxmlformats.org/drawingml/2006/main">
            <a:pPr>
              <a:defRPr sz="2250" b="1">
                <a:solidFill>
                  <a:srgbClr val="155F46"/>
                </a:solidFill>
                <a:latin typeface="Arial"/>
                <a:ea typeface="Arial"/>
                <a:cs typeface="Arial"/>
              </a:defRPr>
            </a:pPr>
            <a:r>
              <a:rPr sz="2250" b="1">
                <a:solidFill>
                  <a:srgbClr val="155F46"/>
                </a:solidFill>
                <a:latin typeface="Arial"/>
                <a:ea typeface="Arial"/>
                <a:cs typeface="Arial"/>
              </a:rPr>
              <a:t>= 4 station-time rows.</a:t>
            </a:r>
          </a:p>
        </p:txBody>
      </p:sp>
      <p:sp>
        <p:nvSpPr>
          <p:cNvPr id="7" name="Code example">
            <a:extLst xmlns:a="http://schemas.openxmlformats.org/drawingml/2006/main">
              <a:ext uri="{FF2B5EF4-FFF2-40B4-BE49-F238E27FC236}">
                <a16:creationId xmlns:a16="http://schemas.microsoft.com/office/drawing/2014/main" id="{29E4A917-6DED-47D3-97C7-16A6AA042F75}"/>
              </a:ext>
            </a:extLst>
          </p:cNvPr>
          <p:cNvSpPr>
            <a:spLocks xmlns:a="http://schemas.openxmlformats.org/drawingml/2006/main" noGrp="1"/>
          </p:cNvSpPr>
          <p:nvPr/>
        </p:nvSpPr>
        <p:spPr>
          <a:xfrm xmlns:a="http://schemas.openxmlformats.org/drawingml/2006/main">
            <a:off x="685800" y="5238750"/>
            <a:ext cx="10820400" cy="876300"/>
          </a:xfrm>
          <a:prstGeom xmlns:a="http://schemas.openxmlformats.org/drawingml/2006/main" prst="rect">
            <a:avLst/>
          </a:prstGeom>
          <a:solidFill xmlns:a="http://schemas.openxmlformats.org/drawingml/2006/main">
            <a:srgbClr val="F0F4F1"/>
          </a:solidFill>
          <a:ln xmlns:a="http://schemas.openxmlformats.org/drawingml/2006/main" w="0">
            <a:noFill/>
          </a:ln>
        </p:spPr>
        <p:txBody>
          <a:bodyPr xmlns:a="http://schemas.openxmlformats.org/drawingml/2006/main" wrap="none" lIns="152400" tIns="133350" rIns="152400" bIns="133350" anchor="t">
            <a:noAutofit/>
          </a:bodyPr>
          <a:lstStyle xmlns:a="http://schemas.openxmlformats.org/drawingml/2006/main"/>
          <a:p xmlns:a="http://schemas.openxmlformats.org/drawingml/2006/main">
            <a:pPr>
              <a:defRPr sz="1950" b="0">
                <a:solidFill>
                  <a:srgbClr val="142A24"/>
                </a:solidFill>
                <a:latin typeface="Menlo"/>
                <a:ea typeface="Menlo"/>
                <a:cs typeface="Menlo"/>
              </a:defRPr>
            </a:pPr>
            <a:r>
              <a:rPr sz="1950" b="0">
                <a:solidFill>
                  <a:srgbClr val="142A24"/>
                </a:solidFill>
                <a:latin typeface="Menlo"/>
                <a:ea typeface="Menlo"/>
                <a:cs typeface="Menlo"/>
              </a:rPr>
              <a:t>long = wide.melt(id_vars="time_utc",</a:t>
            </a:r>
          </a:p>
          <a:p xmlns:a="http://schemas.openxmlformats.org/drawingml/2006/main">
            <a:pPr>
              <a:defRPr sz="1950" b="0">
                <a:solidFill>
                  <a:srgbClr val="142A24"/>
                </a:solidFill>
                <a:latin typeface="Menlo"/>
                <a:ea typeface="Menlo"/>
                <a:cs typeface="Menlo"/>
              </a:defRPr>
            </a:pPr>
            <a:r>
              <a:rPr sz="1950" b="0">
                <a:solidFill>
                  <a:srgbClr val="142A24"/>
                </a:solidFill>
                <a:latin typeface="Menlo"/>
                <a:ea typeface="Menlo"/>
                <a:cs typeface="Menlo"/>
              </a:rPr>
              <a:t>    var_name="station", value_name="temperature_c")</a:t>
            </a:r>
          </a:p>
        </p:txBody>
      </p:sp>
      <p:sp>
        <p:nvSpPr>
          <p:cNvPr id="8" name="Open course page">
            <a:extLst xmlns:a="http://schemas.openxmlformats.org/drawingml/2006/main">
              <a:ext uri="{FF2B5EF4-FFF2-40B4-BE49-F238E27FC236}">
                <a16:creationId xmlns:a16="http://schemas.microsoft.com/office/drawing/2014/main" id="{3EABB48D-48EE-47E0-940E-27B308D7CE47}"/>
              </a:ext>
            </a:extLst>
          </p:cNvPr>
          <p:cNvSpPr>
            <a:spLocks xmlns:a="http://schemas.openxmlformats.org/drawingml/2006/main" noGrp="1"/>
          </p:cNvSpPr>
          <p:nvPr/>
        </p:nvSpPr>
        <p:spPr>
          <a:xfrm xmlns:a="http://schemas.openxmlformats.org/drawingml/2006/main">
            <a:off x="685800" y="6381750"/>
            <a:ext cx="571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55F46"/>
                </a:solidFill>
                <a:latin typeface="Arial"/>
                <a:ea typeface="Arial"/>
                <a:cs typeface="Arial"/>
              </a:defRPr>
            </a:pPr>
            <a:r>
              <a:rPr sz="1500" b="1">
                <a:solidFill>
                  <a:srgbClr val="155F46"/>
                </a:solidFill>
                <a:latin typeface="Arial"/>
                <a:ea typeface="Arial"/>
                <a:cs typeface="Arial"/>
                <a:hlinkClick xmlns:r="http://schemas.openxmlformats.org/officeDocument/2006/relationships" r:id="R25892a4287474508"/>
              </a:rPr>
              <a:t>Open course page</a:t>
            </a:r>
          </a:p>
        </p:txBody>
      </p:sp>
      <p:sp>
        <p:nvSpPr>
          <p:cNvPr id="9" name="104–110 min · 21 / 23">
            <a:extLst xmlns:a="http://schemas.openxmlformats.org/drawingml/2006/main">
              <a:ext uri="{FF2B5EF4-FFF2-40B4-BE49-F238E27FC236}">
                <a16:creationId xmlns:a16="http://schemas.microsoft.com/office/drawing/2014/main" id="{08439826-3E1C-4C2C-8BD3-40926FB96E94}"/>
              </a:ext>
            </a:extLst>
          </p:cNvPr>
          <p:cNvSpPr>
            <a:spLocks xmlns:a="http://schemas.openxmlformats.org/drawingml/2006/main" noGrp="1"/>
          </p:cNvSpPr>
          <p:nvPr/>
        </p:nvSpPr>
        <p:spPr>
          <a:xfrm xmlns:a="http://schemas.openxmlformats.org/drawingml/2006/main">
            <a:off x="8191500" y="6381750"/>
            <a:ext cx="3314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66C61"/>
                </a:solidFill>
                <a:latin typeface="Arial"/>
                <a:ea typeface="Arial"/>
                <a:cs typeface="Arial"/>
              </a:defRPr>
            </a:pPr>
            <a:r>
              <a:rPr sz="1500" b="0">
                <a:solidFill>
                  <a:srgbClr val="566C61"/>
                </a:solidFill>
                <a:latin typeface="Arial"/>
                <a:ea typeface="Arial"/>
                <a:cs typeface="Arial"/>
              </a:rPr>
              <a:t>104–110 min · 21 / 23</a:t>
            </a:r>
          </a:p>
        </p:txBody>
      </p:sp>
    </p:spTree>
    <p:extLst>
      <p:ext uri="{BB962C8B-B14F-4D97-AF65-F5344CB8AC3E}">
        <p14:creationId xmlns:p14="http://schemas.microsoft.com/office/powerpoint/2010/main" val="1913277468"/>
      </p:ext>
    </p:extLst>
  </p:cSld>
</p:sld>
</file>

<file path=ppt/slides/slide22.xml><?xml version="1.0" encoding="utf-8"?>
<p:sld xmlns:p="http://schemas.openxmlformats.org/presentationml/2006/main">
  <p:cSld>
    <p:bg>
      <p:bgPr>
        <a:solidFill xmlns:a="http://schemas.openxmlformats.org/drawingml/2006/main">
          <a:srgbClr val="FFFEF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D235EEB-AC21-4438-ACCA-3B51633353E2}"/>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5F46"/>
          </a:solidFill>
          <a:ln xmlns:a="http://schemas.openxmlformats.org/drawingml/2006/main" w="0">
            <a:noFill/>
          </a:ln>
        </p:spPr>
      </p:sp>
      <p:sp>
        <p:nvSpPr>
          <p:cNvPr id="2" name="4 · Reshaping and joining">
            <a:extLst xmlns:a="http://schemas.openxmlformats.org/drawingml/2006/main">
              <a:ext uri="{FF2B5EF4-FFF2-40B4-BE49-F238E27FC236}">
                <a16:creationId xmlns:a16="http://schemas.microsoft.com/office/drawing/2014/main" id="{DE77420E-58DC-452B-BEE9-30915D065995}"/>
              </a:ext>
            </a:extLst>
          </p:cNvPr>
          <p:cNvSpPr>
            <a:spLocks xmlns:a="http://schemas.openxmlformats.org/drawingml/2006/main" noGrp="1"/>
          </p:cNvSpPr>
          <p:nvPr/>
        </p:nvSpPr>
        <p:spPr>
          <a:xfrm xmlns:a="http://schemas.openxmlformats.org/drawingml/2006/main">
            <a:off x="685800" y="323850"/>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1">
                <a:solidFill>
                  <a:srgbClr val="155F46"/>
                </a:solidFill>
                <a:latin typeface="Arial"/>
                <a:ea typeface="Arial"/>
                <a:cs typeface="Arial"/>
              </a:defRPr>
            </a:pPr>
            <a:r>
              <a:rPr sz="1575" b="1">
                <a:solidFill>
                  <a:srgbClr val="155F46"/>
                </a:solidFill>
                <a:latin typeface="Arial"/>
                <a:ea typeface="Arial"/>
                <a:cs typeface="Arial"/>
              </a:rPr>
              <a:t>4 · Reshaping and joining</a:t>
            </a:r>
          </a:p>
        </p:txBody>
      </p:sp>
      <p:sp>
        <p:nvSpPr>
          <p:cNvPr id="3" name="Check the row count you expect">
            <a:extLst xmlns:a="http://schemas.openxmlformats.org/drawingml/2006/main">
              <a:ext uri="{FF2B5EF4-FFF2-40B4-BE49-F238E27FC236}">
                <a16:creationId xmlns:a16="http://schemas.microsoft.com/office/drawing/2014/main" id="{33DD4449-C517-4C37-9FE8-B12253E97149}"/>
              </a:ext>
            </a:extLst>
          </p:cNvPr>
          <p:cNvSpPr>
            <a:spLocks xmlns:a="http://schemas.openxmlformats.org/drawingml/2006/main" noGrp="1"/>
          </p:cNvSpPr>
          <p:nvPr/>
        </p:nvSpPr>
        <p:spPr>
          <a:xfrm xmlns:a="http://schemas.openxmlformats.org/drawingml/2006/main">
            <a:off x="685800" y="73342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142A24"/>
                </a:solidFill>
                <a:latin typeface="Arial"/>
                <a:ea typeface="Arial"/>
                <a:cs typeface="Arial"/>
              </a:defRPr>
            </a:pPr>
            <a:r>
              <a:rPr sz="3225" b="1">
                <a:solidFill>
                  <a:srgbClr val="142A24"/>
                </a:solidFill>
                <a:latin typeface="Arial"/>
                <a:ea typeface="Arial"/>
                <a:cs typeface="Arial"/>
              </a:rPr>
              <a:t>Check the row count you expect</a:t>
            </a:r>
          </a:p>
        </p:txBody>
      </p:sp>
      <p:graphicFrame>
        <p:nvGraphicFramePr>
          <p:cNvPr id="12" name=""/>
          <p:cNvGraphicFramePr/>
          <p:nvPr/>
        </p:nvGraphicFramePr>
        <p:xfrm>
          <a:off xmlns:a="http://schemas.openxmlformats.org/drawingml/2006/main" x="685800" y="1847850"/>
          <a:ext xmlns:a="http://schemas.openxmlformats.org/drawingml/2006/main" cx="10820400" cy="2314575"/>
        </p:xfrm>
        <a:graphic xmlns:a="http://schemas.openxmlformats.org/drawingml/2006/main">
          <a:graphicData uri="http://schemas.openxmlformats.org/drawingml/2006/table">
            <a:tbl>
              <a:tblPr firstRow="1" bandRow="0"/>
              <a:tblGrid>
                <a:gridCol w="4825314"/>
                <a:gridCol w="5995086"/>
              </a:tblGrid>
              <a:tr h="578644">
                <a:tc>
                  <a:txBody>
                    <a:bodyPr lIns="133350" tIns="85725" rIns="133350" bIns="85725">
                      <a:noAutofit/>
                    </a:bodyPr>
                    <a:lstStyle/>
                    <a:p>
                      <a:r>
                        <a:rPr sz="2025" b="1">
                          <a:solidFill>
                            <a:srgbClr val="FFFFFF"/>
                          </a:solidFill>
                          <a:latin typeface="Arial"/>
                          <a:ea typeface="Arial"/>
                          <a:cs typeface="Arial"/>
                        </a:rPr>
                        <a:t>Operation</a:t>
                      </a:r>
                    </a:p>
                  </a:txBody>
                  <a:tcPr marL="91440" marR="91440" marT="45720" marB="45720" anchor="ctr">
                    <a:solidFill>
                      <a:srgbClr val="155F46"/>
                    </a:solidFill>
                  </a:tcPr>
                </a:tc>
                <a:tc>
                  <a:txBody>
                    <a:bodyPr lIns="133350" tIns="85725" rIns="133350" bIns="85725">
                      <a:noAutofit/>
                    </a:bodyPr>
                    <a:lstStyle/>
                    <a:p>
                      <a:r>
                        <a:rPr sz="2025" b="1">
                          <a:solidFill>
                            <a:srgbClr val="FFFFFF"/>
                          </a:solidFill>
                          <a:latin typeface="Arial"/>
                          <a:ea typeface="Arial"/>
                          <a:cs typeface="Arial"/>
                        </a:rPr>
                        <a:t>Expected effect</a:t>
                      </a:r>
                    </a:p>
                  </a:txBody>
                  <a:tcPr marL="91440" marR="91440" marT="45720" marB="45720" anchor="ctr">
                    <a:solidFill>
                      <a:srgbClr val="155F46"/>
                    </a:solidFill>
                  </a:tcPr>
                </a:tc>
              </a:tr>
              <a:tr h="578644">
                <a:tc>
                  <a:txBody>
                    <a:bodyPr lIns="133350" tIns="85725" rIns="133350" bIns="85725">
                      <a:noAutofit/>
                    </a:bodyPr>
                    <a:lstStyle/>
                    <a:p>
                      <a:r>
                        <a:rPr sz="2025" b="0">
                          <a:solidFill>
                            <a:srgbClr val="142A24"/>
                          </a:solidFill>
                          <a:latin typeface="Arial"/>
                          <a:ea typeface="Arial"/>
                          <a:cs typeface="Arial"/>
                        </a:rPr>
                        <a:t>melt: 2 times × 2 stations</a:t>
                      </a:r>
                    </a:p>
                  </a:txBody>
                  <a:tcPr marL="91440" marR="91440" marT="45720" marB="45720" anchor="ctr">
                    <a:solidFill>
                      <a:srgbClr val="FFFEFB"/>
                    </a:solidFill>
                  </a:tcPr>
                </a:tc>
                <a:tc>
                  <a:txBody>
                    <a:bodyPr lIns="133350" tIns="85725" rIns="133350" bIns="85725">
                      <a:noAutofit/>
                    </a:bodyPr>
                    <a:lstStyle/>
                    <a:p>
                      <a:r>
                        <a:rPr sz="2025" b="0">
                          <a:solidFill>
                            <a:srgbClr val="142A24"/>
                          </a:solidFill>
                          <a:latin typeface="Arial"/>
                          <a:ea typeface="Arial"/>
                          <a:cs typeface="Arial"/>
                        </a:rPr>
                        <a:t>4 rows, with all 4 values preserved</a:t>
                      </a:r>
                    </a:p>
                  </a:txBody>
                  <a:tcPr marL="91440" marR="91440" marT="45720" marB="45720" anchor="ctr">
                    <a:solidFill>
                      <a:srgbClr val="FFFEFB"/>
                    </a:solidFill>
                  </a:tcPr>
                </a:tc>
              </a:tr>
              <a:tr h="578644">
                <a:tc>
                  <a:txBody>
                    <a:bodyPr lIns="133350" tIns="85725" rIns="133350" bIns="85725">
                      <a:noAutofit/>
                    </a:bodyPr>
                    <a:lstStyle/>
                    <a:p>
                      <a:r>
                        <a:rPr sz="2025" b="0">
                          <a:solidFill>
                            <a:srgbClr val="142A24"/>
                          </a:solidFill>
                          <a:latin typeface="Arial"/>
                          <a:ea typeface="Arial"/>
                          <a:cs typeface="Arial"/>
                        </a:rPr>
                        <a:t>pivot back to wide</a:t>
                      </a:r>
                    </a:p>
                  </a:txBody>
                  <a:tcPr marL="91440" marR="91440" marT="45720" marB="45720" anchor="ctr">
                    <a:solidFill>
                      <a:srgbClr val="F0F4F1"/>
                    </a:solidFill>
                  </a:tcPr>
                </a:tc>
                <a:tc>
                  <a:txBody>
                    <a:bodyPr lIns="133350" tIns="85725" rIns="133350" bIns="85725">
                      <a:noAutofit/>
                    </a:bodyPr>
                    <a:lstStyle/>
                    <a:p>
                      <a:r>
                        <a:rPr sz="2025" b="0">
                          <a:solidFill>
                            <a:srgbClr val="142A24"/>
                          </a:solidFill>
                          <a:latin typeface="Arial"/>
                          <a:ea typeface="Arial"/>
                          <a:cs typeface="Arial"/>
                        </a:rPr>
                        <a:t>Unique (station, time_utc) pairs are required</a:t>
                      </a:r>
                    </a:p>
                  </a:txBody>
                  <a:tcPr marL="91440" marR="91440" marT="45720" marB="45720" anchor="ctr">
                    <a:solidFill>
                      <a:srgbClr val="F0F4F1"/>
                    </a:solidFill>
                  </a:tcPr>
                </a:tc>
              </a:tr>
              <a:tr h="578644">
                <a:tc>
                  <a:txBody>
                    <a:bodyPr lIns="133350" tIns="85725" rIns="133350" bIns="85725">
                      <a:noAutofit/>
                    </a:bodyPr>
                    <a:lstStyle/>
                    <a:p>
                      <a:r>
                        <a:rPr sz="2025" b="0">
                          <a:solidFill>
                            <a:srgbClr val="142A24"/>
                          </a:solidFill>
                          <a:latin typeface="Arial"/>
                          <a:ea typeface="Arial"/>
                          <a:cs typeface="Arial"/>
                        </a:rPr>
                        <a:t>Join key A: 2 left rows × 3 right rows</a:t>
                      </a:r>
                    </a:p>
                  </a:txBody>
                  <a:tcPr marL="91440" marR="91440" marT="45720" marB="45720" anchor="ctr">
                    <a:solidFill>
                      <a:srgbClr val="FFFEFB"/>
                    </a:solidFill>
                  </a:tcPr>
                </a:tc>
                <a:tc>
                  <a:txBody>
                    <a:bodyPr lIns="133350" tIns="85725" rIns="133350" bIns="85725">
                      <a:noAutofit/>
                    </a:bodyPr>
                    <a:lstStyle/>
                    <a:p>
                      <a:r>
                        <a:rPr sz="2025" b="0">
                          <a:solidFill>
                            <a:srgbClr val="142A24"/>
                          </a:solidFill>
                          <a:latin typeface="Arial"/>
                          <a:ea typeface="Arial"/>
                          <a:cs typeface="Arial"/>
                        </a:rPr>
                        <a:t>6 joined rows for A</a:t>
                      </a:r>
                    </a:p>
                  </a:txBody>
                  <a:tcPr marL="91440" marR="91440" marT="45720" marB="45720" anchor="ctr">
                    <a:solidFill>
                      <a:srgbClr val="FFFEFB"/>
                    </a:solidFill>
                  </a:tcPr>
                </a:tc>
              </a:tr>
            </a:tbl>
          </a:graphicData>
        </a:graphic>
      </p:graphicFrame>
      <p:sp>
        <p:nvSpPr>
          <p:cNvPr id="5" name="For an inner join: N = Σₖ mL(k) mR(k)">
            <a:extLst xmlns:a="http://schemas.openxmlformats.org/drawingml/2006/main">
              <a:ext uri="{FF2B5EF4-FFF2-40B4-BE49-F238E27FC236}">
                <a16:creationId xmlns:a16="http://schemas.microsoft.com/office/drawing/2014/main" id="{D197D891-3601-4796-B881-AFC38B7BDEF9}"/>
              </a:ext>
            </a:extLst>
          </p:cNvPr>
          <p:cNvSpPr>
            <a:spLocks xmlns:a="http://schemas.openxmlformats.org/drawingml/2006/main" noGrp="1"/>
          </p:cNvSpPr>
          <p:nvPr/>
        </p:nvSpPr>
        <p:spPr>
          <a:xfrm xmlns:a="http://schemas.openxmlformats.org/drawingml/2006/main">
            <a:off x="685800" y="4543425"/>
            <a:ext cx="10820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55F46"/>
                </a:solidFill>
                <a:latin typeface="Arial"/>
                <a:ea typeface="Arial"/>
                <a:cs typeface="Arial"/>
              </a:defRPr>
            </a:pPr>
            <a:r>
              <a:rPr sz="2775" b="1">
                <a:solidFill>
                  <a:srgbClr val="155F46"/>
                </a:solidFill>
                <a:latin typeface="Arial"/>
                <a:ea typeface="Arial"/>
                <a:cs typeface="Arial"/>
              </a:rPr>
              <a:t>For an inner join: N = Σₖ mL(k) mR(k)</a:t>
            </a:r>
          </a:p>
        </p:txBody>
      </p:sp>
      <p:sp>
        <p:nvSpPr>
          <p:cNvPr id="6" name="mL(k) and mR(k) count rows with key k in each table.&#10;If B oc">
            <a:extLst xmlns:a="http://schemas.openxmlformats.org/drawingml/2006/main">
              <a:ext uri="{FF2B5EF4-FFF2-40B4-BE49-F238E27FC236}">
                <a16:creationId xmlns:a16="http://schemas.microsoft.com/office/drawing/2014/main" id="{A7A082D3-C93D-4FEB-A7B5-AF3B707E2487}"/>
              </a:ext>
            </a:extLst>
          </p:cNvPr>
          <p:cNvSpPr>
            <a:spLocks xmlns:a="http://schemas.openxmlformats.org/drawingml/2006/main" noGrp="1"/>
          </p:cNvSpPr>
          <p:nvPr/>
        </p:nvSpPr>
        <p:spPr>
          <a:xfrm xmlns:a="http://schemas.openxmlformats.org/drawingml/2006/main">
            <a:off x="685800" y="5372100"/>
            <a:ext cx="108204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42A24"/>
                </a:solidFill>
                <a:latin typeface="Arial"/>
                <a:ea typeface="Arial"/>
                <a:cs typeface="Arial"/>
              </a:defRPr>
            </a:pPr>
            <a:r>
              <a:rPr sz="2025" b="0">
                <a:solidFill>
                  <a:srgbClr val="142A24"/>
                </a:solidFill>
                <a:latin typeface="Arial"/>
                <a:ea typeface="Arial"/>
                <a:cs typeface="Arial"/>
              </a:rPr>
              <a:t>mL(k) and mR(k) count rows with key k in each table.</a:t>
            </a:r>
          </a:p>
          <a:p xmlns:a="http://schemas.openxmlformats.org/drawingml/2006/main">
            <a:pPr>
              <a:defRPr sz="2025" b="0">
                <a:solidFill>
                  <a:srgbClr val="142A24"/>
                </a:solidFill>
                <a:latin typeface="Arial"/>
                <a:ea typeface="Arial"/>
                <a:cs typeface="Arial"/>
              </a:defRPr>
            </a:pPr>
            <a:r>
              <a:rPr sz="2025" b="0">
                <a:solidFill>
                  <a:srgbClr val="142A24"/>
                </a:solidFill>
                <a:latin typeface="Arial"/>
                <a:ea typeface="Arial"/>
                <a:cs typeface="Arial"/>
              </a:rPr>
              <a:t>If B occurs once on each side, A and B produce 6 + 1 = 7 rows.</a:t>
            </a:r>
          </a:p>
        </p:txBody>
      </p:sp>
      <p:sp>
        <p:nvSpPr>
          <p:cNvPr id="7" name="Open course page">
            <a:extLst xmlns:a="http://schemas.openxmlformats.org/drawingml/2006/main">
              <a:ext uri="{FF2B5EF4-FFF2-40B4-BE49-F238E27FC236}">
                <a16:creationId xmlns:a16="http://schemas.microsoft.com/office/drawing/2014/main" id="{720A1C43-E5F3-4A57-A669-6522DAE50096}"/>
              </a:ext>
            </a:extLst>
          </p:cNvPr>
          <p:cNvSpPr>
            <a:spLocks xmlns:a="http://schemas.openxmlformats.org/drawingml/2006/main" noGrp="1"/>
          </p:cNvSpPr>
          <p:nvPr/>
        </p:nvSpPr>
        <p:spPr>
          <a:xfrm xmlns:a="http://schemas.openxmlformats.org/drawingml/2006/main">
            <a:off x="685800" y="6381750"/>
            <a:ext cx="571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55F46"/>
                </a:solidFill>
                <a:latin typeface="Arial"/>
                <a:ea typeface="Arial"/>
                <a:cs typeface="Arial"/>
              </a:defRPr>
            </a:pPr>
            <a:r>
              <a:rPr sz="1500" b="1">
                <a:solidFill>
                  <a:srgbClr val="155F46"/>
                </a:solidFill>
                <a:latin typeface="Arial"/>
                <a:ea typeface="Arial"/>
                <a:cs typeface="Arial"/>
                <a:hlinkClick xmlns:r="http://schemas.openxmlformats.org/officeDocument/2006/relationships" r:id="R73543ead98ca48d3"/>
              </a:rPr>
              <a:t>Open course page</a:t>
            </a:r>
          </a:p>
        </p:txBody>
      </p:sp>
      <p:sp>
        <p:nvSpPr>
          <p:cNvPr id="8" name="110–115 min · 22 / 23">
            <a:extLst xmlns:a="http://schemas.openxmlformats.org/drawingml/2006/main">
              <a:ext uri="{FF2B5EF4-FFF2-40B4-BE49-F238E27FC236}">
                <a16:creationId xmlns:a16="http://schemas.microsoft.com/office/drawing/2014/main" id="{59E0C645-B9BF-4624-9D8B-10141D7B4A9E}"/>
              </a:ext>
            </a:extLst>
          </p:cNvPr>
          <p:cNvSpPr>
            <a:spLocks xmlns:a="http://schemas.openxmlformats.org/drawingml/2006/main" noGrp="1"/>
          </p:cNvSpPr>
          <p:nvPr/>
        </p:nvSpPr>
        <p:spPr>
          <a:xfrm xmlns:a="http://schemas.openxmlformats.org/drawingml/2006/main">
            <a:off x="8191500" y="6381750"/>
            <a:ext cx="3314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66C61"/>
                </a:solidFill>
                <a:latin typeface="Arial"/>
                <a:ea typeface="Arial"/>
                <a:cs typeface="Arial"/>
              </a:defRPr>
            </a:pPr>
            <a:r>
              <a:rPr sz="1500" b="0">
                <a:solidFill>
                  <a:srgbClr val="566C61"/>
                </a:solidFill>
                <a:latin typeface="Arial"/>
                <a:ea typeface="Arial"/>
                <a:cs typeface="Arial"/>
              </a:rPr>
              <a:t>110–115 min · 22 / 23</a:t>
            </a:r>
          </a:p>
        </p:txBody>
      </p:sp>
    </p:spTree>
    <p:extLst>
      <p:ext uri="{BB962C8B-B14F-4D97-AF65-F5344CB8AC3E}">
        <p14:creationId xmlns:p14="http://schemas.microsoft.com/office/powerpoint/2010/main" val="258001618"/>
      </p:ext>
    </p:extLst>
  </p:cSld>
</p:sld>
</file>

<file path=ppt/slides/slide23.xml><?xml version="1.0" encoding="utf-8"?>
<p:sld xmlns:p="http://schemas.openxmlformats.org/presentationml/2006/main">
  <p:cSld>
    <p:bg>
      <p:bgPr>
        <a:solidFill xmlns:a="http://schemas.openxmlformats.org/drawingml/2006/main">
          <a:srgbClr val="FFFEFB"/>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BF8D089-2970-4EFB-82BA-1B219AA6F099}"/>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55F46"/>
          </a:solidFill>
          <a:ln xmlns:a="http://schemas.openxmlformats.org/drawingml/2006/main" w="0">
            <a:noFill/>
          </a:ln>
        </p:spPr>
      </p:sp>
      <p:sp>
        <p:nvSpPr>
          <p:cNvPr id="2" name="5 · Wrap-up">
            <a:extLst xmlns:a="http://schemas.openxmlformats.org/drawingml/2006/main">
              <a:ext uri="{FF2B5EF4-FFF2-40B4-BE49-F238E27FC236}">
                <a16:creationId xmlns:a16="http://schemas.microsoft.com/office/drawing/2014/main" id="{48B85AB4-70A3-4155-828C-0C57AD57415F}"/>
              </a:ext>
            </a:extLst>
          </p:cNvPr>
          <p:cNvSpPr>
            <a:spLocks xmlns:a="http://schemas.openxmlformats.org/drawingml/2006/main" noGrp="1"/>
          </p:cNvSpPr>
          <p:nvPr/>
        </p:nvSpPr>
        <p:spPr>
          <a:xfrm xmlns:a="http://schemas.openxmlformats.org/drawingml/2006/main">
            <a:off x="685800" y="323850"/>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1">
                <a:solidFill>
                  <a:srgbClr val="155F46"/>
                </a:solidFill>
                <a:latin typeface="Arial"/>
                <a:ea typeface="Arial"/>
                <a:cs typeface="Arial"/>
              </a:defRPr>
            </a:pPr>
            <a:r>
              <a:rPr sz="1575" b="1">
                <a:solidFill>
                  <a:srgbClr val="155F46"/>
                </a:solidFill>
                <a:latin typeface="Arial"/>
                <a:ea typeface="Arial"/>
                <a:cs typeface="Arial"/>
              </a:rPr>
              <a:t>5 · Wrap-up</a:t>
            </a:r>
          </a:p>
        </p:txBody>
      </p:sp>
      <p:sp>
        <p:nvSpPr>
          <p:cNvPr id="3" name="Explain a result before you close the notebook">
            <a:extLst xmlns:a="http://schemas.openxmlformats.org/drawingml/2006/main">
              <a:ext uri="{FF2B5EF4-FFF2-40B4-BE49-F238E27FC236}">
                <a16:creationId xmlns:a16="http://schemas.microsoft.com/office/drawing/2014/main" id="{1DEBD6FC-BEBE-482D-BE4B-12C6D53AF27B}"/>
              </a:ext>
            </a:extLst>
          </p:cNvPr>
          <p:cNvSpPr>
            <a:spLocks xmlns:a="http://schemas.openxmlformats.org/drawingml/2006/main" noGrp="1"/>
          </p:cNvSpPr>
          <p:nvPr/>
        </p:nvSpPr>
        <p:spPr>
          <a:xfrm xmlns:a="http://schemas.openxmlformats.org/drawingml/2006/main">
            <a:off x="685800" y="73342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142A24"/>
                </a:solidFill>
                <a:latin typeface="Arial"/>
                <a:ea typeface="Arial"/>
                <a:cs typeface="Arial"/>
              </a:defRPr>
            </a:pPr>
            <a:r>
              <a:rPr sz="3225" b="1">
                <a:solidFill>
                  <a:srgbClr val="142A24"/>
                </a:solidFill>
                <a:latin typeface="Arial"/>
                <a:ea typeface="Arial"/>
                <a:cs typeface="Arial"/>
              </a:rPr>
              <a:t>Explain a result before you close the notebook</a:t>
            </a:r>
          </a:p>
        </p:txBody>
      </p:sp>
      <p:sp>
        <p:nvSpPr>
          <p:cNvPr id="4" name="1. What does one row represent before and after this operati">
            <a:extLst xmlns:a="http://schemas.openxmlformats.org/drawingml/2006/main">
              <a:ext uri="{FF2B5EF4-FFF2-40B4-BE49-F238E27FC236}">
                <a16:creationId xmlns:a16="http://schemas.microsoft.com/office/drawing/2014/main" id="{6B464747-60A2-4D42-A3BF-3F81D3C27CBF}"/>
              </a:ext>
            </a:extLst>
          </p:cNvPr>
          <p:cNvSpPr>
            <a:spLocks xmlns:a="http://schemas.openxmlformats.org/drawingml/2006/main" noGrp="1"/>
          </p:cNvSpPr>
          <p:nvPr/>
        </p:nvSpPr>
        <p:spPr>
          <a:xfrm xmlns:a="http://schemas.openxmlformats.org/drawingml/2006/main">
            <a:off x="685800" y="181927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0">
                <a:solidFill>
                  <a:srgbClr val="142A24"/>
                </a:solidFill>
                <a:latin typeface="Arial"/>
                <a:ea typeface="Arial"/>
                <a:cs typeface="Arial"/>
              </a:defRPr>
            </a:pPr>
            <a:r>
              <a:rPr sz="2400" b="0">
                <a:solidFill>
                  <a:srgbClr val="142A24"/>
                </a:solidFill>
                <a:latin typeface="Arial"/>
                <a:ea typeface="Arial"/>
                <a:cs typeface="Arial"/>
              </a:rPr>
              <a:t>1. What does one row represent before and after this operation?</a:t>
            </a:r>
          </a:p>
        </p:txBody>
      </p:sp>
      <p:sp>
        <p:nvSpPr>
          <p:cNvPr id="5" name="2. Which values, units, keys or weights have changed?">
            <a:extLst xmlns:a="http://schemas.openxmlformats.org/drawingml/2006/main">
              <a:ext uri="{FF2B5EF4-FFF2-40B4-BE49-F238E27FC236}">
                <a16:creationId xmlns:a16="http://schemas.microsoft.com/office/drawing/2014/main" id="{9AC48FBF-0149-4BDB-AA9C-A723B4E6810F}"/>
              </a:ext>
            </a:extLst>
          </p:cNvPr>
          <p:cNvSpPr>
            <a:spLocks xmlns:a="http://schemas.openxmlformats.org/drawingml/2006/main" noGrp="1"/>
          </p:cNvSpPr>
          <p:nvPr/>
        </p:nvSpPr>
        <p:spPr>
          <a:xfrm xmlns:a="http://schemas.openxmlformats.org/drawingml/2006/main">
            <a:off x="685800" y="292417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0">
                <a:solidFill>
                  <a:srgbClr val="142A24"/>
                </a:solidFill>
                <a:latin typeface="Arial"/>
                <a:ea typeface="Arial"/>
                <a:cs typeface="Arial"/>
              </a:defRPr>
            </a:pPr>
            <a:r>
              <a:rPr sz="2400" b="0">
                <a:solidFill>
                  <a:srgbClr val="142A24"/>
                </a:solidFill>
                <a:latin typeface="Arial"/>
                <a:ea typeface="Arial"/>
                <a:cs typeface="Arial"/>
              </a:rPr>
              <a:t>2. Which values, units, keys or weights have changed?</a:t>
            </a:r>
          </a:p>
        </p:txBody>
      </p:sp>
      <p:sp>
        <p:nvSpPr>
          <p:cNvPr id="6" name="3. Which checks support the number you report?">
            <a:extLst xmlns:a="http://schemas.openxmlformats.org/drawingml/2006/main">
              <a:ext uri="{FF2B5EF4-FFF2-40B4-BE49-F238E27FC236}">
                <a16:creationId xmlns:a16="http://schemas.microsoft.com/office/drawing/2014/main" id="{FE54F65F-4DD8-4552-9C2F-6E51EA6E0EFF}"/>
              </a:ext>
            </a:extLst>
          </p:cNvPr>
          <p:cNvSpPr>
            <a:spLocks xmlns:a="http://schemas.openxmlformats.org/drawingml/2006/main" noGrp="1"/>
          </p:cNvSpPr>
          <p:nvPr/>
        </p:nvSpPr>
        <p:spPr>
          <a:xfrm xmlns:a="http://schemas.openxmlformats.org/drawingml/2006/main">
            <a:off x="685800" y="402907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0">
                <a:solidFill>
                  <a:srgbClr val="142A24"/>
                </a:solidFill>
                <a:latin typeface="Arial"/>
                <a:ea typeface="Arial"/>
                <a:cs typeface="Arial"/>
              </a:defRPr>
            </a:pPr>
            <a:r>
              <a:rPr sz="2400" b="0">
                <a:solidFill>
                  <a:srgbClr val="142A24"/>
                </a:solidFill>
                <a:latin typeface="Arial"/>
                <a:ea typeface="Arial"/>
                <a:cs typeface="Arial"/>
              </a:rPr>
              <a:t>3. Which checks support the number you report?</a:t>
            </a:r>
          </a:p>
        </p:txBody>
      </p:sp>
      <p:sp>
        <p:nvSpPr>
          <p:cNvPr id="7" name="Restart and run the notebook. Keep one short explanation bes">
            <a:extLst xmlns:a="http://schemas.openxmlformats.org/drawingml/2006/main">
              <a:ext uri="{FF2B5EF4-FFF2-40B4-BE49-F238E27FC236}">
                <a16:creationId xmlns:a16="http://schemas.microsoft.com/office/drawing/2014/main" id="{9CB3299E-5A37-4CC8-8305-1FAA78194375}"/>
              </a:ext>
            </a:extLst>
          </p:cNvPr>
          <p:cNvSpPr>
            <a:spLocks xmlns:a="http://schemas.openxmlformats.org/drawingml/2006/main" noGrp="1"/>
          </p:cNvSpPr>
          <p:nvPr/>
        </p:nvSpPr>
        <p:spPr>
          <a:xfrm xmlns:a="http://schemas.openxmlformats.org/drawingml/2006/main">
            <a:off x="685800" y="533400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155F46"/>
                </a:solidFill>
                <a:latin typeface="Arial"/>
                <a:ea typeface="Arial"/>
                <a:cs typeface="Arial"/>
              </a:defRPr>
            </a:pPr>
            <a:r>
              <a:rPr sz="2400" b="1">
                <a:solidFill>
                  <a:srgbClr val="155F46"/>
                </a:solidFill>
                <a:latin typeface="Arial"/>
                <a:ea typeface="Arial"/>
                <a:cs typeface="Arial"/>
              </a:rPr>
              <a:t>Restart and run the notebook. Keep one short explanation beside the result.</a:t>
            </a:r>
          </a:p>
        </p:txBody>
      </p:sp>
      <p:sp>
        <p:nvSpPr>
          <p:cNvPr id="8" name="Open course page">
            <a:extLst xmlns:a="http://schemas.openxmlformats.org/drawingml/2006/main">
              <a:ext uri="{FF2B5EF4-FFF2-40B4-BE49-F238E27FC236}">
                <a16:creationId xmlns:a16="http://schemas.microsoft.com/office/drawing/2014/main" id="{39E11EF4-B7DC-49F1-9766-EC018A2AB331}"/>
              </a:ext>
            </a:extLst>
          </p:cNvPr>
          <p:cNvSpPr>
            <a:spLocks xmlns:a="http://schemas.openxmlformats.org/drawingml/2006/main" noGrp="1"/>
          </p:cNvSpPr>
          <p:nvPr/>
        </p:nvSpPr>
        <p:spPr>
          <a:xfrm xmlns:a="http://schemas.openxmlformats.org/drawingml/2006/main">
            <a:off x="685800" y="6381750"/>
            <a:ext cx="571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55F46"/>
                </a:solidFill>
                <a:latin typeface="Arial"/>
                <a:ea typeface="Arial"/>
                <a:cs typeface="Arial"/>
              </a:defRPr>
            </a:pPr>
            <a:r>
              <a:rPr sz="1500" b="1">
                <a:solidFill>
                  <a:srgbClr val="155F46"/>
                </a:solidFill>
                <a:latin typeface="Arial"/>
                <a:ea typeface="Arial"/>
                <a:cs typeface="Arial"/>
                <a:hlinkClick xmlns:r="http://schemas.openxmlformats.org/officeDocument/2006/relationships" r:id="Rd3cc538e0941492d"/>
              </a:rPr>
              <a:t>Open course page</a:t>
            </a:r>
          </a:p>
        </p:txBody>
      </p:sp>
      <p:sp>
        <p:nvSpPr>
          <p:cNvPr id="9" name="115–120 min · 23 / 23">
            <a:extLst xmlns:a="http://schemas.openxmlformats.org/drawingml/2006/main">
              <a:ext uri="{FF2B5EF4-FFF2-40B4-BE49-F238E27FC236}">
                <a16:creationId xmlns:a16="http://schemas.microsoft.com/office/drawing/2014/main" id="{16859044-9BCE-4DF4-B9A2-CF8393681B3C}"/>
              </a:ext>
            </a:extLst>
          </p:cNvPr>
          <p:cNvSpPr>
            <a:spLocks xmlns:a="http://schemas.openxmlformats.org/drawingml/2006/main" noGrp="1"/>
          </p:cNvSpPr>
          <p:nvPr/>
        </p:nvSpPr>
        <p:spPr>
          <a:xfrm xmlns:a="http://schemas.openxmlformats.org/drawingml/2006/main">
            <a:off x="8191500" y="6381750"/>
            <a:ext cx="3314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66C61"/>
                </a:solidFill>
                <a:latin typeface="Arial"/>
                <a:ea typeface="Arial"/>
                <a:cs typeface="Arial"/>
              </a:defRPr>
            </a:pPr>
            <a:r>
              <a:rPr sz="1500" b="0">
                <a:solidFill>
                  <a:srgbClr val="566C61"/>
                </a:solidFill>
                <a:latin typeface="Arial"/>
                <a:ea typeface="Arial"/>
                <a:cs typeface="Arial"/>
              </a:rPr>
              <a:t>115–120 min · 23 / 23</a:t>
            </a:r>
          </a:p>
        </p:txBody>
      </p:sp>
    </p:spTree>
    <p:extLst>
      <p:ext uri="{BB962C8B-B14F-4D97-AF65-F5344CB8AC3E}">
        <p14:creationId xmlns:p14="http://schemas.microsoft.com/office/powerpoint/2010/main" val="67142161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2026-09-14T12:24:53.0440000Z</dcterms:created>
  <dcterms:modified xsi:type="dcterms:W3CDTF">2026-09-14T12:24:53.0450000Z</dcterms:modified>
</coreProperties>
</file>